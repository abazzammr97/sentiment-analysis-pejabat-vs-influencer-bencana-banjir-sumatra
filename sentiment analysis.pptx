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Poppins Ultra-Bold" charset="1" panose="00000900000000000000"/>
      <p:regular r:id="rId29"/>
    </p:embeddedFont>
    <p:embeddedFont>
      <p:font typeface="Montserrat" charset="1" panose="00000500000000000000"/>
      <p:regular r:id="rId30"/>
    </p:embeddedFont>
    <p:embeddedFont>
      <p:font typeface="Poppins Bold" charset="1" panose="00000800000000000000"/>
      <p:regular r:id="rId31"/>
    </p:embeddedFont>
    <p:embeddedFont>
      <p:font typeface="Canva Sans Bold" charset="1" panose="020B0803030501040103"/>
      <p:regular r:id="rId32"/>
    </p:embeddedFont>
    <p:embeddedFont>
      <p:font typeface="Montserrat Semi-Bold" charset="1" panose="00000700000000000000"/>
      <p:regular r:id="rId33"/>
    </p:embeddedFont>
    <p:embeddedFont>
      <p:font typeface="Montserrat Bold" charset="1" panose="00000800000000000000"/>
      <p:regular r:id="rId34"/>
    </p:embeddedFont>
    <p:embeddedFont>
      <p:font typeface="Poppins Medium" charset="1" panose="00000600000000000000"/>
      <p:regular r:id="rId35"/>
    </p:embeddedFont>
    <p:embeddedFont>
      <p:font typeface="Canva Sans" charset="1" panose="020B0503030501040103"/>
      <p:regular r:id="rId36"/>
    </p:embeddedFont>
    <p:embeddedFont>
      <p:font typeface="Poppins" charset="1" panose="00000500000000000000"/>
      <p:regular r:id="rId37"/>
    </p:embeddedFont>
    <p:embeddedFont>
      <p:font typeface="Poppins Semi-Bold" charset="1" panose="00000700000000000000"/>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svg" Type="http://schemas.openxmlformats.org/officeDocument/2006/relationships/image"/><Relationship Id="rId2" Target="../media/image4.png" Type="http://schemas.openxmlformats.org/officeDocument/2006/relationships/image"/><Relationship Id="rId3" Target="../media/image5.svg" Type="http://schemas.openxmlformats.org/officeDocument/2006/relationships/image"/><Relationship Id="rId4" Target="../media/image12.png" Type="http://schemas.openxmlformats.org/officeDocument/2006/relationships/image"/><Relationship Id="rId5" Target="../media/image1.jpeg" Type="http://schemas.openxmlformats.org/officeDocument/2006/relationships/image"/><Relationship Id="rId6" Target="../media/image2.png" Type="http://schemas.openxmlformats.org/officeDocument/2006/relationships/image"/><Relationship Id="rId7" Target="../media/image13.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11" Target="../media/image22.png" Type="http://schemas.openxmlformats.org/officeDocument/2006/relationships/image"/><Relationship Id="rId12" Target="../media/image23.png" Type="http://schemas.openxmlformats.org/officeDocument/2006/relationships/image"/><Relationship Id="rId13" Target="../media/image24.png" Type="http://schemas.openxmlformats.org/officeDocument/2006/relationships/image"/><Relationship Id="rId14" Target="../media/image25.svg" Type="http://schemas.openxmlformats.org/officeDocument/2006/relationships/image"/><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png" Type="http://schemas.openxmlformats.org/officeDocument/2006/relationships/image"/><Relationship Id="rId8" Target="../media/image19.svg" Type="http://schemas.openxmlformats.org/officeDocument/2006/relationships/image"/><Relationship Id="rId9" Target="../media/image2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26.png" Type="http://schemas.openxmlformats.org/officeDocument/2006/relationships/image"/><Relationship Id="rId8" Target="../media/image27.png" Type="http://schemas.openxmlformats.org/officeDocument/2006/relationships/image"/><Relationship Id="rId9"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32.png" Type="http://schemas.openxmlformats.org/officeDocument/2006/relationships/image"/><Relationship Id="rId13" Target="../media/image33.svg" Type="http://schemas.openxmlformats.org/officeDocument/2006/relationships/image"/><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 Id="rId9" Target="../media/image3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34.png" Type="http://schemas.openxmlformats.org/officeDocument/2006/relationships/image"/><Relationship Id="rId8" Target="../media/image35.png" Type="http://schemas.openxmlformats.org/officeDocument/2006/relationships/image"/><Relationship Id="rId9" Target="../media/image3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40.png" Type="http://schemas.openxmlformats.org/officeDocument/2006/relationships/image"/><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41.pn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5.jpe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jpeg" Type="http://schemas.openxmlformats.org/officeDocument/2006/relationships/image"/><Relationship Id="rId5" Target="../media/image6.png" Type="http://schemas.openxmlformats.org/officeDocument/2006/relationships/image"/><Relationship Id="rId6" Target="../media/image7.png" Type="http://schemas.openxmlformats.org/officeDocument/2006/relationships/image"/><Relationship Id="rId7" Target="../media/image48.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32.png" Type="http://schemas.openxmlformats.org/officeDocument/2006/relationships/image"/><Relationship Id="rId13" Target="../media/image33.svg" Type="http://schemas.openxmlformats.org/officeDocument/2006/relationships/image"/><Relationship Id="rId2" Target="../media/image1.jpeg" Type="http://schemas.openxmlformats.org/officeDocument/2006/relationships/image"/><Relationship Id="rId3" Target="../media/image14.png" Type="http://schemas.openxmlformats.org/officeDocument/2006/relationships/image"/><Relationship Id="rId4" Target="../media/image49.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0.png" Type="http://schemas.openxmlformats.org/officeDocument/2006/relationships/image"/><Relationship Id="rId8" Target="../media/image51.png" Type="http://schemas.openxmlformats.org/officeDocument/2006/relationships/image"/><Relationship Id="rId9" Target="../media/image5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49.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3.png" Type="http://schemas.openxmlformats.org/officeDocument/2006/relationships/image"/><Relationship Id="rId8" Target="../media/image54.png" Type="http://schemas.openxmlformats.org/officeDocument/2006/relationships/image"/><Relationship Id="rId9" Target="../media/image5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9.png" Type="http://schemas.openxmlformats.org/officeDocument/2006/relationships/image"/><Relationship Id="rId11" Target="../media/image60.sv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2" Target="../media/image1.jpeg" Type="http://schemas.openxmlformats.org/officeDocument/2006/relationships/image"/><Relationship Id="rId3" Target="../media/image14.png" Type="http://schemas.openxmlformats.org/officeDocument/2006/relationships/image"/><Relationship Id="rId4" Target="../media/image49.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56.png" Type="http://schemas.openxmlformats.org/officeDocument/2006/relationships/image"/><Relationship Id="rId8" Target="../media/image57.png" Type="http://schemas.openxmlformats.org/officeDocument/2006/relationships/image"/><Relationship Id="rId9" Target="../media/image5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49.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https://www.jpnn.com/tag/universitas-esa-unggul"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2" Target="../media/image1.jpeg" Type="http://schemas.openxmlformats.org/officeDocument/2006/relationships/image"/><Relationship Id="rId3" Target="../media/image14.png" Type="http://schemas.openxmlformats.org/officeDocument/2006/relationships/image"/><Relationship Id="rId4" Target="../media/image49.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61.png" Type="http://schemas.openxmlformats.org/officeDocument/2006/relationships/image"/><Relationship Id="rId8" Target="../media/image62.png" Type="http://schemas.openxmlformats.org/officeDocument/2006/relationships/image"/><Relationship Id="rId9" Target="../media/image6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49.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64.png" Type="http://schemas.openxmlformats.org/officeDocument/2006/relationships/image"/><Relationship Id="rId8" Target="../media/image65.png" Type="http://schemas.openxmlformats.org/officeDocument/2006/relationships/image"/><Relationship Id="rId9" Target="../media/image6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49.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67.png" Type="http://schemas.openxmlformats.org/officeDocument/2006/relationships/image"/><Relationship Id="rId9" Target="../media/image68.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4.png" Type="http://schemas.openxmlformats.org/officeDocument/2006/relationships/image"/><Relationship Id="rId4" Target="../media/image49.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67.png" Type="http://schemas.openxmlformats.org/officeDocument/2006/relationships/image"/><Relationship Id="rId9" Target="../media/image6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3626409" y="-459485"/>
            <a:ext cx="7032594" cy="8230527"/>
          </a:xfrm>
          <a:custGeom>
            <a:avLst/>
            <a:gdLst/>
            <a:ahLst/>
            <a:cxnLst/>
            <a:rect r="r" b="b" t="t" l="l"/>
            <a:pathLst>
              <a:path h="8230527" w="7032594">
                <a:moveTo>
                  <a:pt x="0" y="0"/>
                </a:moveTo>
                <a:lnTo>
                  <a:pt x="7032594" y="0"/>
                </a:lnTo>
                <a:lnTo>
                  <a:pt x="7032594" y="8230527"/>
                </a:lnTo>
                <a:lnTo>
                  <a:pt x="0" y="8230527"/>
                </a:lnTo>
                <a:lnTo>
                  <a:pt x="0" y="0"/>
                </a:lnTo>
                <a:close/>
              </a:path>
            </a:pathLst>
          </a:custGeom>
          <a:blipFill>
            <a:blip r:embed="rId3">
              <a:alphaModFix amt="28000"/>
            </a:blip>
            <a:stretch>
              <a:fillRect l="-67118" t="0" r="-40941" b="0"/>
            </a:stretch>
          </a:blipFill>
        </p:spPr>
      </p:sp>
      <p:sp>
        <p:nvSpPr>
          <p:cNvPr name="Freeform 4" id="4"/>
          <p:cNvSpPr/>
          <p:nvPr/>
        </p:nvSpPr>
        <p:spPr>
          <a:xfrm flipH="false" flipV="false" rot="0">
            <a:off x="-626605" y="-1102744"/>
            <a:ext cx="5307846" cy="7771042"/>
          </a:xfrm>
          <a:custGeom>
            <a:avLst/>
            <a:gdLst/>
            <a:ahLst/>
            <a:cxnLst/>
            <a:rect r="r" b="b" t="t" l="l"/>
            <a:pathLst>
              <a:path h="7771042" w="5307846">
                <a:moveTo>
                  <a:pt x="0" y="0"/>
                </a:moveTo>
                <a:lnTo>
                  <a:pt x="5307846" y="0"/>
                </a:lnTo>
                <a:lnTo>
                  <a:pt x="5307846" y="7771042"/>
                </a:lnTo>
                <a:lnTo>
                  <a:pt x="0" y="7771042"/>
                </a:lnTo>
                <a:lnTo>
                  <a:pt x="0" y="0"/>
                </a:lnTo>
                <a:close/>
              </a:path>
            </a:pathLst>
          </a:custGeom>
          <a:blipFill>
            <a:blip r:embed="rId4">
              <a:alphaModFix amt="30000"/>
            </a:blip>
            <a:stretch>
              <a:fillRect l="-62369" t="-5900" r="-69987" b="0"/>
            </a:stretch>
          </a:blipFill>
        </p:spPr>
      </p:sp>
      <p:sp>
        <p:nvSpPr>
          <p:cNvPr name="Freeform 5" id="5"/>
          <p:cNvSpPr/>
          <p:nvPr/>
        </p:nvSpPr>
        <p:spPr>
          <a:xfrm flipH="false" flipV="false" rot="0">
            <a:off x="9147363" y="2434421"/>
            <a:ext cx="11172067" cy="10704872"/>
          </a:xfrm>
          <a:custGeom>
            <a:avLst/>
            <a:gdLst/>
            <a:ahLst/>
            <a:cxnLst/>
            <a:rect r="r" b="b" t="t" l="l"/>
            <a:pathLst>
              <a:path h="10704872" w="11172067">
                <a:moveTo>
                  <a:pt x="0" y="0"/>
                </a:moveTo>
                <a:lnTo>
                  <a:pt x="11172068" y="0"/>
                </a:lnTo>
                <a:lnTo>
                  <a:pt x="11172068" y="10704872"/>
                </a:lnTo>
                <a:lnTo>
                  <a:pt x="0" y="10704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150604" y="977614"/>
            <a:ext cx="9663739" cy="2933225"/>
          </a:xfrm>
          <a:prstGeom prst="rect">
            <a:avLst/>
          </a:prstGeom>
        </p:spPr>
        <p:txBody>
          <a:bodyPr anchor="t" rtlCol="false" tIns="0" lIns="0" bIns="0" rIns="0">
            <a:spAutoFit/>
          </a:bodyPr>
          <a:lstStyle/>
          <a:p>
            <a:pPr algn="ctr">
              <a:lnSpc>
                <a:spcPts val="10784"/>
              </a:lnSpc>
            </a:pPr>
            <a:r>
              <a:rPr lang="en-US" b="true" sz="11352">
                <a:solidFill>
                  <a:srgbClr val="F6F4F1"/>
                </a:solidFill>
                <a:latin typeface="Poppins Ultra-Bold"/>
                <a:ea typeface="Poppins Ultra-Bold"/>
                <a:cs typeface="Poppins Ultra-Bold"/>
                <a:sym typeface="Poppins Ultra-Bold"/>
              </a:rPr>
              <a:t>PEJABAT VS INFLUENCER</a:t>
            </a:r>
          </a:p>
        </p:txBody>
      </p:sp>
      <p:sp>
        <p:nvSpPr>
          <p:cNvPr name="Freeform 7" id="7"/>
          <p:cNvSpPr/>
          <p:nvPr/>
        </p:nvSpPr>
        <p:spPr>
          <a:xfrm flipH="false" flipV="false" rot="0">
            <a:off x="-3213452" y="2418606"/>
            <a:ext cx="11172067" cy="10704872"/>
          </a:xfrm>
          <a:custGeom>
            <a:avLst/>
            <a:gdLst/>
            <a:ahLst/>
            <a:cxnLst/>
            <a:rect r="r" b="b" t="t" l="l"/>
            <a:pathLst>
              <a:path h="10704872" w="11172067">
                <a:moveTo>
                  <a:pt x="0" y="0"/>
                </a:moveTo>
                <a:lnTo>
                  <a:pt x="11172067" y="0"/>
                </a:lnTo>
                <a:lnTo>
                  <a:pt x="11172067" y="10704871"/>
                </a:lnTo>
                <a:lnTo>
                  <a:pt x="0" y="107048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72581" y="5291676"/>
            <a:ext cx="12333188" cy="6742342"/>
          </a:xfrm>
          <a:custGeom>
            <a:avLst/>
            <a:gdLst/>
            <a:ahLst/>
            <a:cxnLst/>
            <a:rect r="r" b="b" t="t" l="l"/>
            <a:pathLst>
              <a:path h="6742342" w="12333188">
                <a:moveTo>
                  <a:pt x="0" y="0"/>
                </a:moveTo>
                <a:lnTo>
                  <a:pt x="12333188" y="0"/>
                </a:lnTo>
                <a:lnTo>
                  <a:pt x="12333188" y="6742342"/>
                </a:lnTo>
                <a:lnTo>
                  <a:pt x="0" y="6742342"/>
                </a:lnTo>
                <a:lnTo>
                  <a:pt x="0" y="0"/>
                </a:lnTo>
                <a:close/>
              </a:path>
            </a:pathLst>
          </a:custGeom>
          <a:blipFill>
            <a:blip r:embed="rId7">
              <a:alphaModFix amt="79000"/>
            </a:blip>
            <a:stretch>
              <a:fillRect l="0" t="-22058" r="0" b="0"/>
            </a:stretch>
          </a:blipFill>
        </p:spPr>
      </p:sp>
      <p:sp>
        <p:nvSpPr>
          <p:cNvPr name="Freeform 9" id="9"/>
          <p:cNvSpPr/>
          <p:nvPr/>
        </p:nvSpPr>
        <p:spPr>
          <a:xfrm flipH="false" flipV="false" rot="0">
            <a:off x="-2518359" y="2418606"/>
            <a:ext cx="10476974" cy="12488482"/>
          </a:xfrm>
          <a:custGeom>
            <a:avLst/>
            <a:gdLst/>
            <a:ahLst/>
            <a:cxnLst/>
            <a:rect r="r" b="b" t="t" l="l"/>
            <a:pathLst>
              <a:path h="12488482" w="10476974">
                <a:moveTo>
                  <a:pt x="0" y="0"/>
                </a:moveTo>
                <a:lnTo>
                  <a:pt x="10476974" y="0"/>
                </a:lnTo>
                <a:lnTo>
                  <a:pt x="10476974" y="12488482"/>
                </a:lnTo>
                <a:lnTo>
                  <a:pt x="0" y="12488482"/>
                </a:lnTo>
                <a:lnTo>
                  <a:pt x="0" y="0"/>
                </a:lnTo>
                <a:close/>
              </a:path>
            </a:pathLst>
          </a:custGeom>
          <a:blipFill>
            <a:blip r:embed="rId8"/>
            <a:stretch>
              <a:fillRect l="-17479" t="-20542" r="-137961" b="0"/>
            </a:stretch>
          </a:blipFill>
        </p:spPr>
      </p:sp>
      <p:sp>
        <p:nvSpPr>
          <p:cNvPr name="Freeform 10" id="10"/>
          <p:cNvSpPr/>
          <p:nvPr/>
        </p:nvSpPr>
        <p:spPr>
          <a:xfrm flipH="false" flipV="false" rot="0">
            <a:off x="9581072" y="1877049"/>
            <a:ext cx="15123267" cy="10997674"/>
          </a:xfrm>
          <a:custGeom>
            <a:avLst/>
            <a:gdLst/>
            <a:ahLst/>
            <a:cxnLst/>
            <a:rect r="r" b="b" t="t" l="l"/>
            <a:pathLst>
              <a:path h="10997674" w="15123267">
                <a:moveTo>
                  <a:pt x="0" y="0"/>
                </a:moveTo>
                <a:lnTo>
                  <a:pt x="15123267" y="0"/>
                </a:lnTo>
                <a:lnTo>
                  <a:pt x="15123267" y="10997674"/>
                </a:lnTo>
                <a:lnTo>
                  <a:pt x="0" y="10997674"/>
                </a:lnTo>
                <a:lnTo>
                  <a:pt x="0" y="0"/>
                </a:lnTo>
                <a:close/>
              </a:path>
            </a:pathLst>
          </a:custGeom>
          <a:blipFill>
            <a:blip r:embed="rId9"/>
            <a:stretch>
              <a:fillRect l="-29280" t="0" r="0" b="0"/>
            </a:stretch>
          </a:blipFill>
        </p:spPr>
      </p:sp>
      <p:sp>
        <p:nvSpPr>
          <p:cNvPr name="TextBox 11" id="11"/>
          <p:cNvSpPr txBox="true"/>
          <p:nvPr/>
        </p:nvSpPr>
        <p:spPr>
          <a:xfrm rot="0">
            <a:off x="4464132" y="3672492"/>
            <a:ext cx="8656694" cy="1011175"/>
          </a:xfrm>
          <a:prstGeom prst="rect">
            <a:avLst/>
          </a:prstGeom>
        </p:spPr>
        <p:txBody>
          <a:bodyPr anchor="t" rtlCol="false" tIns="0" lIns="0" bIns="0" rIns="0">
            <a:spAutoFit/>
          </a:bodyPr>
          <a:lstStyle/>
          <a:p>
            <a:pPr algn="ctr">
              <a:lnSpc>
                <a:spcPts val="4115"/>
              </a:lnSpc>
            </a:pPr>
            <a:r>
              <a:rPr lang="en-US" sz="2939" spc="-61">
                <a:solidFill>
                  <a:srgbClr val="F6F4F1"/>
                </a:solidFill>
                <a:latin typeface="Montserrat"/>
                <a:ea typeface="Montserrat"/>
                <a:cs typeface="Montserrat"/>
                <a:sym typeface="Montserrat"/>
              </a:rPr>
              <a:t>Analisis Perspektif dari Media dan Opini Publik</a:t>
            </a:r>
          </a:p>
          <a:p>
            <a:pPr algn="ctr">
              <a:lnSpc>
                <a:spcPts val="4115"/>
              </a:lnSpc>
              <a:spcBef>
                <a:spcPct val="0"/>
              </a:spcBef>
            </a:pPr>
          </a:p>
        </p:txBody>
      </p:sp>
      <p:sp>
        <p:nvSpPr>
          <p:cNvPr name="Freeform 12" id="12"/>
          <p:cNvSpPr/>
          <p:nvPr/>
        </p:nvSpPr>
        <p:spPr>
          <a:xfrm flipH="false" flipV="false" rot="0">
            <a:off x="-125060" y="-239422"/>
            <a:ext cx="21257695" cy="10628847"/>
          </a:xfrm>
          <a:custGeom>
            <a:avLst/>
            <a:gdLst/>
            <a:ahLst/>
            <a:cxnLst/>
            <a:rect r="r" b="b" t="t" l="l"/>
            <a:pathLst>
              <a:path h="10628847" w="21257695">
                <a:moveTo>
                  <a:pt x="0" y="0"/>
                </a:moveTo>
                <a:lnTo>
                  <a:pt x="21257695" y="0"/>
                </a:lnTo>
                <a:lnTo>
                  <a:pt x="21257695" y="10628847"/>
                </a:lnTo>
                <a:lnTo>
                  <a:pt x="0" y="106288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3" id="13"/>
          <p:cNvGrpSpPr/>
          <p:nvPr/>
        </p:nvGrpSpPr>
        <p:grpSpPr>
          <a:xfrm rot="0">
            <a:off x="981075" y="8872663"/>
            <a:ext cx="3839666" cy="771274"/>
            <a:chOff x="0" y="0"/>
            <a:chExt cx="1011270" cy="203134"/>
          </a:xfrm>
        </p:grpSpPr>
        <p:sp>
          <p:nvSpPr>
            <p:cNvPr name="Freeform 14" id="14"/>
            <p:cNvSpPr/>
            <p:nvPr/>
          </p:nvSpPr>
          <p:spPr>
            <a:xfrm flipH="false" flipV="false" rot="0">
              <a:off x="0" y="0"/>
              <a:ext cx="1011270" cy="203134"/>
            </a:xfrm>
            <a:custGeom>
              <a:avLst/>
              <a:gdLst/>
              <a:ahLst/>
              <a:cxnLst/>
              <a:rect r="r" b="b" t="t" l="l"/>
              <a:pathLst>
                <a:path h="203134" w="1011270">
                  <a:moveTo>
                    <a:pt x="101567" y="0"/>
                  </a:moveTo>
                  <a:lnTo>
                    <a:pt x="909703" y="0"/>
                  </a:lnTo>
                  <a:cubicBezTo>
                    <a:pt x="936640" y="0"/>
                    <a:pt x="962474" y="10701"/>
                    <a:pt x="981522" y="29748"/>
                  </a:cubicBezTo>
                  <a:cubicBezTo>
                    <a:pt x="1000569" y="48796"/>
                    <a:pt x="1011270" y="74630"/>
                    <a:pt x="1011270" y="101567"/>
                  </a:cubicBezTo>
                  <a:lnTo>
                    <a:pt x="1011270" y="101567"/>
                  </a:lnTo>
                  <a:cubicBezTo>
                    <a:pt x="1011270" y="128504"/>
                    <a:pt x="1000569" y="154338"/>
                    <a:pt x="981522" y="173386"/>
                  </a:cubicBezTo>
                  <a:cubicBezTo>
                    <a:pt x="962474" y="192433"/>
                    <a:pt x="936640" y="203134"/>
                    <a:pt x="909703" y="203134"/>
                  </a:cubicBezTo>
                  <a:lnTo>
                    <a:pt x="101567" y="203134"/>
                  </a:lnTo>
                  <a:cubicBezTo>
                    <a:pt x="74630" y="203134"/>
                    <a:pt x="48796" y="192433"/>
                    <a:pt x="29748" y="173386"/>
                  </a:cubicBezTo>
                  <a:cubicBezTo>
                    <a:pt x="10701" y="154338"/>
                    <a:pt x="0" y="128504"/>
                    <a:pt x="0" y="101567"/>
                  </a:cubicBezTo>
                  <a:lnTo>
                    <a:pt x="0" y="101567"/>
                  </a:lnTo>
                  <a:cubicBezTo>
                    <a:pt x="0" y="74630"/>
                    <a:pt x="10701" y="48796"/>
                    <a:pt x="29748" y="29748"/>
                  </a:cubicBezTo>
                  <a:cubicBezTo>
                    <a:pt x="48796" y="10701"/>
                    <a:pt x="74630" y="0"/>
                    <a:pt x="101567" y="0"/>
                  </a:cubicBezTo>
                  <a:close/>
                </a:path>
              </a:pathLst>
            </a:custGeom>
            <a:solidFill>
              <a:srgbClr val="F1F0EC"/>
            </a:solidFill>
          </p:spPr>
        </p:sp>
        <p:sp>
          <p:nvSpPr>
            <p:cNvPr name="TextBox 15" id="15"/>
            <p:cNvSpPr txBox="true"/>
            <p:nvPr/>
          </p:nvSpPr>
          <p:spPr>
            <a:xfrm>
              <a:off x="0" y="0"/>
              <a:ext cx="1011270" cy="203134"/>
            </a:xfrm>
            <a:prstGeom prst="rect">
              <a:avLst/>
            </a:prstGeom>
          </p:spPr>
          <p:txBody>
            <a:bodyPr anchor="ctr" rtlCol="false" tIns="63500" lIns="63500" bIns="63500" rIns="63500"/>
            <a:lstStyle/>
            <a:p>
              <a:pPr algn="ctr">
                <a:lnSpc>
                  <a:spcPts val="2640"/>
                </a:lnSpc>
              </a:pPr>
              <a:r>
                <a:rPr lang="en-US" b="true" sz="2400" spc="38">
                  <a:solidFill>
                    <a:srgbClr val="2D2C2D"/>
                  </a:solidFill>
                  <a:latin typeface="Poppins Bold"/>
                  <a:ea typeface="Poppins Bold"/>
                  <a:cs typeface="Poppins Bold"/>
                  <a:sym typeface="Poppins Bold"/>
                </a:rPr>
                <a:t>FERRY IRWANDI</a:t>
              </a:r>
            </a:p>
          </p:txBody>
        </p:sp>
      </p:grpSp>
      <p:grpSp>
        <p:nvGrpSpPr>
          <p:cNvPr name="Group 16" id="16"/>
          <p:cNvGrpSpPr/>
          <p:nvPr/>
        </p:nvGrpSpPr>
        <p:grpSpPr>
          <a:xfrm rot="0">
            <a:off x="13419634" y="8872663"/>
            <a:ext cx="3839666" cy="771274"/>
            <a:chOff x="0" y="0"/>
            <a:chExt cx="1011270" cy="203134"/>
          </a:xfrm>
        </p:grpSpPr>
        <p:sp>
          <p:nvSpPr>
            <p:cNvPr name="Freeform 17" id="17"/>
            <p:cNvSpPr/>
            <p:nvPr/>
          </p:nvSpPr>
          <p:spPr>
            <a:xfrm flipH="false" flipV="false" rot="0">
              <a:off x="0" y="0"/>
              <a:ext cx="1011270" cy="203134"/>
            </a:xfrm>
            <a:custGeom>
              <a:avLst/>
              <a:gdLst/>
              <a:ahLst/>
              <a:cxnLst/>
              <a:rect r="r" b="b" t="t" l="l"/>
              <a:pathLst>
                <a:path h="203134" w="1011270">
                  <a:moveTo>
                    <a:pt x="101567" y="0"/>
                  </a:moveTo>
                  <a:lnTo>
                    <a:pt x="909703" y="0"/>
                  </a:lnTo>
                  <a:cubicBezTo>
                    <a:pt x="936640" y="0"/>
                    <a:pt x="962474" y="10701"/>
                    <a:pt x="981522" y="29748"/>
                  </a:cubicBezTo>
                  <a:cubicBezTo>
                    <a:pt x="1000569" y="48796"/>
                    <a:pt x="1011270" y="74630"/>
                    <a:pt x="1011270" y="101567"/>
                  </a:cubicBezTo>
                  <a:lnTo>
                    <a:pt x="1011270" y="101567"/>
                  </a:lnTo>
                  <a:cubicBezTo>
                    <a:pt x="1011270" y="128504"/>
                    <a:pt x="1000569" y="154338"/>
                    <a:pt x="981522" y="173386"/>
                  </a:cubicBezTo>
                  <a:cubicBezTo>
                    <a:pt x="962474" y="192433"/>
                    <a:pt x="936640" y="203134"/>
                    <a:pt x="909703" y="203134"/>
                  </a:cubicBezTo>
                  <a:lnTo>
                    <a:pt x="101567" y="203134"/>
                  </a:lnTo>
                  <a:cubicBezTo>
                    <a:pt x="74630" y="203134"/>
                    <a:pt x="48796" y="192433"/>
                    <a:pt x="29748" y="173386"/>
                  </a:cubicBezTo>
                  <a:cubicBezTo>
                    <a:pt x="10701" y="154338"/>
                    <a:pt x="0" y="128504"/>
                    <a:pt x="0" y="101567"/>
                  </a:cubicBezTo>
                  <a:lnTo>
                    <a:pt x="0" y="101567"/>
                  </a:lnTo>
                  <a:cubicBezTo>
                    <a:pt x="0" y="74630"/>
                    <a:pt x="10701" y="48796"/>
                    <a:pt x="29748" y="29748"/>
                  </a:cubicBezTo>
                  <a:cubicBezTo>
                    <a:pt x="48796" y="10701"/>
                    <a:pt x="74630" y="0"/>
                    <a:pt x="101567" y="0"/>
                  </a:cubicBezTo>
                  <a:close/>
                </a:path>
              </a:pathLst>
            </a:custGeom>
            <a:solidFill>
              <a:srgbClr val="F1F0EC"/>
            </a:solidFill>
          </p:spPr>
        </p:sp>
        <p:sp>
          <p:nvSpPr>
            <p:cNvPr name="TextBox 18" id="18"/>
            <p:cNvSpPr txBox="true"/>
            <p:nvPr/>
          </p:nvSpPr>
          <p:spPr>
            <a:xfrm>
              <a:off x="0" y="0"/>
              <a:ext cx="1011270" cy="203134"/>
            </a:xfrm>
            <a:prstGeom prst="rect">
              <a:avLst/>
            </a:prstGeom>
          </p:spPr>
          <p:txBody>
            <a:bodyPr anchor="ctr" rtlCol="false" tIns="63500" lIns="63500" bIns="63500" rIns="63500"/>
            <a:lstStyle/>
            <a:p>
              <a:pPr algn="ctr">
                <a:lnSpc>
                  <a:spcPts val="2640"/>
                </a:lnSpc>
              </a:pPr>
              <a:r>
                <a:rPr lang="en-US" b="true" sz="2400" spc="38">
                  <a:solidFill>
                    <a:srgbClr val="2D2C2D"/>
                  </a:solidFill>
                  <a:latin typeface="Poppins Bold"/>
                  <a:ea typeface="Poppins Bold"/>
                  <a:cs typeface="Poppins Bold"/>
                  <a:sym typeface="Poppins Bold"/>
                </a:rPr>
                <a:t>ZULKIFLI HASAN</a:t>
              </a:r>
            </a:p>
          </p:txBody>
        </p:sp>
      </p:grpSp>
      <p:sp>
        <p:nvSpPr>
          <p:cNvPr name="TextBox 19" id="19"/>
          <p:cNvSpPr txBox="true"/>
          <p:nvPr/>
        </p:nvSpPr>
        <p:spPr>
          <a:xfrm rot="0">
            <a:off x="7729785" y="9482636"/>
            <a:ext cx="2125388" cy="294026"/>
          </a:xfrm>
          <a:prstGeom prst="rect">
            <a:avLst/>
          </a:prstGeom>
        </p:spPr>
        <p:txBody>
          <a:bodyPr anchor="t" rtlCol="false" tIns="0" lIns="0" bIns="0" rIns="0">
            <a:spAutoFit/>
          </a:bodyPr>
          <a:lstStyle/>
          <a:p>
            <a:pPr algn="ctr">
              <a:lnSpc>
                <a:spcPts val="2440"/>
              </a:lnSpc>
            </a:pPr>
            <a:r>
              <a:rPr lang="en-US" sz="1743" b="true">
                <a:solidFill>
                  <a:srgbClr val="F6F4F1"/>
                </a:solidFill>
                <a:latin typeface="Canva Sans Bold"/>
                <a:ea typeface="Canva Sans Bold"/>
                <a:cs typeface="Canva Sans Bold"/>
                <a:sym typeface="Canva Sans Bold"/>
              </a:rPr>
              <a:t>BY: Abdullah Azzam</a:t>
            </a:r>
          </a:p>
        </p:txBody>
      </p:sp>
      <p:sp>
        <p:nvSpPr>
          <p:cNvPr name="TextBox 20" id="20"/>
          <p:cNvSpPr txBox="true"/>
          <p:nvPr/>
        </p:nvSpPr>
        <p:spPr>
          <a:xfrm rot="0">
            <a:off x="15824831" y="146967"/>
            <a:ext cx="2121197" cy="294026"/>
          </a:xfrm>
          <a:prstGeom prst="rect">
            <a:avLst/>
          </a:prstGeom>
        </p:spPr>
        <p:txBody>
          <a:bodyPr anchor="t" rtlCol="false" tIns="0" lIns="0" bIns="0" rIns="0">
            <a:spAutoFit/>
          </a:bodyPr>
          <a:lstStyle/>
          <a:p>
            <a:pPr algn="ctr">
              <a:lnSpc>
                <a:spcPts val="2440"/>
              </a:lnSpc>
            </a:pPr>
            <a:r>
              <a:rPr lang="en-US" sz="1743" b="true">
                <a:solidFill>
                  <a:srgbClr val="F6F4F1"/>
                </a:solidFill>
                <a:latin typeface="Canva Sans Bold"/>
                <a:ea typeface="Canva Sans Bold"/>
                <a:cs typeface="Canva Sans Bold"/>
                <a:sym typeface="Canva Sans Bold"/>
              </a:rPr>
              <a:t>#sentimentanalysis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TextBox 3" id="3"/>
          <p:cNvSpPr txBox="true"/>
          <p:nvPr/>
        </p:nvSpPr>
        <p:spPr>
          <a:xfrm rot="0">
            <a:off x="1634798" y="774130"/>
            <a:ext cx="15018404" cy="1201969"/>
          </a:xfrm>
          <a:prstGeom prst="rect">
            <a:avLst/>
          </a:prstGeom>
        </p:spPr>
        <p:txBody>
          <a:bodyPr anchor="t" rtlCol="false" tIns="0" lIns="0" bIns="0" rIns="0">
            <a:spAutoFit/>
          </a:bodyPr>
          <a:lstStyle/>
          <a:p>
            <a:pPr algn="ctr">
              <a:lnSpc>
                <a:spcPts val="9349"/>
              </a:lnSpc>
              <a:spcBef>
                <a:spcPct val="0"/>
              </a:spcBef>
            </a:pPr>
            <a:r>
              <a:rPr lang="en-US" b="true" sz="6678" spc="33">
                <a:solidFill>
                  <a:srgbClr val="F1F0EC"/>
                </a:solidFill>
                <a:latin typeface="Poppins Bold"/>
                <a:ea typeface="Poppins Bold"/>
                <a:cs typeface="Poppins Bold"/>
                <a:sym typeface="Poppins Bold"/>
              </a:rPr>
              <a:t>TENTANG RISET &amp; ANALYTICS</a:t>
            </a:r>
          </a:p>
        </p:txBody>
      </p:sp>
      <p:sp>
        <p:nvSpPr>
          <p:cNvPr name="TextBox 4" id="4"/>
          <p:cNvSpPr txBox="true"/>
          <p:nvPr/>
        </p:nvSpPr>
        <p:spPr>
          <a:xfrm rot="0">
            <a:off x="1261028" y="2389795"/>
            <a:ext cx="15670693" cy="6536055"/>
          </a:xfrm>
          <a:prstGeom prst="rect">
            <a:avLst/>
          </a:prstGeom>
        </p:spPr>
        <p:txBody>
          <a:bodyPr anchor="t" rtlCol="false" tIns="0" lIns="0" bIns="0" rIns="0">
            <a:spAutoFit/>
          </a:bodyPr>
          <a:lstStyle/>
          <a:p>
            <a:pPr algn="just">
              <a:lnSpc>
                <a:spcPts val="3239"/>
              </a:lnSpc>
            </a:pPr>
            <a:r>
              <a:rPr lang="en-US" b="true" sz="2399" spc="143">
                <a:solidFill>
                  <a:srgbClr val="F1F0EC"/>
                </a:solidFill>
                <a:latin typeface="Montserrat Semi-Bold"/>
                <a:ea typeface="Montserrat Semi-Bold"/>
                <a:cs typeface="Montserrat Semi-Bold"/>
                <a:sym typeface="Montserrat Semi-Bold"/>
              </a:rPr>
              <a:t>Berdasarkan data terkini hingga 17 Desember 2025, banjir bandang dan tanah longsor yang melanda Aceh, Sumatera Utara, dan Sumatera Barat sej</a:t>
            </a:r>
            <a:r>
              <a:rPr lang="en-US" b="true" sz="2399" spc="143">
                <a:solidFill>
                  <a:srgbClr val="F1F0EC"/>
                </a:solidFill>
                <a:latin typeface="Montserrat Semi-Bold"/>
                <a:ea typeface="Montserrat Semi-Bold"/>
                <a:cs typeface="Montserrat Semi-Bold"/>
                <a:sym typeface="Montserrat Semi-Bold"/>
              </a:rPr>
              <a:t>ak akhir November 2025 telah menewaskan ratusan jiwa (sekitar 1053 korban jiwa dan 200 orang hilang, 7000an terluka) serta merusak infrastruktur luas. Pihak pemerintah maupun pihak swasta khususnya influencer terlibat langsung dalam penanganan bencana ini melalui kunjungan lapangan dan penyaluran bantuan pangan. </a:t>
            </a:r>
          </a:p>
          <a:p>
            <a:pPr algn="just">
              <a:lnSpc>
                <a:spcPts val="3239"/>
              </a:lnSpc>
            </a:pPr>
          </a:p>
          <a:p>
            <a:pPr algn="just">
              <a:lnSpc>
                <a:spcPts val="3239"/>
              </a:lnSpc>
            </a:pPr>
            <a:r>
              <a:rPr lang="en-US" b="true" sz="2399" spc="143">
                <a:solidFill>
                  <a:srgbClr val="F1F0EC"/>
                </a:solidFill>
                <a:latin typeface="Montserrat Semi-Bold"/>
                <a:ea typeface="Montserrat Semi-Bold"/>
                <a:cs typeface="Montserrat Semi-Bold"/>
                <a:sym typeface="Montserrat Semi-Bold"/>
              </a:rPr>
              <a:t>Zulkifli Hasan (Zulhas), Menteri Koordinator Bidang Pangan sekaligus Ketua Umum PAN, menjadi sorotan setelah video lama bersama frod kembali viral. ditambah dengan konten bantuan beliau yang dianggap pencitraan menjadi isu yang hangat di media sosial. Riset ini bertujuan untuk melihat bagaimana opini publik dalam menilai peristiwa ini dan membandingkan bagaimana respon masyarakat menilai bantuan influencer dalam konteks ini ferry irwandi dibandingkan pejabat dalam mengatasi masalah ini.</a:t>
            </a:r>
          </a:p>
          <a:p>
            <a:pPr algn="just">
              <a:lnSpc>
                <a:spcPts val="3239"/>
              </a:lnSpc>
            </a:pPr>
          </a:p>
          <a:p>
            <a:pPr algn="just">
              <a:lnSpc>
                <a:spcPts val="3239"/>
              </a:lnSpc>
            </a:pPr>
          </a:p>
          <a:p>
            <a:pPr algn="just" marL="0" indent="0" lvl="0">
              <a:lnSpc>
                <a:spcPts val="323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TextBox 3" id="3"/>
          <p:cNvSpPr txBox="true"/>
          <p:nvPr/>
        </p:nvSpPr>
        <p:spPr>
          <a:xfrm rot="0">
            <a:off x="1634798" y="774130"/>
            <a:ext cx="15018404" cy="1201969"/>
          </a:xfrm>
          <a:prstGeom prst="rect">
            <a:avLst/>
          </a:prstGeom>
        </p:spPr>
        <p:txBody>
          <a:bodyPr anchor="t" rtlCol="false" tIns="0" lIns="0" bIns="0" rIns="0">
            <a:spAutoFit/>
          </a:bodyPr>
          <a:lstStyle/>
          <a:p>
            <a:pPr algn="ctr">
              <a:lnSpc>
                <a:spcPts val="9349"/>
              </a:lnSpc>
              <a:spcBef>
                <a:spcPct val="0"/>
              </a:spcBef>
            </a:pPr>
            <a:r>
              <a:rPr lang="en-US" b="true" sz="6678" spc="33">
                <a:solidFill>
                  <a:srgbClr val="F1F0EC"/>
                </a:solidFill>
                <a:latin typeface="Poppins Bold"/>
                <a:ea typeface="Poppins Bold"/>
                <a:cs typeface="Poppins Bold"/>
                <a:sym typeface="Poppins Bold"/>
              </a:rPr>
              <a:t>URUTAN KEJADIAN </a:t>
            </a:r>
          </a:p>
        </p:txBody>
      </p:sp>
      <p:sp>
        <p:nvSpPr>
          <p:cNvPr name="TextBox 4" id="4"/>
          <p:cNvSpPr txBox="true"/>
          <p:nvPr/>
        </p:nvSpPr>
        <p:spPr>
          <a:xfrm rot="0">
            <a:off x="1634798" y="3592637"/>
            <a:ext cx="6168792" cy="1211580"/>
          </a:xfrm>
          <a:prstGeom prst="rect">
            <a:avLst/>
          </a:prstGeom>
        </p:spPr>
        <p:txBody>
          <a:bodyPr anchor="t" rtlCol="false" tIns="0" lIns="0" bIns="0" rIns="0">
            <a:spAutoFit/>
          </a:bodyPr>
          <a:lstStyle/>
          <a:p>
            <a:pPr algn="just">
              <a:lnSpc>
                <a:spcPts val="3239"/>
              </a:lnSpc>
            </a:pPr>
            <a:r>
              <a:rPr lang="en-US" b="true" sz="2399" spc="143">
                <a:solidFill>
                  <a:srgbClr val="F1F0EC"/>
                </a:solidFill>
                <a:latin typeface="Montserrat Semi-Bold"/>
                <a:ea typeface="Montserrat Semi-Bold"/>
                <a:cs typeface="Montserrat Semi-Bold"/>
                <a:sym typeface="Montserrat Semi-Bold"/>
              </a:rPr>
              <a:t>Fase 1 (28 - 29 Nov 2025) : </a:t>
            </a:r>
          </a:p>
          <a:p>
            <a:pPr algn="just" marL="0" indent="0" lvl="0">
              <a:lnSpc>
                <a:spcPts val="3239"/>
              </a:lnSpc>
              <a:spcBef>
                <a:spcPct val="0"/>
              </a:spcBef>
            </a:pPr>
            <a:r>
              <a:rPr lang="en-US" b="true" sz="2399" spc="143">
                <a:solidFill>
                  <a:srgbClr val="F1F0EC"/>
                </a:solidFill>
                <a:latin typeface="Montserrat Semi-Bold"/>
                <a:ea typeface="Montserrat Semi-Bold"/>
                <a:cs typeface="Montserrat Semi-Bold"/>
                <a:sym typeface="Montserrat Semi-Bold"/>
              </a:rPr>
              <a:t>Video lama zulkifli hasan Bersama ford viral Kembali </a:t>
            </a:r>
          </a:p>
        </p:txBody>
      </p:sp>
      <p:sp>
        <p:nvSpPr>
          <p:cNvPr name="TextBox 5" id="5"/>
          <p:cNvSpPr txBox="true"/>
          <p:nvPr/>
        </p:nvSpPr>
        <p:spPr>
          <a:xfrm rot="0">
            <a:off x="1634798" y="5194742"/>
            <a:ext cx="6168792" cy="1211580"/>
          </a:xfrm>
          <a:prstGeom prst="rect">
            <a:avLst/>
          </a:prstGeom>
        </p:spPr>
        <p:txBody>
          <a:bodyPr anchor="t" rtlCol="false" tIns="0" lIns="0" bIns="0" rIns="0">
            <a:spAutoFit/>
          </a:bodyPr>
          <a:lstStyle/>
          <a:p>
            <a:pPr algn="just">
              <a:lnSpc>
                <a:spcPts val="3239"/>
              </a:lnSpc>
            </a:pPr>
            <a:r>
              <a:rPr lang="en-US" b="true" sz="2399" spc="143">
                <a:solidFill>
                  <a:srgbClr val="F1F0EC"/>
                </a:solidFill>
                <a:latin typeface="Montserrat Semi-Bold"/>
                <a:ea typeface="Montserrat Semi-Bold"/>
                <a:cs typeface="Montserrat Semi-Bold"/>
                <a:sym typeface="Montserrat Semi-Bold"/>
              </a:rPr>
              <a:t>Fase 2 (29 - 30 Nov 2025) : </a:t>
            </a:r>
          </a:p>
          <a:p>
            <a:pPr algn="just" marL="0" indent="0" lvl="0">
              <a:lnSpc>
                <a:spcPts val="3239"/>
              </a:lnSpc>
              <a:spcBef>
                <a:spcPct val="0"/>
              </a:spcBef>
            </a:pPr>
            <a:r>
              <a:rPr lang="en-US" b="true" sz="2399" spc="143">
                <a:solidFill>
                  <a:srgbClr val="F1F0EC"/>
                </a:solidFill>
                <a:latin typeface="Montserrat Semi-Bold"/>
                <a:ea typeface="Montserrat Semi-Bold"/>
                <a:cs typeface="Montserrat Semi-Bold"/>
                <a:sym typeface="Montserrat Semi-Bold"/>
              </a:rPr>
              <a:t>Postingan Instagram pak zulkifli hasan bantu warga Sumatra </a:t>
            </a:r>
          </a:p>
        </p:txBody>
      </p:sp>
      <p:sp>
        <p:nvSpPr>
          <p:cNvPr name="TextBox 6" id="6"/>
          <p:cNvSpPr txBox="true"/>
          <p:nvPr/>
        </p:nvSpPr>
        <p:spPr>
          <a:xfrm rot="0">
            <a:off x="1634798" y="7025447"/>
            <a:ext cx="6168792" cy="1211580"/>
          </a:xfrm>
          <a:prstGeom prst="rect">
            <a:avLst/>
          </a:prstGeom>
        </p:spPr>
        <p:txBody>
          <a:bodyPr anchor="t" rtlCol="false" tIns="0" lIns="0" bIns="0" rIns="0">
            <a:spAutoFit/>
          </a:bodyPr>
          <a:lstStyle/>
          <a:p>
            <a:pPr algn="just">
              <a:lnSpc>
                <a:spcPts val="3239"/>
              </a:lnSpc>
            </a:pPr>
            <a:r>
              <a:rPr lang="en-US" b="true" sz="2399" spc="143">
                <a:solidFill>
                  <a:srgbClr val="F1F0EC"/>
                </a:solidFill>
                <a:latin typeface="Montserrat Semi-Bold"/>
                <a:ea typeface="Montserrat Semi-Bold"/>
                <a:cs typeface="Montserrat Semi-Bold"/>
                <a:sym typeface="Montserrat Semi-Bold"/>
              </a:rPr>
              <a:t>Fase 3 (1 Des 2025) : </a:t>
            </a:r>
          </a:p>
          <a:p>
            <a:pPr algn="just" marL="0" indent="0" lvl="0">
              <a:lnSpc>
                <a:spcPts val="3239"/>
              </a:lnSpc>
              <a:spcBef>
                <a:spcPct val="0"/>
              </a:spcBef>
            </a:pPr>
            <a:r>
              <a:rPr lang="en-US" b="true" sz="2399" spc="143">
                <a:solidFill>
                  <a:srgbClr val="F1F0EC"/>
                </a:solidFill>
                <a:latin typeface="Montserrat Semi-Bold"/>
                <a:ea typeface="Montserrat Semi-Bold"/>
                <a:cs typeface="Montserrat Semi-Bold"/>
                <a:sym typeface="Montserrat Semi-Bold"/>
              </a:rPr>
              <a:t>Klarifikasi zulkifli hasan di podcast denny sumargo (Youtobe)</a:t>
            </a:r>
          </a:p>
        </p:txBody>
      </p:sp>
      <p:sp>
        <p:nvSpPr>
          <p:cNvPr name="TextBox 7" id="7"/>
          <p:cNvSpPr txBox="true"/>
          <p:nvPr/>
        </p:nvSpPr>
        <p:spPr>
          <a:xfrm rot="0">
            <a:off x="10474885" y="3592637"/>
            <a:ext cx="6168792" cy="1211580"/>
          </a:xfrm>
          <a:prstGeom prst="rect">
            <a:avLst/>
          </a:prstGeom>
        </p:spPr>
        <p:txBody>
          <a:bodyPr anchor="t" rtlCol="false" tIns="0" lIns="0" bIns="0" rIns="0">
            <a:spAutoFit/>
          </a:bodyPr>
          <a:lstStyle/>
          <a:p>
            <a:pPr algn="just">
              <a:lnSpc>
                <a:spcPts val="3239"/>
              </a:lnSpc>
            </a:pPr>
            <a:r>
              <a:rPr lang="en-US" b="true" sz="2399" spc="143">
                <a:solidFill>
                  <a:srgbClr val="F1F0EC"/>
                </a:solidFill>
                <a:latin typeface="Montserrat Semi-Bold"/>
                <a:ea typeface="Montserrat Semi-Bold"/>
                <a:cs typeface="Montserrat Semi-Bold"/>
                <a:sym typeface="Montserrat Semi-Bold"/>
              </a:rPr>
              <a:t>Fase 1 (1-2 Des 2025) : </a:t>
            </a:r>
          </a:p>
          <a:p>
            <a:pPr algn="just" marL="0" indent="0" lvl="0">
              <a:lnSpc>
                <a:spcPts val="3239"/>
              </a:lnSpc>
              <a:spcBef>
                <a:spcPct val="0"/>
              </a:spcBef>
            </a:pPr>
            <a:r>
              <a:rPr lang="en-US" b="true" sz="2399" spc="143">
                <a:solidFill>
                  <a:srgbClr val="F1F0EC"/>
                </a:solidFill>
                <a:latin typeface="Montserrat Bold"/>
                <a:ea typeface="Montserrat Bold"/>
                <a:cs typeface="Montserrat Bold"/>
                <a:sym typeface="Montserrat Bold"/>
              </a:rPr>
              <a:t>Ferry Irwandi open donasi untuk bencana banjir sumatra </a:t>
            </a:r>
          </a:p>
        </p:txBody>
      </p:sp>
      <p:sp>
        <p:nvSpPr>
          <p:cNvPr name="TextBox 8" id="8"/>
          <p:cNvSpPr txBox="true"/>
          <p:nvPr/>
        </p:nvSpPr>
        <p:spPr>
          <a:xfrm rot="0">
            <a:off x="10474885" y="5166138"/>
            <a:ext cx="6168792" cy="1211580"/>
          </a:xfrm>
          <a:prstGeom prst="rect">
            <a:avLst/>
          </a:prstGeom>
        </p:spPr>
        <p:txBody>
          <a:bodyPr anchor="t" rtlCol="false" tIns="0" lIns="0" bIns="0" rIns="0">
            <a:spAutoFit/>
          </a:bodyPr>
          <a:lstStyle/>
          <a:p>
            <a:pPr algn="just">
              <a:lnSpc>
                <a:spcPts val="3239"/>
              </a:lnSpc>
            </a:pPr>
            <a:r>
              <a:rPr lang="en-US" b="true" sz="2399" spc="143">
                <a:solidFill>
                  <a:srgbClr val="F1F0EC"/>
                </a:solidFill>
                <a:latin typeface="Montserrat Semi-Bold"/>
                <a:ea typeface="Montserrat Semi-Bold"/>
                <a:cs typeface="Montserrat Semi-Bold"/>
                <a:sym typeface="Montserrat Semi-Bold"/>
              </a:rPr>
              <a:t>Fase 2 (7-8 Des 2025) : </a:t>
            </a:r>
          </a:p>
          <a:p>
            <a:pPr algn="just" marL="0" indent="0" lvl="0">
              <a:lnSpc>
                <a:spcPts val="3239"/>
              </a:lnSpc>
              <a:spcBef>
                <a:spcPct val="0"/>
              </a:spcBef>
            </a:pPr>
            <a:r>
              <a:rPr lang="en-US" b="true" sz="2399" spc="143">
                <a:solidFill>
                  <a:srgbClr val="F1F0EC"/>
                </a:solidFill>
                <a:latin typeface="Montserrat Semi-Bold"/>
                <a:ea typeface="Montserrat Semi-Bold"/>
                <a:cs typeface="Montserrat Semi-Bold"/>
                <a:sym typeface="Montserrat Semi-Bold"/>
              </a:rPr>
              <a:t>Ferry Irwandi difitnah melanggar etika komunikasi publik</a:t>
            </a:r>
          </a:p>
        </p:txBody>
      </p:sp>
      <p:sp>
        <p:nvSpPr>
          <p:cNvPr name="TextBox 9" id="9"/>
          <p:cNvSpPr txBox="true"/>
          <p:nvPr/>
        </p:nvSpPr>
        <p:spPr>
          <a:xfrm rot="0">
            <a:off x="10474885" y="7025447"/>
            <a:ext cx="6168792" cy="1621155"/>
          </a:xfrm>
          <a:prstGeom prst="rect">
            <a:avLst/>
          </a:prstGeom>
        </p:spPr>
        <p:txBody>
          <a:bodyPr anchor="t" rtlCol="false" tIns="0" lIns="0" bIns="0" rIns="0">
            <a:spAutoFit/>
          </a:bodyPr>
          <a:lstStyle/>
          <a:p>
            <a:pPr algn="just">
              <a:lnSpc>
                <a:spcPts val="3239"/>
              </a:lnSpc>
            </a:pPr>
            <a:r>
              <a:rPr lang="en-US" b="true" sz="2399" spc="143">
                <a:solidFill>
                  <a:srgbClr val="F1F0EC"/>
                </a:solidFill>
                <a:latin typeface="Montserrat Semi-Bold"/>
                <a:ea typeface="Montserrat Semi-Bold"/>
                <a:cs typeface="Montserrat Semi-Bold"/>
                <a:sym typeface="Montserrat Semi-Bold"/>
              </a:rPr>
              <a:t>Fase 3 (8 Des 2025) : </a:t>
            </a:r>
          </a:p>
          <a:p>
            <a:pPr algn="just" marL="0" indent="0" lvl="0">
              <a:lnSpc>
                <a:spcPts val="3239"/>
              </a:lnSpc>
              <a:spcBef>
                <a:spcPct val="0"/>
              </a:spcBef>
            </a:pPr>
            <a:r>
              <a:rPr lang="en-US" b="true" sz="2399" spc="143">
                <a:solidFill>
                  <a:srgbClr val="F1F0EC"/>
                </a:solidFill>
                <a:latin typeface="Montserrat Semi-Bold"/>
                <a:ea typeface="Montserrat Semi-Bold"/>
                <a:cs typeface="Montserrat Semi-Bold"/>
                <a:sym typeface="Montserrat Semi-Bold"/>
              </a:rPr>
              <a:t>Ferry Irwandi dikatain si paling kerja oleh edipati wijaya (YouTube Komisi I DPR RI Channel)</a:t>
            </a:r>
          </a:p>
        </p:txBody>
      </p:sp>
      <p:grpSp>
        <p:nvGrpSpPr>
          <p:cNvPr name="Group 10" id="10"/>
          <p:cNvGrpSpPr/>
          <p:nvPr/>
        </p:nvGrpSpPr>
        <p:grpSpPr>
          <a:xfrm rot="0">
            <a:off x="1351522" y="2464593"/>
            <a:ext cx="4947678" cy="668124"/>
            <a:chOff x="0" y="0"/>
            <a:chExt cx="1260007" cy="170149"/>
          </a:xfrm>
        </p:grpSpPr>
        <p:sp>
          <p:nvSpPr>
            <p:cNvPr name="Freeform 11" id="11"/>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12" id="12"/>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PEJABAT (Zulkifli Hasan)</a:t>
              </a:r>
            </a:p>
          </p:txBody>
        </p:sp>
      </p:grpSp>
      <p:grpSp>
        <p:nvGrpSpPr>
          <p:cNvPr name="Group 13" id="13"/>
          <p:cNvGrpSpPr/>
          <p:nvPr/>
        </p:nvGrpSpPr>
        <p:grpSpPr>
          <a:xfrm rot="0">
            <a:off x="10474885" y="2464593"/>
            <a:ext cx="4947678" cy="668124"/>
            <a:chOff x="0" y="0"/>
            <a:chExt cx="1260007" cy="170149"/>
          </a:xfrm>
        </p:grpSpPr>
        <p:sp>
          <p:nvSpPr>
            <p:cNvPr name="Freeform 14" id="14"/>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15" id="15"/>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INFLUENCER (Ferry Irwandi)</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722591" y="1112195"/>
            <a:ext cx="9779779" cy="670790"/>
            <a:chOff x="0" y="0"/>
            <a:chExt cx="2575744" cy="176669"/>
          </a:xfrm>
        </p:grpSpPr>
        <p:sp>
          <p:nvSpPr>
            <p:cNvPr name="Freeform 4" id="4"/>
            <p:cNvSpPr/>
            <p:nvPr/>
          </p:nvSpPr>
          <p:spPr>
            <a:xfrm flipH="false" flipV="false" rot="0">
              <a:off x="0" y="0"/>
              <a:ext cx="2575744" cy="176669"/>
            </a:xfrm>
            <a:custGeom>
              <a:avLst/>
              <a:gdLst/>
              <a:ahLst/>
              <a:cxnLst/>
              <a:rect r="r" b="b" t="t" l="l"/>
              <a:pathLst>
                <a:path h="176669" w="2575744">
                  <a:moveTo>
                    <a:pt x="40373" y="0"/>
                  </a:moveTo>
                  <a:lnTo>
                    <a:pt x="2535371" y="0"/>
                  </a:lnTo>
                  <a:cubicBezTo>
                    <a:pt x="2557669" y="0"/>
                    <a:pt x="2575744" y="18076"/>
                    <a:pt x="2575744" y="40373"/>
                  </a:cubicBezTo>
                  <a:lnTo>
                    <a:pt x="2575744" y="136296"/>
                  </a:lnTo>
                  <a:cubicBezTo>
                    <a:pt x="2575744" y="158594"/>
                    <a:pt x="2557669" y="176669"/>
                    <a:pt x="2535371" y="176669"/>
                  </a:cubicBezTo>
                  <a:lnTo>
                    <a:pt x="40373" y="176669"/>
                  </a:lnTo>
                  <a:cubicBezTo>
                    <a:pt x="18076" y="176669"/>
                    <a:pt x="0" y="158594"/>
                    <a:pt x="0" y="136296"/>
                  </a:cubicBezTo>
                  <a:lnTo>
                    <a:pt x="0" y="40373"/>
                  </a:lnTo>
                  <a:cubicBezTo>
                    <a:pt x="0" y="18076"/>
                    <a:pt x="18076" y="0"/>
                    <a:pt x="40373" y="0"/>
                  </a:cubicBezTo>
                  <a:close/>
                </a:path>
              </a:pathLst>
            </a:custGeom>
            <a:solidFill>
              <a:srgbClr val="F1F0EC"/>
            </a:solidFill>
          </p:spPr>
        </p:sp>
        <p:sp>
          <p:nvSpPr>
            <p:cNvPr name="TextBox 5" id="5"/>
            <p:cNvSpPr txBox="true"/>
            <p:nvPr/>
          </p:nvSpPr>
          <p:spPr>
            <a:xfrm>
              <a:off x="0" y="28575"/>
              <a:ext cx="2575744" cy="148094"/>
            </a:xfrm>
            <a:prstGeom prst="rect">
              <a:avLst/>
            </a:prstGeom>
          </p:spPr>
          <p:txBody>
            <a:bodyPr anchor="ctr" rtlCol="false" tIns="50800" lIns="50800" bIns="50800" rIns="50800"/>
            <a:lstStyle/>
            <a:p>
              <a:pPr algn="l">
                <a:lnSpc>
                  <a:spcPts val="2352"/>
                </a:lnSpc>
              </a:pPr>
              <a:r>
                <a:rPr lang="en-US" sz="2400" b="true">
                  <a:solidFill>
                    <a:srgbClr val="2D2C2D"/>
                  </a:solidFill>
                  <a:latin typeface="Poppins Medium"/>
                  <a:ea typeface="Poppins Medium"/>
                  <a:cs typeface="Poppins Medium"/>
                  <a:sym typeface="Poppins Medium"/>
                </a:rPr>
                <a:t>  </a:t>
              </a:r>
              <a:r>
                <a:rPr lang="en-US" sz="2400" b="true">
                  <a:solidFill>
                    <a:srgbClr val="2D2C2D"/>
                  </a:solidFill>
                  <a:latin typeface="Poppins Medium"/>
                  <a:ea typeface="Poppins Medium"/>
                  <a:cs typeface="Poppins Medium"/>
                  <a:sym typeface="Poppins Medium"/>
                </a:rPr>
                <a:t>Komparasi  Trend Pencarian Zulkifli Hasan VS Ferry Irwandi</a:t>
              </a:r>
            </a:p>
          </p:txBody>
        </p:sp>
      </p:grpSp>
      <p:grpSp>
        <p:nvGrpSpPr>
          <p:cNvPr name="Group 6" id="6"/>
          <p:cNvGrpSpPr/>
          <p:nvPr/>
        </p:nvGrpSpPr>
        <p:grpSpPr>
          <a:xfrm rot="0">
            <a:off x="1028700" y="6003387"/>
            <a:ext cx="9062364" cy="3908891"/>
            <a:chOff x="0" y="0"/>
            <a:chExt cx="3457345" cy="1491265"/>
          </a:xfrm>
        </p:grpSpPr>
        <p:sp>
          <p:nvSpPr>
            <p:cNvPr name="Freeform 7" id="7"/>
            <p:cNvSpPr/>
            <p:nvPr/>
          </p:nvSpPr>
          <p:spPr>
            <a:xfrm flipH="false" flipV="false" rot="0">
              <a:off x="0" y="0"/>
              <a:ext cx="3457344" cy="1491265"/>
            </a:xfrm>
            <a:custGeom>
              <a:avLst/>
              <a:gdLst/>
              <a:ahLst/>
              <a:cxnLst/>
              <a:rect r="r" b="b" t="t" l="l"/>
              <a:pathLst>
                <a:path h="1491265" w="3457344">
                  <a:moveTo>
                    <a:pt x="12814" y="0"/>
                  </a:moveTo>
                  <a:lnTo>
                    <a:pt x="3444530" y="0"/>
                  </a:lnTo>
                  <a:cubicBezTo>
                    <a:pt x="3451607" y="0"/>
                    <a:pt x="3457344" y="5737"/>
                    <a:pt x="3457344" y="12814"/>
                  </a:cubicBezTo>
                  <a:lnTo>
                    <a:pt x="3457344" y="1478450"/>
                  </a:lnTo>
                  <a:cubicBezTo>
                    <a:pt x="3457344" y="1481849"/>
                    <a:pt x="3455994" y="1485108"/>
                    <a:pt x="3453591" y="1487511"/>
                  </a:cubicBezTo>
                  <a:cubicBezTo>
                    <a:pt x="3451188" y="1489914"/>
                    <a:pt x="3447929" y="1491265"/>
                    <a:pt x="3444530" y="1491265"/>
                  </a:cubicBezTo>
                  <a:lnTo>
                    <a:pt x="12814" y="1491265"/>
                  </a:lnTo>
                  <a:cubicBezTo>
                    <a:pt x="5737" y="1491265"/>
                    <a:pt x="0" y="1485527"/>
                    <a:pt x="0" y="1478450"/>
                  </a:cubicBezTo>
                  <a:lnTo>
                    <a:pt x="0" y="12814"/>
                  </a:lnTo>
                  <a:cubicBezTo>
                    <a:pt x="0" y="5737"/>
                    <a:pt x="5737" y="0"/>
                    <a:pt x="12814" y="0"/>
                  </a:cubicBezTo>
                  <a:close/>
                </a:path>
              </a:pathLst>
            </a:custGeom>
            <a:solidFill>
              <a:srgbClr val="8F1EAE"/>
            </a:solidFill>
          </p:spPr>
        </p:sp>
        <p:sp>
          <p:nvSpPr>
            <p:cNvPr name="TextBox 8" id="8"/>
            <p:cNvSpPr txBox="true"/>
            <p:nvPr/>
          </p:nvSpPr>
          <p:spPr>
            <a:xfrm>
              <a:off x="0" y="76200"/>
              <a:ext cx="3457345" cy="1415065"/>
            </a:xfrm>
            <a:prstGeom prst="rect">
              <a:avLst/>
            </a:prstGeom>
          </p:spPr>
          <p:txBody>
            <a:bodyPr anchor="ctr" rtlCol="false" tIns="50800" lIns="50800" bIns="50800" rIns="50800"/>
            <a:lstStyle/>
            <a:p>
              <a:pPr algn="ctr">
                <a:lnSpc>
                  <a:spcPts val="1925"/>
                </a:lnSpc>
              </a:pPr>
            </a:p>
          </p:txBody>
        </p:sp>
      </p:grpSp>
      <p:grpSp>
        <p:nvGrpSpPr>
          <p:cNvPr name="Group 9" id="9"/>
          <p:cNvGrpSpPr/>
          <p:nvPr/>
        </p:nvGrpSpPr>
        <p:grpSpPr>
          <a:xfrm rot="0">
            <a:off x="1330395" y="5289963"/>
            <a:ext cx="344659" cy="422996"/>
            <a:chOff x="0" y="0"/>
            <a:chExt cx="90774" cy="111406"/>
          </a:xfrm>
        </p:grpSpPr>
        <p:sp>
          <p:nvSpPr>
            <p:cNvPr name="Freeform 10" id="10"/>
            <p:cNvSpPr/>
            <p:nvPr/>
          </p:nvSpPr>
          <p:spPr>
            <a:xfrm flipH="false" flipV="false" rot="0">
              <a:off x="0" y="0"/>
              <a:ext cx="90774" cy="111406"/>
            </a:xfrm>
            <a:custGeom>
              <a:avLst/>
              <a:gdLst/>
              <a:ahLst/>
              <a:cxnLst/>
              <a:rect r="r" b="b" t="t" l="l"/>
              <a:pathLst>
                <a:path h="111406" w="90774">
                  <a:moveTo>
                    <a:pt x="0" y="0"/>
                  </a:moveTo>
                  <a:lnTo>
                    <a:pt x="90774" y="0"/>
                  </a:lnTo>
                  <a:lnTo>
                    <a:pt x="90774" y="111406"/>
                  </a:lnTo>
                  <a:lnTo>
                    <a:pt x="0" y="111406"/>
                  </a:lnTo>
                  <a:close/>
                </a:path>
              </a:pathLst>
            </a:custGeom>
            <a:solidFill>
              <a:srgbClr val="D32F23"/>
            </a:solidFill>
          </p:spPr>
        </p:sp>
        <p:sp>
          <p:nvSpPr>
            <p:cNvPr name="TextBox 11" id="11"/>
            <p:cNvSpPr txBox="true"/>
            <p:nvPr/>
          </p:nvSpPr>
          <p:spPr>
            <a:xfrm>
              <a:off x="0" y="76200"/>
              <a:ext cx="90774" cy="35206"/>
            </a:xfrm>
            <a:prstGeom prst="rect">
              <a:avLst/>
            </a:prstGeom>
          </p:spPr>
          <p:txBody>
            <a:bodyPr anchor="ctr" rtlCol="false" tIns="50800" lIns="50800" bIns="50800" rIns="50800"/>
            <a:lstStyle/>
            <a:p>
              <a:pPr algn="ctr">
                <a:lnSpc>
                  <a:spcPts val="1925"/>
                </a:lnSpc>
              </a:pPr>
            </a:p>
          </p:txBody>
        </p:sp>
      </p:grpSp>
      <p:sp>
        <p:nvSpPr>
          <p:cNvPr name="TextBox 12" id="12"/>
          <p:cNvSpPr txBox="true"/>
          <p:nvPr/>
        </p:nvSpPr>
        <p:spPr>
          <a:xfrm rot="0">
            <a:off x="1112267" y="6143277"/>
            <a:ext cx="8619791" cy="3605405"/>
          </a:xfrm>
          <a:prstGeom prst="rect">
            <a:avLst/>
          </a:prstGeom>
        </p:spPr>
        <p:txBody>
          <a:bodyPr anchor="t" rtlCol="false" tIns="0" lIns="0" bIns="0" rIns="0">
            <a:spAutoFit/>
          </a:bodyPr>
          <a:lstStyle/>
          <a:p>
            <a:pPr algn="just" marL="443658" indent="-221829" lvl="1">
              <a:lnSpc>
                <a:spcPts val="2876"/>
              </a:lnSpc>
              <a:buFont typeface="Arial"/>
              <a:buChar char="•"/>
            </a:pPr>
            <a:r>
              <a:rPr lang="en-US" sz="2054">
                <a:solidFill>
                  <a:srgbClr val="F1F0EC"/>
                </a:solidFill>
                <a:latin typeface="Montserrat"/>
                <a:ea typeface="Montserrat"/>
                <a:cs typeface="Montserrat"/>
                <a:sym typeface="Montserrat"/>
              </a:rPr>
              <a:t>Pencarian kata kunci Zulkifli Hasan mulai naik pesat pada tanggal 28 November, hal ini bertepatan juga dengan viralnya video dokumentasi harrison ford. Query pencariannya berkaitan dengan profesinya sebagai menteri kehutanan dan juga tentang harrison ford.</a:t>
            </a:r>
          </a:p>
          <a:p>
            <a:pPr algn="just" marL="443658" indent="-221829" lvl="1">
              <a:lnSpc>
                <a:spcPts val="2876"/>
              </a:lnSpc>
              <a:buFont typeface="Arial"/>
              <a:buChar char="•"/>
            </a:pPr>
            <a:r>
              <a:rPr lang="en-US" sz="2054">
                <a:solidFill>
                  <a:srgbClr val="F1F0EC"/>
                </a:solidFill>
                <a:latin typeface="Montserrat"/>
                <a:ea typeface="Montserrat"/>
                <a:cs typeface="Montserrat"/>
                <a:sym typeface="Montserrat"/>
              </a:rPr>
              <a:t>Pencarian kata kunci Ferry Irwandi mulai naik tanggal 2 Desember setelah open donasi korban banjir sumatra yang jumlah donasinya mencapai 10 M dalam 1 hari saja. Hal ini bisa dilihat dari query pencariannya seputar ferry irwandi &amp; kitabisa (platform crowdfunding).</a:t>
            </a:r>
          </a:p>
        </p:txBody>
      </p:sp>
      <p:sp>
        <p:nvSpPr>
          <p:cNvPr name="TextBox 13" id="13"/>
          <p:cNvSpPr txBox="true"/>
          <p:nvPr/>
        </p:nvSpPr>
        <p:spPr>
          <a:xfrm rot="0">
            <a:off x="1924838" y="5296409"/>
            <a:ext cx="1774879" cy="372003"/>
          </a:xfrm>
          <a:prstGeom prst="rect">
            <a:avLst/>
          </a:prstGeom>
        </p:spPr>
        <p:txBody>
          <a:bodyPr anchor="t" rtlCol="false" tIns="0" lIns="0" bIns="0" rIns="0">
            <a:spAutoFit/>
          </a:bodyPr>
          <a:lstStyle/>
          <a:p>
            <a:pPr algn="ctr">
              <a:lnSpc>
                <a:spcPts val="3069"/>
              </a:lnSpc>
            </a:pPr>
            <a:r>
              <a:rPr lang="en-US" sz="2192">
                <a:solidFill>
                  <a:srgbClr val="F1F0EC"/>
                </a:solidFill>
                <a:latin typeface="Canva Sans"/>
                <a:ea typeface="Canva Sans"/>
                <a:cs typeface="Canva Sans"/>
                <a:sym typeface="Canva Sans"/>
              </a:rPr>
              <a:t>Ferry Irwandi</a:t>
            </a:r>
          </a:p>
        </p:txBody>
      </p:sp>
      <p:grpSp>
        <p:nvGrpSpPr>
          <p:cNvPr name="Group 14" id="14"/>
          <p:cNvGrpSpPr/>
          <p:nvPr/>
        </p:nvGrpSpPr>
        <p:grpSpPr>
          <a:xfrm rot="0">
            <a:off x="5399139" y="5312425"/>
            <a:ext cx="344659" cy="422996"/>
            <a:chOff x="0" y="0"/>
            <a:chExt cx="90774" cy="111406"/>
          </a:xfrm>
        </p:grpSpPr>
        <p:sp>
          <p:nvSpPr>
            <p:cNvPr name="Freeform 15" id="15"/>
            <p:cNvSpPr/>
            <p:nvPr/>
          </p:nvSpPr>
          <p:spPr>
            <a:xfrm flipH="false" flipV="false" rot="0">
              <a:off x="0" y="0"/>
              <a:ext cx="90774" cy="111406"/>
            </a:xfrm>
            <a:custGeom>
              <a:avLst/>
              <a:gdLst/>
              <a:ahLst/>
              <a:cxnLst/>
              <a:rect r="r" b="b" t="t" l="l"/>
              <a:pathLst>
                <a:path h="111406" w="90774">
                  <a:moveTo>
                    <a:pt x="0" y="0"/>
                  </a:moveTo>
                  <a:lnTo>
                    <a:pt x="90774" y="0"/>
                  </a:lnTo>
                  <a:lnTo>
                    <a:pt x="90774" y="111406"/>
                  </a:lnTo>
                  <a:lnTo>
                    <a:pt x="0" y="111406"/>
                  </a:lnTo>
                  <a:close/>
                </a:path>
              </a:pathLst>
            </a:custGeom>
            <a:solidFill>
              <a:srgbClr val="54AFE5"/>
            </a:solidFill>
          </p:spPr>
        </p:sp>
        <p:sp>
          <p:nvSpPr>
            <p:cNvPr name="TextBox 16" id="16"/>
            <p:cNvSpPr txBox="true"/>
            <p:nvPr/>
          </p:nvSpPr>
          <p:spPr>
            <a:xfrm>
              <a:off x="0" y="76200"/>
              <a:ext cx="90774" cy="35206"/>
            </a:xfrm>
            <a:prstGeom prst="rect">
              <a:avLst/>
            </a:prstGeom>
          </p:spPr>
          <p:txBody>
            <a:bodyPr anchor="ctr" rtlCol="false" tIns="50800" lIns="50800" bIns="50800" rIns="50800"/>
            <a:lstStyle/>
            <a:p>
              <a:pPr algn="ctr">
                <a:lnSpc>
                  <a:spcPts val="1925"/>
                </a:lnSpc>
              </a:pPr>
            </a:p>
          </p:txBody>
        </p:sp>
      </p:grpSp>
      <p:sp>
        <p:nvSpPr>
          <p:cNvPr name="TextBox 17" id="17"/>
          <p:cNvSpPr txBox="true"/>
          <p:nvPr/>
        </p:nvSpPr>
        <p:spPr>
          <a:xfrm rot="0">
            <a:off x="6010498" y="5296409"/>
            <a:ext cx="1786577" cy="372003"/>
          </a:xfrm>
          <a:prstGeom prst="rect">
            <a:avLst/>
          </a:prstGeom>
        </p:spPr>
        <p:txBody>
          <a:bodyPr anchor="t" rtlCol="false" tIns="0" lIns="0" bIns="0" rIns="0">
            <a:spAutoFit/>
          </a:bodyPr>
          <a:lstStyle/>
          <a:p>
            <a:pPr algn="ctr">
              <a:lnSpc>
                <a:spcPts val="3069"/>
              </a:lnSpc>
            </a:pPr>
            <a:r>
              <a:rPr lang="en-US" sz="2192">
                <a:solidFill>
                  <a:srgbClr val="F1F0EC"/>
                </a:solidFill>
                <a:latin typeface="Canva Sans"/>
                <a:ea typeface="Canva Sans"/>
                <a:cs typeface="Canva Sans"/>
                <a:sym typeface="Canva Sans"/>
              </a:rPr>
              <a:t>Zulkifli Hasan</a:t>
            </a:r>
          </a:p>
        </p:txBody>
      </p:sp>
      <p:grpSp>
        <p:nvGrpSpPr>
          <p:cNvPr name="Group 18" id="18"/>
          <p:cNvGrpSpPr/>
          <p:nvPr/>
        </p:nvGrpSpPr>
        <p:grpSpPr>
          <a:xfrm rot="0">
            <a:off x="10786676" y="831812"/>
            <a:ext cx="7052277" cy="1358114"/>
            <a:chOff x="0" y="0"/>
            <a:chExt cx="1857390" cy="357693"/>
          </a:xfrm>
        </p:grpSpPr>
        <p:sp>
          <p:nvSpPr>
            <p:cNvPr name="Freeform 19" id="19"/>
            <p:cNvSpPr/>
            <p:nvPr/>
          </p:nvSpPr>
          <p:spPr>
            <a:xfrm flipH="false" flipV="false" rot="0">
              <a:off x="0" y="0"/>
              <a:ext cx="1857390" cy="357693"/>
            </a:xfrm>
            <a:custGeom>
              <a:avLst/>
              <a:gdLst/>
              <a:ahLst/>
              <a:cxnLst/>
              <a:rect r="r" b="b" t="t" l="l"/>
              <a:pathLst>
                <a:path h="357693" w="1857390">
                  <a:moveTo>
                    <a:pt x="55987" y="0"/>
                  </a:moveTo>
                  <a:lnTo>
                    <a:pt x="1801402" y="0"/>
                  </a:lnTo>
                  <a:cubicBezTo>
                    <a:pt x="1832323" y="0"/>
                    <a:pt x="1857390" y="25066"/>
                    <a:pt x="1857390" y="55987"/>
                  </a:cubicBezTo>
                  <a:lnTo>
                    <a:pt x="1857390" y="301705"/>
                  </a:lnTo>
                  <a:cubicBezTo>
                    <a:pt x="1857390" y="332626"/>
                    <a:pt x="1832323" y="357693"/>
                    <a:pt x="1801402" y="357693"/>
                  </a:cubicBezTo>
                  <a:lnTo>
                    <a:pt x="55987" y="357693"/>
                  </a:lnTo>
                  <a:cubicBezTo>
                    <a:pt x="25066" y="357693"/>
                    <a:pt x="0" y="332626"/>
                    <a:pt x="0" y="301705"/>
                  </a:cubicBezTo>
                  <a:lnTo>
                    <a:pt x="0" y="55987"/>
                  </a:lnTo>
                  <a:cubicBezTo>
                    <a:pt x="0" y="25066"/>
                    <a:pt x="25066" y="0"/>
                    <a:pt x="55987" y="0"/>
                  </a:cubicBezTo>
                  <a:close/>
                </a:path>
              </a:pathLst>
            </a:custGeom>
            <a:solidFill>
              <a:srgbClr val="F1F0EC"/>
            </a:solidFill>
          </p:spPr>
        </p:sp>
        <p:sp>
          <p:nvSpPr>
            <p:cNvPr name="TextBox 20" id="20"/>
            <p:cNvSpPr txBox="true"/>
            <p:nvPr/>
          </p:nvSpPr>
          <p:spPr>
            <a:xfrm>
              <a:off x="0" y="0"/>
              <a:ext cx="1857390" cy="357693"/>
            </a:xfrm>
            <a:prstGeom prst="rect">
              <a:avLst/>
            </a:prstGeom>
          </p:spPr>
          <p:txBody>
            <a:bodyPr anchor="ctr" rtlCol="false" tIns="63500" lIns="63500" bIns="63500" rIns="63500"/>
            <a:lstStyle/>
            <a:p>
              <a:pPr algn="ctr">
                <a:lnSpc>
                  <a:spcPts val="2640"/>
                </a:lnSpc>
              </a:pPr>
              <a:r>
                <a:rPr lang="en-US" b="true" sz="2400" spc="38">
                  <a:solidFill>
                    <a:srgbClr val="2D2C2D"/>
                  </a:solidFill>
                  <a:latin typeface="Poppins Medium"/>
                  <a:ea typeface="Poppins Medium"/>
                  <a:cs typeface="Poppins Medium"/>
                  <a:sym typeface="Poppins Medium"/>
                </a:rPr>
                <a:t>Perbedaan </a:t>
              </a:r>
              <a:r>
                <a:rPr lang="en-US" b="true" sz="2400" spc="38">
                  <a:solidFill>
                    <a:srgbClr val="2D2C2D"/>
                  </a:solidFill>
                  <a:latin typeface="Poppins Medium"/>
                  <a:ea typeface="Poppins Medium"/>
                  <a:cs typeface="Poppins Medium"/>
                  <a:sym typeface="Poppins Medium"/>
                </a:rPr>
                <a:t>Query Zulkifli Hasan VS Ferry Irwandi saat penanggulangan bencana banjir sumatra</a:t>
              </a:r>
            </a:p>
          </p:txBody>
        </p:sp>
      </p:grpSp>
      <p:pic>
        <p:nvPicPr>
          <p:cNvPr name="Picture 21" id="21"/>
          <p:cNvPicPr>
            <a:picLocks noChangeAspect="true"/>
          </p:cNvPicPr>
          <p:nvPr/>
        </p:nvPicPr>
        <p:blipFill>
          <a:blip r:embed="rId3"/>
          <a:stretch>
            <a:fillRect/>
          </a:stretch>
        </p:blipFill>
        <p:spPr>
          <a:xfrm rot="0">
            <a:off x="380623" y="1606538"/>
            <a:ext cx="10037033" cy="4396020"/>
          </a:xfrm>
          <a:prstGeom prst="rect">
            <a:avLst/>
          </a:prstGeom>
        </p:spPr>
      </p:pic>
      <p:grpSp>
        <p:nvGrpSpPr>
          <p:cNvPr name="Group 22" id="22"/>
          <p:cNvGrpSpPr/>
          <p:nvPr/>
        </p:nvGrpSpPr>
        <p:grpSpPr>
          <a:xfrm rot="0">
            <a:off x="1028700" y="2108895"/>
            <a:ext cx="2671018" cy="668124"/>
            <a:chOff x="0" y="0"/>
            <a:chExt cx="703478" cy="175967"/>
          </a:xfrm>
        </p:grpSpPr>
        <p:sp>
          <p:nvSpPr>
            <p:cNvPr name="Freeform 23" id="23"/>
            <p:cNvSpPr/>
            <p:nvPr/>
          </p:nvSpPr>
          <p:spPr>
            <a:xfrm flipH="false" flipV="false" rot="0">
              <a:off x="0" y="0"/>
              <a:ext cx="703478" cy="175967"/>
            </a:xfrm>
            <a:custGeom>
              <a:avLst/>
              <a:gdLst/>
              <a:ahLst/>
              <a:cxnLst/>
              <a:rect r="r" b="b" t="t" l="l"/>
              <a:pathLst>
                <a:path h="175967" w="703478">
                  <a:moveTo>
                    <a:pt x="87983" y="0"/>
                  </a:moveTo>
                  <a:lnTo>
                    <a:pt x="615495" y="0"/>
                  </a:lnTo>
                  <a:cubicBezTo>
                    <a:pt x="664086" y="0"/>
                    <a:pt x="703478" y="39392"/>
                    <a:pt x="703478" y="87983"/>
                  </a:cubicBezTo>
                  <a:lnTo>
                    <a:pt x="703478" y="87983"/>
                  </a:lnTo>
                  <a:cubicBezTo>
                    <a:pt x="703478" y="136575"/>
                    <a:pt x="664086" y="175967"/>
                    <a:pt x="615495" y="175967"/>
                  </a:cubicBezTo>
                  <a:lnTo>
                    <a:pt x="87983" y="175967"/>
                  </a:lnTo>
                  <a:cubicBezTo>
                    <a:pt x="39392" y="175967"/>
                    <a:pt x="0" y="136575"/>
                    <a:pt x="0" y="87983"/>
                  </a:cubicBezTo>
                  <a:lnTo>
                    <a:pt x="0" y="87983"/>
                  </a:lnTo>
                  <a:cubicBezTo>
                    <a:pt x="0" y="39392"/>
                    <a:pt x="39392" y="0"/>
                    <a:pt x="87983" y="0"/>
                  </a:cubicBezTo>
                  <a:close/>
                </a:path>
              </a:pathLst>
            </a:custGeom>
            <a:solidFill>
              <a:srgbClr val="107FAA"/>
            </a:solidFill>
          </p:spPr>
        </p:sp>
        <p:sp>
          <p:nvSpPr>
            <p:cNvPr name="TextBox 24" id="24"/>
            <p:cNvSpPr txBox="true"/>
            <p:nvPr/>
          </p:nvSpPr>
          <p:spPr>
            <a:xfrm>
              <a:off x="0" y="76200"/>
              <a:ext cx="703478" cy="99767"/>
            </a:xfrm>
            <a:prstGeom prst="rect">
              <a:avLst/>
            </a:prstGeom>
          </p:spPr>
          <p:txBody>
            <a:bodyPr anchor="ctr" rtlCol="false" tIns="50800" lIns="50800" bIns="50800" rIns="50800"/>
            <a:lstStyle/>
            <a:p>
              <a:pPr algn="ctr">
                <a:lnSpc>
                  <a:spcPts val="1848"/>
                </a:lnSpc>
              </a:pPr>
              <a:r>
                <a:rPr lang="en-US" b="true" sz="2400" spc="-62">
                  <a:solidFill>
                    <a:srgbClr val="F1F0EC"/>
                  </a:solidFill>
                  <a:latin typeface="Poppins Bold"/>
                  <a:ea typeface="Poppins Bold"/>
                  <a:cs typeface="Poppins Bold"/>
                  <a:sym typeface="Poppins Bold"/>
                </a:rPr>
                <a:t>Google Trends</a:t>
              </a:r>
            </a:p>
          </p:txBody>
        </p:sp>
      </p:grpSp>
      <p:grpSp>
        <p:nvGrpSpPr>
          <p:cNvPr name="Group 25" id="25"/>
          <p:cNvGrpSpPr/>
          <p:nvPr/>
        </p:nvGrpSpPr>
        <p:grpSpPr>
          <a:xfrm rot="0">
            <a:off x="11061691" y="3485327"/>
            <a:ext cx="2902727" cy="1000489"/>
            <a:chOff x="0" y="0"/>
            <a:chExt cx="1258694" cy="433837"/>
          </a:xfrm>
        </p:grpSpPr>
        <p:sp>
          <p:nvSpPr>
            <p:cNvPr name="Freeform 26" id="26"/>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107FAA"/>
            </a:solidFill>
          </p:spPr>
        </p:sp>
        <p:sp>
          <p:nvSpPr>
            <p:cNvPr name="TextBox 27" id="27"/>
            <p:cNvSpPr txBox="true"/>
            <p:nvPr/>
          </p:nvSpPr>
          <p:spPr>
            <a:xfrm>
              <a:off x="0" y="76200"/>
              <a:ext cx="1258694" cy="357637"/>
            </a:xfrm>
            <a:prstGeom prst="rect">
              <a:avLst/>
            </a:prstGeom>
          </p:spPr>
          <p:txBody>
            <a:bodyPr anchor="ctr" rtlCol="false" tIns="50800" lIns="50800" bIns="50800" rIns="50800"/>
            <a:lstStyle/>
            <a:p>
              <a:pPr algn="ctr">
                <a:lnSpc>
                  <a:spcPts val="1925"/>
                </a:lnSpc>
              </a:pPr>
            </a:p>
          </p:txBody>
        </p:sp>
      </p:grpSp>
      <p:grpSp>
        <p:nvGrpSpPr>
          <p:cNvPr name="Group 28" id="28"/>
          <p:cNvGrpSpPr/>
          <p:nvPr/>
        </p:nvGrpSpPr>
        <p:grpSpPr>
          <a:xfrm rot="0">
            <a:off x="11061820" y="4715144"/>
            <a:ext cx="2902727" cy="1000489"/>
            <a:chOff x="0" y="0"/>
            <a:chExt cx="1258694" cy="433837"/>
          </a:xfrm>
        </p:grpSpPr>
        <p:sp>
          <p:nvSpPr>
            <p:cNvPr name="Freeform 29" id="29"/>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54AFE5"/>
            </a:solidFill>
          </p:spPr>
        </p:sp>
        <p:sp>
          <p:nvSpPr>
            <p:cNvPr name="TextBox 30" id="30"/>
            <p:cNvSpPr txBox="true"/>
            <p:nvPr/>
          </p:nvSpPr>
          <p:spPr>
            <a:xfrm>
              <a:off x="0" y="76200"/>
              <a:ext cx="1258694" cy="357637"/>
            </a:xfrm>
            <a:prstGeom prst="rect">
              <a:avLst/>
            </a:prstGeom>
          </p:spPr>
          <p:txBody>
            <a:bodyPr anchor="ctr" rtlCol="false" tIns="50800" lIns="50800" bIns="50800" rIns="50800"/>
            <a:lstStyle/>
            <a:p>
              <a:pPr algn="ctr">
                <a:lnSpc>
                  <a:spcPts val="1925"/>
                </a:lnSpc>
              </a:pPr>
            </a:p>
          </p:txBody>
        </p:sp>
      </p:grpSp>
      <p:grpSp>
        <p:nvGrpSpPr>
          <p:cNvPr name="Group 31" id="31"/>
          <p:cNvGrpSpPr/>
          <p:nvPr/>
        </p:nvGrpSpPr>
        <p:grpSpPr>
          <a:xfrm rot="0">
            <a:off x="11061820" y="5962113"/>
            <a:ext cx="2902727" cy="1000489"/>
            <a:chOff x="0" y="0"/>
            <a:chExt cx="1258694" cy="433837"/>
          </a:xfrm>
        </p:grpSpPr>
        <p:sp>
          <p:nvSpPr>
            <p:cNvPr name="Freeform 32" id="32"/>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54AFE5"/>
            </a:solidFill>
          </p:spPr>
        </p:sp>
        <p:sp>
          <p:nvSpPr>
            <p:cNvPr name="TextBox 33" id="33"/>
            <p:cNvSpPr txBox="true"/>
            <p:nvPr/>
          </p:nvSpPr>
          <p:spPr>
            <a:xfrm>
              <a:off x="0" y="76200"/>
              <a:ext cx="1258694" cy="357637"/>
            </a:xfrm>
            <a:prstGeom prst="rect">
              <a:avLst/>
            </a:prstGeom>
          </p:spPr>
          <p:txBody>
            <a:bodyPr anchor="ctr" rtlCol="false" tIns="50800" lIns="50800" bIns="50800" rIns="50800"/>
            <a:lstStyle/>
            <a:p>
              <a:pPr algn="ctr">
                <a:lnSpc>
                  <a:spcPts val="1925"/>
                </a:lnSpc>
              </a:pPr>
            </a:p>
          </p:txBody>
        </p:sp>
      </p:grpSp>
      <p:grpSp>
        <p:nvGrpSpPr>
          <p:cNvPr name="Group 34" id="34"/>
          <p:cNvGrpSpPr/>
          <p:nvPr/>
        </p:nvGrpSpPr>
        <p:grpSpPr>
          <a:xfrm rot="0">
            <a:off x="11061820" y="7176022"/>
            <a:ext cx="2902727" cy="1000489"/>
            <a:chOff x="0" y="0"/>
            <a:chExt cx="1258694" cy="433837"/>
          </a:xfrm>
        </p:grpSpPr>
        <p:sp>
          <p:nvSpPr>
            <p:cNvPr name="Freeform 35" id="35"/>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54AFE5"/>
            </a:solidFill>
          </p:spPr>
        </p:sp>
        <p:sp>
          <p:nvSpPr>
            <p:cNvPr name="TextBox 36" id="36"/>
            <p:cNvSpPr txBox="true"/>
            <p:nvPr/>
          </p:nvSpPr>
          <p:spPr>
            <a:xfrm>
              <a:off x="0" y="104775"/>
              <a:ext cx="1258694" cy="329062"/>
            </a:xfrm>
            <a:prstGeom prst="rect">
              <a:avLst/>
            </a:prstGeom>
          </p:spPr>
          <p:txBody>
            <a:bodyPr anchor="ctr" rtlCol="false" tIns="50800" lIns="50800" bIns="50800" rIns="50800"/>
            <a:lstStyle/>
            <a:p>
              <a:pPr algn="ctr">
                <a:lnSpc>
                  <a:spcPts val="1925"/>
                </a:lnSpc>
              </a:pPr>
            </a:p>
          </p:txBody>
        </p:sp>
      </p:grpSp>
      <p:grpSp>
        <p:nvGrpSpPr>
          <p:cNvPr name="Group 37" id="37"/>
          <p:cNvGrpSpPr/>
          <p:nvPr/>
        </p:nvGrpSpPr>
        <p:grpSpPr>
          <a:xfrm rot="0">
            <a:off x="11061691" y="8424385"/>
            <a:ext cx="2902727" cy="1000489"/>
            <a:chOff x="0" y="0"/>
            <a:chExt cx="1258694" cy="433837"/>
          </a:xfrm>
        </p:grpSpPr>
        <p:sp>
          <p:nvSpPr>
            <p:cNvPr name="Freeform 38" id="38"/>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107FAA"/>
            </a:solidFill>
          </p:spPr>
        </p:sp>
        <p:sp>
          <p:nvSpPr>
            <p:cNvPr name="TextBox 39" id="39"/>
            <p:cNvSpPr txBox="true"/>
            <p:nvPr/>
          </p:nvSpPr>
          <p:spPr>
            <a:xfrm>
              <a:off x="0" y="76200"/>
              <a:ext cx="1258694" cy="357637"/>
            </a:xfrm>
            <a:prstGeom prst="rect">
              <a:avLst/>
            </a:prstGeom>
          </p:spPr>
          <p:txBody>
            <a:bodyPr anchor="ctr" rtlCol="false" tIns="50800" lIns="50800" bIns="50800" rIns="50800"/>
            <a:lstStyle/>
            <a:p>
              <a:pPr algn="ctr">
                <a:lnSpc>
                  <a:spcPts val="1925"/>
                </a:lnSpc>
              </a:pPr>
            </a:p>
          </p:txBody>
        </p:sp>
      </p:grpSp>
      <p:sp>
        <p:nvSpPr>
          <p:cNvPr name="TextBox 40" id="40"/>
          <p:cNvSpPr txBox="true"/>
          <p:nvPr/>
        </p:nvSpPr>
        <p:spPr>
          <a:xfrm rot="0">
            <a:off x="11357177" y="4171314"/>
            <a:ext cx="2357474" cy="1874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MENTERI ZULKIFLI HASAN</a:t>
            </a:r>
          </a:p>
        </p:txBody>
      </p:sp>
      <p:sp>
        <p:nvSpPr>
          <p:cNvPr name="TextBox 41" id="41"/>
          <p:cNvSpPr txBox="true"/>
          <p:nvPr/>
        </p:nvSpPr>
        <p:spPr>
          <a:xfrm rot="0">
            <a:off x="11674434" y="3542477"/>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01</a:t>
            </a:r>
          </a:p>
        </p:txBody>
      </p:sp>
      <p:sp>
        <p:nvSpPr>
          <p:cNvPr name="TextBox 42" id="42"/>
          <p:cNvSpPr txBox="true"/>
          <p:nvPr/>
        </p:nvSpPr>
        <p:spPr>
          <a:xfrm rot="0">
            <a:off x="12130950" y="5402362"/>
            <a:ext cx="1454698" cy="1874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MENTERI</a:t>
            </a:r>
          </a:p>
        </p:txBody>
      </p:sp>
      <p:sp>
        <p:nvSpPr>
          <p:cNvPr name="TextBox 43" id="43"/>
          <p:cNvSpPr txBox="true"/>
          <p:nvPr/>
        </p:nvSpPr>
        <p:spPr>
          <a:xfrm rot="0">
            <a:off x="11674563" y="4772294"/>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02</a:t>
            </a:r>
          </a:p>
        </p:txBody>
      </p:sp>
      <p:sp>
        <p:nvSpPr>
          <p:cNvPr name="TextBox 44" id="44"/>
          <p:cNvSpPr txBox="true"/>
          <p:nvPr/>
        </p:nvSpPr>
        <p:spPr>
          <a:xfrm rot="0">
            <a:off x="11559527" y="6539441"/>
            <a:ext cx="1888342" cy="377902"/>
          </a:xfrm>
          <a:prstGeom prst="rect">
            <a:avLst/>
          </a:prstGeom>
        </p:spPr>
        <p:txBody>
          <a:bodyPr anchor="t" rtlCol="false" tIns="0" lIns="0" bIns="0" rIns="0">
            <a:spAutoFit/>
          </a:bodyPr>
          <a:lstStyle/>
          <a:p>
            <a:pPr algn="ctr" marL="0" indent="0" lvl="0">
              <a:lnSpc>
                <a:spcPts val="1569"/>
              </a:lnSpc>
              <a:spcBef>
                <a:spcPct val="0"/>
              </a:spcBef>
            </a:pPr>
            <a:r>
              <a:rPr lang="en-US" sz="1162" spc="69">
                <a:solidFill>
                  <a:srgbClr val="F1F0EC"/>
                </a:solidFill>
                <a:latin typeface="Montserrat"/>
                <a:ea typeface="Montserrat"/>
                <a:cs typeface="Montserrat"/>
                <a:sym typeface="Montserrat"/>
              </a:rPr>
              <a:t>MENTERI KEHUTANAN ZULKIFLI HASAN</a:t>
            </a:r>
          </a:p>
        </p:txBody>
      </p:sp>
      <p:sp>
        <p:nvSpPr>
          <p:cNvPr name="TextBox 45" id="45"/>
          <p:cNvSpPr txBox="true"/>
          <p:nvPr/>
        </p:nvSpPr>
        <p:spPr>
          <a:xfrm rot="0">
            <a:off x="11674563" y="6019263"/>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03</a:t>
            </a:r>
          </a:p>
        </p:txBody>
      </p:sp>
      <p:sp>
        <p:nvSpPr>
          <p:cNvPr name="TextBox 46" id="46"/>
          <p:cNvSpPr txBox="true"/>
          <p:nvPr/>
        </p:nvSpPr>
        <p:spPr>
          <a:xfrm rot="0">
            <a:off x="11513138" y="7862241"/>
            <a:ext cx="2032987" cy="1874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MENTERI KEHUTANAN</a:t>
            </a:r>
          </a:p>
        </p:txBody>
      </p:sp>
      <p:sp>
        <p:nvSpPr>
          <p:cNvPr name="TextBox 47" id="47"/>
          <p:cNvSpPr txBox="true"/>
          <p:nvPr/>
        </p:nvSpPr>
        <p:spPr>
          <a:xfrm rot="0">
            <a:off x="11674563" y="7233172"/>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04</a:t>
            </a:r>
          </a:p>
        </p:txBody>
      </p:sp>
      <p:sp>
        <p:nvSpPr>
          <p:cNvPr name="TextBox 48" id="48"/>
          <p:cNvSpPr txBox="true"/>
          <p:nvPr/>
        </p:nvSpPr>
        <p:spPr>
          <a:xfrm rot="0">
            <a:off x="11795084" y="8967086"/>
            <a:ext cx="1481660" cy="3779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ZULKIFLI HASAN HARRISON FORD</a:t>
            </a:r>
          </a:p>
        </p:txBody>
      </p:sp>
      <p:sp>
        <p:nvSpPr>
          <p:cNvPr name="TextBox 49" id="49"/>
          <p:cNvSpPr txBox="true"/>
          <p:nvPr/>
        </p:nvSpPr>
        <p:spPr>
          <a:xfrm rot="0">
            <a:off x="11674434" y="8481535"/>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05</a:t>
            </a:r>
          </a:p>
        </p:txBody>
      </p:sp>
      <p:grpSp>
        <p:nvGrpSpPr>
          <p:cNvPr name="Group 50" id="50"/>
          <p:cNvGrpSpPr/>
          <p:nvPr/>
        </p:nvGrpSpPr>
        <p:grpSpPr>
          <a:xfrm rot="0">
            <a:off x="14936097" y="3485327"/>
            <a:ext cx="2902727" cy="1000489"/>
            <a:chOff x="0" y="0"/>
            <a:chExt cx="1258694" cy="433837"/>
          </a:xfrm>
        </p:grpSpPr>
        <p:sp>
          <p:nvSpPr>
            <p:cNvPr name="Freeform 51" id="51"/>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107FAA"/>
            </a:solidFill>
          </p:spPr>
        </p:sp>
        <p:sp>
          <p:nvSpPr>
            <p:cNvPr name="TextBox 52" id="52"/>
            <p:cNvSpPr txBox="true"/>
            <p:nvPr/>
          </p:nvSpPr>
          <p:spPr>
            <a:xfrm>
              <a:off x="0" y="76200"/>
              <a:ext cx="1258694" cy="357637"/>
            </a:xfrm>
            <a:prstGeom prst="rect">
              <a:avLst/>
            </a:prstGeom>
          </p:spPr>
          <p:txBody>
            <a:bodyPr anchor="ctr" rtlCol="false" tIns="50800" lIns="50800" bIns="50800" rIns="50800"/>
            <a:lstStyle/>
            <a:p>
              <a:pPr algn="ctr">
                <a:lnSpc>
                  <a:spcPts val="1925"/>
                </a:lnSpc>
              </a:pPr>
            </a:p>
          </p:txBody>
        </p:sp>
      </p:grpSp>
      <p:grpSp>
        <p:nvGrpSpPr>
          <p:cNvPr name="Group 53" id="53"/>
          <p:cNvGrpSpPr/>
          <p:nvPr/>
        </p:nvGrpSpPr>
        <p:grpSpPr>
          <a:xfrm rot="0">
            <a:off x="14936226" y="4715144"/>
            <a:ext cx="2902727" cy="1000489"/>
            <a:chOff x="0" y="0"/>
            <a:chExt cx="1258694" cy="433837"/>
          </a:xfrm>
        </p:grpSpPr>
        <p:sp>
          <p:nvSpPr>
            <p:cNvPr name="Freeform 54" id="54"/>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54AFE5"/>
            </a:solidFill>
          </p:spPr>
        </p:sp>
        <p:sp>
          <p:nvSpPr>
            <p:cNvPr name="TextBox 55" id="55"/>
            <p:cNvSpPr txBox="true"/>
            <p:nvPr/>
          </p:nvSpPr>
          <p:spPr>
            <a:xfrm>
              <a:off x="0" y="76200"/>
              <a:ext cx="1258694" cy="357637"/>
            </a:xfrm>
            <a:prstGeom prst="rect">
              <a:avLst/>
            </a:prstGeom>
          </p:spPr>
          <p:txBody>
            <a:bodyPr anchor="ctr" rtlCol="false" tIns="50800" lIns="50800" bIns="50800" rIns="50800"/>
            <a:lstStyle/>
            <a:p>
              <a:pPr algn="ctr">
                <a:lnSpc>
                  <a:spcPts val="1925"/>
                </a:lnSpc>
              </a:pPr>
            </a:p>
          </p:txBody>
        </p:sp>
      </p:grpSp>
      <p:grpSp>
        <p:nvGrpSpPr>
          <p:cNvPr name="Group 56" id="56"/>
          <p:cNvGrpSpPr/>
          <p:nvPr/>
        </p:nvGrpSpPr>
        <p:grpSpPr>
          <a:xfrm rot="0">
            <a:off x="14936226" y="5962113"/>
            <a:ext cx="2902727" cy="1000489"/>
            <a:chOff x="0" y="0"/>
            <a:chExt cx="1258694" cy="433837"/>
          </a:xfrm>
        </p:grpSpPr>
        <p:sp>
          <p:nvSpPr>
            <p:cNvPr name="Freeform 57" id="57"/>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54AFE5"/>
            </a:solidFill>
          </p:spPr>
        </p:sp>
        <p:sp>
          <p:nvSpPr>
            <p:cNvPr name="TextBox 58" id="58"/>
            <p:cNvSpPr txBox="true"/>
            <p:nvPr/>
          </p:nvSpPr>
          <p:spPr>
            <a:xfrm>
              <a:off x="0" y="76200"/>
              <a:ext cx="1258694" cy="357637"/>
            </a:xfrm>
            <a:prstGeom prst="rect">
              <a:avLst/>
            </a:prstGeom>
          </p:spPr>
          <p:txBody>
            <a:bodyPr anchor="ctr" rtlCol="false" tIns="50800" lIns="50800" bIns="50800" rIns="50800"/>
            <a:lstStyle/>
            <a:p>
              <a:pPr algn="ctr">
                <a:lnSpc>
                  <a:spcPts val="1925"/>
                </a:lnSpc>
              </a:pPr>
            </a:p>
          </p:txBody>
        </p:sp>
      </p:grpSp>
      <p:grpSp>
        <p:nvGrpSpPr>
          <p:cNvPr name="Group 59" id="59"/>
          <p:cNvGrpSpPr/>
          <p:nvPr/>
        </p:nvGrpSpPr>
        <p:grpSpPr>
          <a:xfrm rot="0">
            <a:off x="14936226" y="7176022"/>
            <a:ext cx="2902727" cy="1000489"/>
            <a:chOff x="0" y="0"/>
            <a:chExt cx="1258694" cy="433837"/>
          </a:xfrm>
        </p:grpSpPr>
        <p:sp>
          <p:nvSpPr>
            <p:cNvPr name="Freeform 60" id="60"/>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54AFE5"/>
            </a:solidFill>
          </p:spPr>
        </p:sp>
        <p:sp>
          <p:nvSpPr>
            <p:cNvPr name="TextBox 61" id="61"/>
            <p:cNvSpPr txBox="true"/>
            <p:nvPr/>
          </p:nvSpPr>
          <p:spPr>
            <a:xfrm>
              <a:off x="0" y="104775"/>
              <a:ext cx="1258694" cy="329062"/>
            </a:xfrm>
            <a:prstGeom prst="rect">
              <a:avLst/>
            </a:prstGeom>
          </p:spPr>
          <p:txBody>
            <a:bodyPr anchor="ctr" rtlCol="false" tIns="50800" lIns="50800" bIns="50800" rIns="50800"/>
            <a:lstStyle/>
            <a:p>
              <a:pPr algn="ctr">
                <a:lnSpc>
                  <a:spcPts val="1925"/>
                </a:lnSpc>
              </a:pPr>
            </a:p>
          </p:txBody>
        </p:sp>
      </p:grpSp>
      <p:grpSp>
        <p:nvGrpSpPr>
          <p:cNvPr name="Group 62" id="62"/>
          <p:cNvGrpSpPr/>
          <p:nvPr/>
        </p:nvGrpSpPr>
        <p:grpSpPr>
          <a:xfrm rot="0">
            <a:off x="14936097" y="8424385"/>
            <a:ext cx="2902727" cy="1000489"/>
            <a:chOff x="0" y="0"/>
            <a:chExt cx="1258694" cy="433837"/>
          </a:xfrm>
        </p:grpSpPr>
        <p:sp>
          <p:nvSpPr>
            <p:cNvPr name="Freeform 63" id="63"/>
            <p:cNvSpPr/>
            <p:nvPr/>
          </p:nvSpPr>
          <p:spPr>
            <a:xfrm flipH="false" flipV="false" rot="0">
              <a:off x="0" y="0"/>
              <a:ext cx="1258694" cy="433837"/>
            </a:xfrm>
            <a:custGeom>
              <a:avLst/>
              <a:gdLst/>
              <a:ahLst/>
              <a:cxnLst/>
              <a:rect r="r" b="b" t="t" l="l"/>
              <a:pathLst>
                <a:path h="433837" w="1258694">
                  <a:moveTo>
                    <a:pt x="40007" y="0"/>
                  </a:moveTo>
                  <a:lnTo>
                    <a:pt x="1218688" y="0"/>
                  </a:lnTo>
                  <a:cubicBezTo>
                    <a:pt x="1229298" y="0"/>
                    <a:pt x="1239474" y="4215"/>
                    <a:pt x="1246977" y="11718"/>
                  </a:cubicBezTo>
                  <a:cubicBezTo>
                    <a:pt x="1254479" y="19220"/>
                    <a:pt x="1258694" y="29396"/>
                    <a:pt x="1258694" y="40007"/>
                  </a:cubicBezTo>
                  <a:lnTo>
                    <a:pt x="1258694" y="393830"/>
                  </a:lnTo>
                  <a:cubicBezTo>
                    <a:pt x="1258694" y="415925"/>
                    <a:pt x="1240783" y="433837"/>
                    <a:pt x="1218688" y="433837"/>
                  </a:cubicBezTo>
                  <a:lnTo>
                    <a:pt x="40007" y="433837"/>
                  </a:lnTo>
                  <a:cubicBezTo>
                    <a:pt x="17912" y="433837"/>
                    <a:pt x="0" y="415925"/>
                    <a:pt x="0" y="393830"/>
                  </a:cubicBezTo>
                  <a:lnTo>
                    <a:pt x="0" y="40007"/>
                  </a:lnTo>
                  <a:cubicBezTo>
                    <a:pt x="0" y="17912"/>
                    <a:pt x="17912" y="0"/>
                    <a:pt x="40007" y="0"/>
                  </a:cubicBezTo>
                  <a:close/>
                </a:path>
              </a:pathLst>
            </a:custGeom>
            <a:solidFill>
              <a:srgbClr val="107FAA"/>
            </a:solidFill>
          </p:spPr>
        </p:sp>
        <p:sp>
          <p:nvSpPr>
            <p:cNvPr name="TextBox 64" id="64"/>
            <p:cNvSpPr txBox="true"/>
            <p:nvPr/>
          </p:nvSpPr>
          <p:spPr>
            <a:xfrm>
              <a:off x="0" y="76200"/>
              <a:ext cx="1258694" cy="357637"/>
            </a:xfrm>
            <a:prstGeom prst="rect">
              <a:avLst/>
            </a:prstGeom>
          </p:spPr>
          <p:txBody>
            <a:bodyPr anchor="ctr" rtlCol="false" tIns="50800" lIns="50800" bIns="50800" rIns="50800"/>
            <a:lstStyle/>
            <a:p>
              <a:pPr algn="ctr">
                <a:lnSpc>
                  <a:spcPts val="1925"/>
                </a:lnSpc>
              </a:pPr>
            </a:p>
          </p:txBody>
        </p:sp>
      </p:grpSp>
      <p:sp>
        <p:nvSpPr>
          <p:cNvPr name="TextBox 65" id="65"/>
          <p:cNvSpPr txBox="true"/>
          <p:nvPr/>
        </p:nvSpPr>
        <p:spPr>
          <a:xfrm rot="0">
            <a:off x="15395002" y="4171314"/>
            <a:ext cx="1984915" cy="1874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FERRY IRWANDI SIAPA</a:t>
            </a:r>
          </a:p>
        </p:txBody>
      </p:sp>
      <p:sp>
        <p:nvSpPr>
          <p:cNvPr name="TextBox 66" id="66"/>
          <p:cNvSpPr txBox="true"/>
          <p:nvPr/>
        </p:nvSpPr>
        <p:spPr>
          <a:xfrm rot="0">
            <a:off x="15548840" y="3542477"/>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01</a:t>
            </a:r>
          </a:p>
        </p:txBody>
      </p:sp>
      <p:sp>
        <p:nvSpPr>
          <p:cNvPr name="TextBox 67" id="67"/>
          <p:cNvSpPr txBox="true"/>
          <p:nvPr/>
        </p:nvSpPr>
        <p:spPr>
          <a:xfrm rot="0">
            <a:off x="15290426" y="5396344"/>
            <a:ext cx="2506488" cy="1874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FERRY IRWANDI KITABISA</a:t>
            </a:r>
          </a:p>
        </p:txBody>
      </p:sp>
      <p:sp>
        <p:nvSpPr>
          <p:cNvPr name="TextBox 68" id="68"/>
          <p:cNvSpPr txBox="true"/>
          <p:nvPr/>
        </p:nvSpPr>
        <p:spPr>
          <a:xfrm rot="0">
            <a:off x="15548969" y="4772294"/>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02</a:t>
            </a:r>
          </a:p>
        </p:txBody>
      </p:sp>
      <p:sp>
        <p:nvSpPr>
          <p:cNvPr name="TextBox 69" id="69"/>
          <p:cNvSpPr txBox="true"/>
          <p:nvPr/>
        </p:nvSpPr>
        <p:spPr>
          <a:xfrm rot="0">
            <a:off x="15309476" y="6649332"/>
            <a:ext cx="2361648" cy="1874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KITABISA FERRY IRWANDI</a:t>
            </a:r>
          </a:p>
        </p:txBody>
      </p:sp>
      <p:sp>
        <p:nvSpPr>
          <p:cNvPr name="TextBox 70" id="70"/>
          <p:cNvSpPr txBox="true"/>
          <p:nvPr/>
        </p:nvSpPr>
        <p:spPr>
          <a:xfrm rot="0">
            <a:off x="15548969" y="6019263"/>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03</a:t>
            </a:r>
          </a:p>
        </p:txBody>
      </p:sp>
      <p:sp>
        <p:nvSpPr>
          <p:cNvPr name="TextBox 71" id="71"/>
          <p:cNvSpPr txBox="true"/>
          <p:nvPr/>
        </p:nvSpPr>
        <p:spPr>
          <a:xfrm rot="0">
            <a:off x="16023185" y="7863240"/>
            <a:ext cx="934229" cy="1874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KITABISA</a:t>
            </a:r>
          </a:p>
        </p:txBody>
      </p:sp>
      <p:sp>
        <p:nvSpPr>
          <p:cNvPr name="TextBox 72" id="72"/>
          <p:cNvSpPr txBox="true"/>
          <p:nvPr/>
        </p:nvSpPr>
        <p:spPr>
          <a:xfrm rot="0">
            <a:off x="15548969" y="7233172"/>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04</a:t>
            </a:r>
          </a:p>
        </p:txBody>
      </p:sp>
      <p:sp>
        <p:nvSpPr>
          <p:cNvPr name="TextBox 73" id="73"/>
          <p:cNvSpPr txBox="true"/>
          <p:nvPr/>
        </p:nvSpPr>
        <p:spPr>
          <a:xfrm rot="0">
            <a:off x="15387544" y="9110923"/>
            <a:ext cx="2283580" cy="187402"/>
          </a:xfrm>
          <a:prstGeom prst="rect">
            <a:avLst/>
          </a:prstGeom>
        </p:spPr>
        <p:txBody>
          <a:bodyPr anchor="t" rtlCol="false" tIns="0" lIns="0" bIns="0" rIns="0">
            <a:spAutoFit/>
          </a:bodyPr>
          <a:lstStyle/>
          <a:p>
            <a:pPr algn="just" marL="0" indent="0" lvl="0">
              <a:lnSpc>
                <a:spcPts val="1569"/>
              </a:lnSpc>
              <a:spcBef>
                <a:spcPct val="0"/>
              </a:spcBef>
            </a:pPr>
            <a:r>
              <a:rPr lang="en-US" sz="1162" spc="69">
                <a:solidFill>
                  <a:srgbClr val="F1F0EC"/>
                </a:solidFill>
                <a:latin typeface="Montserrat"/>
                <a:ea typeface="Montserrat"/>
                <a:cs typeface="Montserrat"/>
                <a:sym typeface="Montserrat"/>
              </a:rPr>
              <a:t>DONASI FERRY IRWANDI</a:t>
            </a:r>
          </a:p>
        </p:txBody>
      </p:sp>
      <p:sp>
        <p:nvSpPr>
          <p:cNvPr name="TextBox 74" id="74"/>
          <p:cNvSpPr txBox="true"/>
          <p:nvPr/>
        </p:nvSpPr>
        <p:spPr>
          <a:xfrm rot="0">
            <a:off x="15548840" y="8481535"/>
            <a:ext cx="1677241" cy="581444"/>
          </a:xfrm>
          <a:prstGeom prst="rect">
            <a:avLst/>
          </a:prstGeom>
        </p:spPr>
        <p:txBody>
          <a:bodyPr anchor="t" rtlCol="false" tIns="0" lIns="0" bIns="0" rIns="0">
            <a:spAutoFit/>
          </a:bodyPr>
          <a:lstStyle/>
          <a:p>
            <a:pPr algn="ctr">
              <a:lnSpc>
                <a:spcPts val="4030"/>
              </a:lnSpc>
            </a:pPr>
            <a:r>
              <a:rPr lang="en-US" sz="4198" spc="-344">
                <a:solidFill>
                  <a:srgbClr val="F1F0EC"/>
                </a:solidFill>
                <a:latin typeface="Poppins"/>
                <a:ea typeface="Poppins"/>
                <a:cs typeface="Poppins"/>
                <a:sym typeface="Poppins"/>
              </a:rPr>
              <a:t>05</a:t>
            </a:r>
          </a:p>
        </p:txBody>
      </p:sp>
      <p:grpSp>
        <p:nvGrpSpPr>
          <p:cNvPr name="Group 75" id="75"/>
          <p:cNvGrpSpPr/>
          <p:nvPr/>
        </p:nvGrpSpPr>
        <p:grpSpPr>
          <a:xfrm rot="0">
            <a:off x="11559527" y="2569553"/>
            <a:ext cx="1792276" cy="668124"/>
            <a:chOff x="0" y="0"/>
            <a:chExt cx="472040" cy="175967"/>
          </a:xfrm>
        </p:grpSpPr>
        <p:sp>
          <p:nvSpPr>
            <p:cNvPr name="Freeform 76" id="76"/>
            <p:cNvSpPr/>
            <p:nvPr/>
          </p:nvSpPr>
          <p:spPr>
            <a:xfrm flipH="false" flipV="false" rot="0">
              <a:off x="0" y="0"/>
              <a:ext cx="472040" cy="175967"/>
            </a:xfrm>
            <a:custGeom>
              <a:avLst/>
              <a:gdLst/>
              <a:ahLst/>
              <a:cxnLst/>
              <a:rect r="r" b="b" t="t" l="l"/>
              <a:pathLst>
                <a:path h="175967" w="472040">
                  <a:moveTo>
                    <a:pt x="87983" y="0"/>
                  </a:moveTo>
                  <a:lnTo>
                    <a:pt x="384056" y="0"/>
                  </a:lnTo>
                  <a:cubicBezTo>
                    <a:pt x="432648" y="0"/>
                    <a:pt x="472040" y="39392"/>
                    <a:pt x="472040" y="87983"/>
                  </a:cubicBezTo>
                  <a:lnTo>
                    <a:pt x="472040" y="87983"/>
                  </a:lnTo>
                  <a:cubicBezTo>
                    <a:pt x="472040" y="136575"/>
                    <a:pt x="432648" y="175967"/>
                    <a:pt x="384056" y="175967"/>
                  </a:cubicBezTo>
                  <a:lnTo>
                    <a:pt x="87983" y="175967"/>
                  </a:lnTo>
                  <a:cubicBezTo>
                    <a:pt x="39392" y="175967"/>
                    <a:pt x="0" y="136575"/>
                    <a:pt x="0" y="87983"/>
                  </a:cubicBezTo>
                  <a:lnTo>
                    <a:pt x="0" y="87983"/>
                  </a:lnTo>
                  <a:cubicBezTo>
                    <a:pt x="0" y="39392"/>
                    <a:pt x="39392" y="0"/>
                    <a:pt x="87983" y="0"/>
                  </a:cubicBezTo>
                  <a:close/>
                </a:path>
              </a:pathLst>
            </a:custGeom>
            <a:solidFill>
              <a:srgbClr val="107FAA"/>
            </a:solidFill>
          </p:spPr>
        </p:sp>
        <p:sp>
          <p:nvSpPr>
            <p:cNvPr name="TextBox 77" id="77"/>
            <p:cNvSpPr txBox="true"/>
            <p:nvPr/>
          </p:nvSpPr>
          <p:spPr>
            <a:xfrm>
              <a:off x="0" y="76200"/>
              <a:ext cx="472040" cy="99767"/>
            </a:xfrm>
            <a:prstGeom prst="rect">
              <a:avLst/>
            </a:prstGeom>
          </p:spPr>
          <p:txBody>
            <a:bodyPr anchor="ctr" rtlCol="false" tIns="50800" lIns="50800" bIns="50800" rIns="50800"/>
            <a:lstStyle/>
            <a:p>
              <a:pPr algn="ctr">
                <a:lnSpc>
                  <a:spcPts val="1848"/>
                </a:lnSpc>
              </a:pPr>
              <a:r>
                <a:rPr lang="en-US" sz="2400" spc="-26">
                  <a:solidFill>
                    <a:srgbClr val="F1F0EC"/>
                  </a:solidFill>
                  <a:latin typeface="Poppins"/>
                  <a:ea typeface="Poppins"/>
                  <a:cs typeface="Poppins"/>
                  <a:sym typeface="Poppins"/>
                </a:rPr>
                <a:t>ZULHAS</a:t>
              </a:r>
            </a:p>
          </p:txBody>
        </p:sp>
      </p:grpSp>
      <p:grpSp>
        <p:nvGrpSpPr>
          <p:cNvPr name="Group 78" id="78"/>
          <p:cNvGrpSpPr/>
          <p:nvPr/>
        </p:nvGrpSpPr>
        <p:grpSpPr>
          <a:xfrm rot="0">
            <a:off x="15467024" y="2569553"/>
            <a:ext cx="1792276" cy="706224"/>
            <a:chOff x="0" y="0"/>
            <a:chExt cx="472040" cy="186001"/>
          </a:xfrm>
        </p:grpSpPr>
        <p:sp>
          <p:nvSpPr>
            <p:cNvPr name="Freeform 79" id="79"/>
            <p:cNvSpPr/>
            <p:nvPr/>
          </p:nvSpPr>
          <p:spPr>
            <a:xfrm flipH="false" flipV="false" rot="0">
              <a:off x="0" y="0"/>
              <a:ext cx="472040" cy="186001"/>
            </a:xfrm>
            <a:custGeom>
              <a:avLst/>
              <a:gdLst/>
              <a:ahLst/>
              <a:cxnLst/>
              <a:rect r="r" b="b" t="t" l="l"/>
              <a:pathLst>
                <a:path h="186001" w="472040">
                  <a:moveTo>
                    <a:pt x="93001" y="0"/>
                  </a:moveTo>
                  <a:lnTo>
                    <a:pt x="379039" y="0"/>
                  </a:lnTo>
                  <a:cubicBezTo>
                    <a:pt x="430402" y="0"/>
                    <a:pt x="472040" y="41638"/>
                    <a:pt x="472040" y="93001"/>
                  </a:cubicBezTo>
                  <a:lnTo>
                    <a:pt x="472040" y="93001"/>
                  </a:lnTo>
                  <a:cubicBezTo>
                    <a:pt x="472040" y="144364"/>
                    <a:pt x="430402" y="186001"/>
                    <a:pt x="379039" y="186001"/>
                  </a:cubicBezTo>
                  <a:lnTo>
                    <a:pt x="93001" y="186001"/>
                  </a:lnTo>
                  <a:cubicBezTo>
                    <a:pt x="41638" y="186001"/>
                    <a:pt x="0" y="144364"/>
                    <a:pt x="0" y="93001"/>
                  </a:cubicBezTo>
                  <a:lnTo>
                    <a:pt x="0" y="93001"/>
                  </a:lnTo>
                  <a:cubicBezTo>
                    <a:pt x="0" y="41638"/>
                    <a:pt x="41638" y="0"/>
                    <a:pt x="93001" y="0"/>
                  </a:cubicBezTo>
                  <a:close/>
                </a:path>
              </a:pathLst>
            </a:custGeom>
            <a:solidFill>
              <a:srgbClr val="107FAA"/>
            </a:solidFill>
          </p:spPr>
        </p:sp>
        <p:sp>
          <p:nvSpPr>
            <p:cNvPr name="TextBox 80" id="80"/>
            <p:cNvSpPr txBox="true"/>
            <p:nvPr/>
          </p:nvSpPr>
          <p:spPr>
            <a:xfrm>
              <a:off x="0" y="76200"/>
              <a:ext cx="472040" cy="109801"/>
            </a:xfrm>
            <a:prstGeom prst="rect">
              <a:avLst/>
            </a:prstGeom>
          </p:spPr>
          <p:txBody>
            <a:bodyPr anchor="ctr" rtlCol="false" tIns="50800" lIns="50800" bIns="50800" rIns="50800"/>
            <a:lstStyle/>
            <a:p>
              <a:pPr algn="ctr">
                <a:lnSpc>
                  <a:spcPts val="1848"/>
                </a:lnSpc>
              </a:pPr>
              <a:r>
                <a:rPr lang="en-US" sz="2400">
                  <a:solidFill>
                    <a:srgbClr val="F1F0EC"/>
                  </a:solidFill>
                  <a:latin typeface="Poppins"/>
                  <a:ea typeface="Poppins"/>
                  <a:cs typeface="Poppins"/>
                  <a:sym typeface="Poppins"/>
                </a:rPr>
                <a:t>FERRY</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3213452" y="2418606"/>
            <a:ext cx="11172067" cy="10704872"/>
          </a:xfrm>
          <a:custGeom>
            <a:avLst/>
            <a:gdLst/>
            <a:ahLst/>
            <a:cxnLst/>
            <a:rect r="r" b="b" t="t" l="l"/>
            <a:pathLst>
              <a:path h="10704872" w="11172067">
                <a:moveTo>
                  <a:pt x="0" y="0"/>
                </a:moveTo>
                <a:lnTo>
                  <a:pt x="11172067" y="0"/>
                </a:lnTo>
                <a:lnTo>
                  <a:pt x="11172067" y="10704871"/>
                </a:lnTo>
                <a:lnTo>
                  <a:pt x="0" y="10704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876038" y="1877049"/>
            <a:ext cx="11235792" cy="8512376"/>
          </a:xfrm>
          <a:custGeom>
            <a:avLst/>
            <a:gdLst/>
            <a:ahLst/>
            <a:cxnLst/>
            <a:rect r="r" b="b" t="t" l="l"/>
            <a:pathLst>
              <a:path h="8512376" w="11235792">
                <a:moveTo>
                  <a:pt x="0" y="0"/>
                </a:moveTo>
                <a:lnTo>
                  <a:pt x="11235792" y="0"/>
                </a:lnTo>
                <a:lnTo>
                  <a:pt x="11235792" y="8512376"/>
                </a:lnTo>
                <a:lnTo>
                  <a:pt x="0" y="8512376"/>
                </a:lnTo>
                <a:lnTo>
                  <a:pt x="0" y="0"/>
                </a:lnTo>
                <a:close/>
              </a:path>
            </a:pathLst>
          </a:custGeom>
          <a:blipFill>
            <a:blip r:embed="rId4">
              <a:alphaModFix amt="58000"/>
            </a:blip>
            <a:stretch>
              <a:fillRect l="0" t="0" r="-24119" b="0"/>
            </a:stretch>
          </a:blipFill>
        </p:spPr>
      </p:sp>
      <p:sp>
        <p:nvSpPr>
          <p:cNvPr name="Freeform 4" id="4"/>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5">
              <a:alphaModFix amt="15000"/>
            </a:blip>
            <a:stretch>
              <a:fillRect l="0" t="0" r="0" b="0"/>
            </a:stretch>
          </a:blipFill>
        </p:spPr>
      </p:sp>
      <p:sp>
        <p:nvSpPr>
          <p:cNvPr name="Freeform 5" id="5"/>
          <p:cNvSpPr/>
          <p:nvPr/>
        </p:nvSpPr>
        <p:spPr>
          <a:xfrm flipH="false" flipV="false" rot="0">
            <a:off x="13286836" y="-292525"/>
            <a:ext cx="7032594" cy="8230527"/>
          </a:xfrm>
          <a:custGeom>
            <a:avLst/>
            <a:gdLst/>
            <a:ahLst/>
            <a:cxnLst/>
            <a:rect r="r" b="b" t="t" l="l"/>
            <a:pathLst>
              <a:path h="8230527" w="7032594">
                <a:moveTo>
                  <a:pt x="0" y="0"/>
                </a:moveTo>
                <a:lnTo>
                  <a:pt x="7032595" y="0"/>
                </a:lnTo>
                <a:lnTo>
                  <a:pt x="7032595" y="8230527"/>
                </a:lnTo>
                <a:lnTo>
                  <a:pt x="0" y="8230527"/>
                </a:lnTo>
                <a:lnTo>
                  <a:pt x="0" y="0"/>
                </a:lnTo>
                <a:close/>
              </a:path>
            </a:pathLst>
          </a:custGeom>
          <a:blipFill>
            <a:blip r:embed="rId6">
              <a:alphaModFix amt="28000"/>
            </a:blip>
            <a:stretch>
              <a:fillRect l="-67118" t="0" r="-40941" b="0"/>
            </a:stretch>
          </a:blipFill>
        </p:spPr>
      </p:sp>
      <p:sp>
        <p:nvSpPr>
          <p:cNvPr name="Freeform 6" id="6"/>
          <p:cNvSpPr/>
          <p:nvPr/>
        </p:nvSpPr>
        <p:spPr>
          <a:xfrm flipH="false" flipV="false" rot="0">
            <a:off x="9147363" y="2434421"/>
            <a:ext cx="11172067" cy="10704872"/>
          </a:xfrm>
          <a:custGeom>
            <a:avLst/>
            <a:gdLst/>
            <a:ahLst/>
            <a:cxnLst/>
            <a:rect r="r" b="b" t="t" l="l"/>
            <a:pathLst>
              <a:path h="10704872" w="11172067">
                <a:moveTo>
                  <a:pt x="0" y="0"/>
                </a:moveTo>
                <a:lnTo>
                  <a:pt x="11172068" y="0"/>
                </a:lnTo>
                <a:lnTo>
                  <a:pt x="11172068" y="10704872"/>
                </a:lnTo>
                <a:lnTo>
                  <a:pt x="0" y="107048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541833" y="742269"/>
            <a:ext cx="12526018" cy="3774829"/>
          </a:xfrm>
          <a:prstGeom prst="rect">
            <a:avLst/>
          </a:prstGeom>
        </p:spPr>
        <p:txBody>
          <a:bodyPr anchor="t" rtlCol="false" tIns="0" lIns="0" bIns="0" rIns="0">
            <a:spAutoFit/>
          </a:bodyPr>
          <a:lstStyle/>
          <a:p>
            <a:pPr algn="ctr">
              <a:lnSpc>
                <a:spcPts val="9492"/>
              </a:lnSpc>
            </a:pPr>
            <a:r>
              <a:rPr lang="en-US" b="true" sz="9992">
                <a:solidFill>
                  <a:srgbClr val="F6F4F1"/>
                </a:solidFill>
                <a:latin typeface="Poppins Ultra-Bold"/>
                <a:ea typeface="Poppins Ultra-Bold"/>
                <a:cs typeface="Poppins Ultra-Bold"/>
                <a:sym typeface="Poppins Ultra-Bold"/>
              </a:rPr>
              <a:t>SENTIMEN PUBLIK TERHADAP PEJABAT</a:t>
            </a:r>
          </a:p>
        </p:txBody>
      </p:sp>
      <p:grpSp>
        <p:nvGrpSpPr>
          <p:cNvPr name="Group 8" id="8"/>
          <p:cNvGrpSpPr/>
          <p:nvPr/>
        </p:nvGrpSpPr>
        <p:grpSpPr>
          <a:xfrm rot="0">
            <a:off x="13419634" y="8872663"/>
            <a:ext cx="3839666" cy="771274"/>
            <a:chOff x="0" y="0"/>
            <a:chExt cx="1011270" cy="203134"/>
          </a:xfrm>
        </p:grpSpPr>
        <p:sp>
          <p:nvSpPr>
            <p:cNvPr name="Freeform 9" id="9"/>
            <p:cNvSpPr/>
            <p:nvPr/>
          </p:nvSpPr>
          <p:spPr>
            <a:xfrm flipH="false" flipV="false" rot="0">
              <a:off x="0" y="0"/>
              <a:ext cx="1011270" cy="203134"/>
            </a:xfrm>
            <a:custGeom>
              <a:avLst/>
              <a:gdLst/>
              <a:ahLst/>
              <a:cxnLst/>
              <a:rect r="r" b="b" t="t" l="l"/>
              <a:pathLst>
                <a:path h="203134" w="1011270">
                  <a:moveTo>
                    <a:pt x="101567" y="0"/>
                  </a:moveTo>
                  <a:lnTo>
                    <a:pt x="909703" y="0"/>
                  </a:lnTo>
                  <a:cubicBezTo>
                    <a:pt x="936640" y="0"/>
                    <a:pt x="962474" y="10701"/>
                    <a:pt x="981522" y="29748"/>
                  </a:cubicBezTo>
                  <a:cubicBezTo>
                    <a:pt x="1000569" y="48796"/>
                    <a:pt x="1011270" y="74630"/>
                    <a:pt x="1011270" y="101567"/>
                  </a:cubicBezTo>
                  <a:lnTo>
                    <a:pt x="1011270" y="101567"/>
                  </a:lnTo>
                  <a:cubicBezTo>
                    <a:pt x="1011270" y="128504"/>
                    <a:pt x="1000569" y="154338"/>
                    <a:pt x="981522" y="173386"/>
                  </a:cubicBezTo>
                  <a:cubicBezTo>
                    <a:pt x="962474" y="192433"/>
                    <a:pt x="936640" y="203134"/>
                    <a:pt x="909703" y="203134"/>
                  </a:cubicBezTo>
                  <a:lnTo>
                    <a:pt x="101567" y="203134"/>
                  </a:lnTo>
                  <a:cubicBezTo>
                    <a:pt x="74630" y="203134"/>
                    <a:pt x="48796" y="192433"/>
                    <a:pt x="29748" y="173386"/>
                  </a:cubicBezTo>
                  <a:cubicBezTo>
                    <a:pt x="10701" y="154338"/>
                    <a:pt x="0" y="128504"/>
                    <a:pt x="0" y="101567"/>
                  </a:cubicBezTo>
                  <a:lnTo>
                    <a:pt x="0" y="101567"/>
                  </a:lnTo>
                  <a:cubicBezTo>
                    <a:pt x="0" y="74630"/>
                    <a:pt x="10701" y="48796"/>
                    <a:pt x="29748" y="29748"/>
                  </a:cubicBezTo>
                  <a:cubicBezTo>
                    <a:pt x="48796" y="10701"/>
                    <a:pt x="74630" y="0"/>
                    <a:pt x="101567" y="0"/>
                  </a:cubicBezTo>
                  <a:close/>
                </a:path>
              </a:pathLst>
            </a:custGeom>
            <a:solidFill>
              <a:srgbClr val="F1F0EC"/>
            </a:solidFill>
          </p:spPr>
        </p:sp>
        <p:sp>
          <p:nvSpPr>
            <p:cNvPr name="TextBox 10" id="10"/>
            <p:cNvSpPr txBox="true"/>
            <p:nvPr/>
          </p:nvSpPr>
          <p:spPr>
            <a:xfrm>
              <a:off x="0" y="0"/>
              <a:ext cx="1011270" cy="203134"/>
            </a:xfrm>
            <a:prstGeom prst="rect">
              <a:avLst/>
            </a:prstGeom>
          </p:spPr>
          <p:txBody>
            <a:bodyPr anchor="ctr" rtlCol="false" tIns="63500" lIns="63500" bIns="63500" rIns="63500"/>
            <a:lstStyle/>
            <a:p>
              <a:pPr algn="ctr">
                <a:lnSpc>
                  <a:spcPts val="2640"/>
                </a:lnSpc>
              </a:pPr>
              <a:r>
                <a:rPr lang="en-US" b="true" sz="2400" spc="38">
                  <a:solidFill>
                    <a:srgbClr val="2D2C2D"/>
                  </a:solidFill>
                  <a:latin typeface="Poppins Bold"/>
                  <a:ea typeface="Poppins Bold"/>
                  <a:cs typeface="Poppins Bold"/>
                  <a:sym typeface="Poppins Bold"/>
                </a:rPr>
                <a:t>ZULKIFLI HASAN</a:t>
              </a:r>
            </a:p>
          </p:txBody>
        </p:sp>
      </p:grpSp>
      <p:sp>
        <p:nvSpPr>
          <p:cNvPr name="Freeform 11" id="11"/>
          <p:cNvSpPr/>
          <p:nvPr/>
        </p:nvSpPr>
        <p:spPr>
          <a:xfrm flipH="false" flipV="false" rot="0">
            <a:off x="3200178" y="5524261"/>
            <a:ext cx="11367530" cy="5807760"/>
          </a:xfrm>
          <a:custGeom>
            <a:avLst/>
            <a:gdLst/>
            <a:ahLst/>
            <a:cxnLst/>
            <a:rect r="r" b="b" t="t" l="l"/>
            <a:pathLst>
              <a:path h="5807760" w="11367530">
                <a:moveTo>
                  <a:pt x="0" y="0"/>
                </a:moveTo>
                <a:lnTo>
                  <a:pt x="11367529" y="0"/>
                </a:lnTo>
                <a:lnTo>
                  <a:pt x="11367529" y="5807760"/>
                </a:lnTo>
                <a:lnTo>
                  <a:pt x="0" y="5807760"/>
                </a:lnTo>
                <a:lnTo>
                  <a:pt x="0" y="0"/>
                </a:lnTo>
                <a:close/>
              </a:path>
            </a:pathLst>
          </a:custGeom>
          <a:blipFill>
            <a:blip r:embed="rId7">
              <a:alphaModFix amt="73000"/>
            </a:blip>
            <a:stretch>
              <a:fillRect l="-11397" t="-22828" r="0" b="0"/>
            </a:stretch>
          </a:blipFill>
        </p:spPr>
      </p:sp>
      <p:sp>
        <p:nvSpPr>
          <p:cNvPr name="Freeform 12" id="12"/>
          <p:cNvSpPr/>
          <p:nvPr/>
        </p:nvSpPr>
        <p:spPr>
          <a:xfrm flipH="false" flipV="false" rot="0">
            <a:off x="8638950" y="1250525"/>
            <a:ext cx="15123267" cy="10997674"/>
          </a:xfrm>
          <a:custGeom>
            <a:avLst/>
            <a:gdLst/>
            <a:ahLst/>
            <a:cxnLst/>
            <a:rect r="r" b="b" t="t" l="l"/>
            <a:pathLst>
              <a:path h="10997674" w="15123267">
                <a:moveTo>
                  <a:pt x="0" y="0"/>
                </a:moveTo>
                <a:lnTo>
                  <a:pt x="15123267" y="0"/>
                </a:lnTo>
                <a:lnTo>
                  <a:pt x="15123267" y="10997674"/>
                </a:lnTo>
                <a:lnTo>
                  <a:pt x="0" y="10997674"/>
                </a:lnTo>
                <a:lnTo>
                  <a:pt x="0" y="0"/>
                </a:lnTo>
                <a:close/>
              </a:path>
            </a:pathLst>
          </a:custGeom>
          <a:blipFill>
            <a:blip r:embed="rId8"/>
            <a:stretch>
              <a:fillRect l="-29280" t="0" r="0" b="0"/>
            </a:stretch>
          </a:blipFill>
        </p:spPr>
      </p:sp>
      <p:sp>
        <p:nvSpPr>
          <p:cNvPr name="Freeform 13" id="13"/>
          <p:cNvSpPr/>
          <p:nvPr/>
        </p:nvSpPr>
        <p:spPr>
          <a:xfrm flipH="false" flipV="false" rot="0">
            <a:off x="-250120" y="1120365"/>
            <a:ext cx="18538120" cy="9269060"/>
          </a:xfrm>
          <a:custGeom>
            <a:avLst/>
            <a:gdLst/>
            <a:ahLst/>
            <a:cxnLst/>
            <a:rect r="r" b="b" t="t" l="l"/>
            <a:pathLst>
              <a:path h="9269060" w="18538120">
                <a:moveTo>
                  <a:pt x="0" y="0"/>
                </a:moveTo>
                <a:lnTo>
                  <a:pt x="18538120" y="0"/>
                </a:lnTo>
                <a:lnTo>
                  <a:pt x="18538120" y="9269060"/>
                </a:lnTo>
                <a:lnTo>
                  <a:pt x="0" y="926906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4" id="14"/>
          <p:cNvGrpSpPr/>
          <p:nvPr/>
        </p:nvGrpSpPr>
        <p:grpSpPr>
          <a:xfrm rot="0">
            <a:off x="15209156" y="-1209051"/>
            <a:ext cx="4424138" cy="3086100"/>
            <a:chOff x="0" y="0"/>
            <a:chExt cx="1165205" cy="812800"/>
          </a:xfrm>
        </p:grpSpPr>
        <p:sp>
          <p:nvSpPr>
            <p:cNvPr name="Freeform 15" id="15"/>
            <p:cNvSpPr/>
            <p:nvPr/>
          </p:nvSpPr>
          <p:spPr>
            <a:xfrm flipH="false" flipV="false" rot="0">
              <a:off x="0" y="0"/>
              <a:ext cx="1165205" cy="812800"/>
            </a:xfrm>
            <a:custGeom>
              <a:avLst/>
              <a:gdLst/>
              <a:ahLst/>
              <a:cxnLst/>
              <a:rect r="r" b="b" t="t" l="l"/>
              <a:pathLst>
                <a:path h="812800" w="1165205">
                  <a:moveTo>
                    <a:pt x="89246" y="0"/>
                  </a:moveTo>
                  <a:lnTo>
                    <a:pt x="1075959" y="0"/>
                  </a:lnTo>
                  <a:cubicBezTo>
                    <a:pt x="1125248" y="0"/>
                    <a:pt x="1165205" y="39957"/>
                    <a:pt x="1165205" y="89246"/>
                  </a:cubicBezTo>
                  <a:lnTo>
                    <a:pt x="1165205" y="723554"/>
                  </a:lnTo>
                  <a:cubicBezTo>
                    <a:pt x="1165205" y="747223"/>
                    <a:pt x="1155802" y="769923"/>
                    <a:pt x="1139066" y="786660"/>
                  </a:cubicBezTo>
                  <a:cubicBezTo>
                    <a:pt x="1122329" y="803397"/>
                    <a:pt x="1099628" y="812800"/>
                    <a:pt x="1075959" y="812800"/>
                  </a:cubicBezTo>
                  <a:lnTo>
                    <a:pt x="89246" y="812800"/>
                  </a:lnTo>
                  <a:cubicBezTo>
                    <a:pt x="65577" y="812800"/>
                    <a:pt x="42877" y="803397"/>
                    <a:pt x="26140" y="786660"/>
                  </a:cubicBezTo>
                  <a:cubicBezTo>
                    <a:pt x="9403" y="769923"/>
                    <a:pt x="0" y="747223"/>
                    <a:pt x="0" y="723554"/>
                  </a:cubicBezTo>
                  <a:lnTo>
                    <a:pt x="0" y="89246"/>
                  </a:lnTo>
                  <a:cubicBezTo>
                    <a:pt x="0" y="65577"/>
                    <a:pt x="9403" y="42877"/>
                    <a:pt x="26140" y="26140"/>
                  </a:cubicBezTo>
                  <a:cubicBezTo>
                    <a:pt x="42877" y="9403"/>
                    <a:pt x="65577" y="0"/>
                    <a:pt x="89246" y="0"/>
                  </a:cubicBezTo>
                  <a:close/>
                </a:path>
              </a:pathLst>
            </a:custGeom>
            <a:solidFill>
              <a:srgbClr val="9A9995"/>
            </a:solidFill>
            <a:ln w="85725" cap="rnd">
              <a:solidFill>
                <a:srgbClr val="4D4B48"/>
              </a:solidFill>
              <a:prstDash val="solid"/>
              <a:round/>
            </a:ln>
          </p:spPr>
        </p:sp>
        <p:sp>
          <p:nvSpPr>
            <p:cNvPr name="TextBox 16" id="16"/>
            <p:cNvSpPr txBox="true"/>
            <p:nvPr/>
          </p:nvSpPr>
          <p:spPr>
            <a:xfrm>
              <a:off x="0" y="-38100"/>
              <a:ext cx="1165205" cy="850900"/>
            </a:xfrm>
            <a:prstGeom prst="rect">
              <a:avLst/>
            </a:prstGeom>
          </p:spPr>
          <p:txBody>
            <a:bodyPr anchor="ctr" rtlCol="false" tIns="50800" lIns="50800" bIns="50800" rIns="50800"/>
            <a:lstStyle/>
            <a:p>
              <a:pPr algn="ctr">
                <a:lnSpc>
                  <a:spcPts val="2629"/>
                </a:lnSpc>
              </a:pPr>
            </a:p>
          </p:txBody>
        </p:sp>
      </p:grpSp>
      <p:grpSp>
        <p:nvGrpSpPr>
          <p:cNvPr name="Group 17" id="17"/>
          <p:cNvGrpSpPr/>
          <p:nvPr/>
        </p:nvGrpSpPr>
        <p:grpSpPr>
          <a:xfrm rot="0">
            <a:off x="4799284" y="4555198"/>
            <a:ext cx="3839666" cy="771274"/>
            <a:chOff x="0" y="0"/>
            <a:chExt cx="1011270" cy="203134"/>
          </a:xfrm>
        </p:grpSpPr>
        <p:sp>
          <p:nvSpPr>
            <p:cNvPr name="Freeform 18" id="18"/>
            <p:cNvSpPr/>
            <p:nvPr/>
          </p:nvSpPr>
          <p:spPr>
            <a:xfrm flipH="false" flipV="false" rot="0">
              <a:off x="0" y="0"/>
              <a:ext cx="1011270" cy="203134"/>
            </a:xfrm>
            <a:custGeom>
              <a:avLst/>
              <a:gdLst/>
              <a:ahLst/>
              <a:cxnLst/>
              <a:rect r="r" b="b" t="t" l="l"/>
              <a:pathLst>
                <a:path h="203134" w="1011270">
                  <a:moveTo>
                    <a:pt x="101567" y="0"/>
                  </a:moveTo>
                  <a:lnTo>
                    <a:pt x="909703" y="0"/>
                  </a:lnTo>
                  <a:cubicBezTo>
                    <a:pt x="936640" y="0"/>
                    <a:pt x="962474" y="10701"/>
                    <a:pt x="981522" y="29748"/>
                  </a:cubicBezTo>
                  <a:cubicBezTo>
                    <a:pt x="1000569" y="48796"/>
                    <a:pt x="1011270" y="74630"/>
                    <a:pt x="1011270" y="101567"/>
                  </a:cubicBezTo>
                  <a:lnTo>
                    <a:pt x="1011270" y="101567"/>
                  </a:lnTo>
                  <a:cubicBezTo>
                    <a:pt x="1011270" y="128504"/>
                    <a:pt x="1000569" y="154338"/>
                    <a:pt x="981522" y="173386"/>
                  </a:cubicBezTo>
                  <a:cubicBezTo>
                    <a:pt x="962474" y="192433"/>
                    <a:pt x="936640" y="203134"/>
                    <a:pt x="909703" y="203134"/>
                  </a:cubicBezTo>
                  <a:lnTo>
                    <a:pt x="101567" y="203134"/>
                  </a:lnTo>
                  <a:cubicBezTo>
                    <a:pt x="74630" y="203134"/>
                    <a:pt x="48796" y="192433"/>
                    <a:pt x="29748" y="173386"/>
                  </a:cubicBezTo>
                  <a:cubicBezTo>
                    <a:pt x="10701" y="154338"/>
                    <a:pt x="0" y="128504"/>
                    <a:pt x="0" y="101567"/>
                  </a:cubicBezTo>
                  <a:lnTo>
                    <a:pt x="0" y="101567"/>
                  </a:lnTo>
                  <a:cubicBezTo>
                    <a:pt x="0" y="74630"/>
                    <a:pt x="10701" y="48796"/>
                    <a:pt x="29748" y="29748"/>
                  </a:cubicBezTo>
                  <a:cubicBezTo>
                    <a:pt x="48796" y="10701"/>
                    <a:pt x="74630" y="0"/>
                    <a:pt x="101567" y="0"/>
                  </a:cubicBezTo>
                  <a:close/>
                </a:path>
              </a:pathLst>
            </a:custGeom>
            <a:solidFill>
              <a:srgbClr val="F1F0EC"/>
            </a:solidFill>
          </p:spPr>
        </p:sp>
        <p:sp>
          <p:nvSpPr>
            <p:cNvPr name="TextBox 19" id="19"/>
            <p:cNvSpPr txBox="true"/>
            <p:nvPr/>
          </p:nvSpPr>
          <p:spPr>
            <a:xfrm>
              <a:off x="0" y="0"/>
              <a:ext cx="1011270" cy="203134"/>
            </a:xfrm>
            <a:prstGeom prst="rect">
              <a:avLst/>
            </a:prstGeom>
          </p:spPr>
          <p:txBody>
            <a:bodyPr anchor="ctr" rtlCol="false" tIns="63500" lIns="63500" bIns="63500" rIns="63500"/>
            <a:lstStyle/>
            <a:p>
              <a:pPr algn="ctr">
                <a:lnSpc>
                  <a:spcPts val="2640"/>
                </a:lnSpc>
              </a:pPr>
              <a:r>
                <a:rPr lang="en-US" b="true" sz="2400" spc="38">
                  <a:solidFill>
                    <a:srgbClr val="2D2C2D"/>
                  </a:solidFill>
                  <a:latin typeface="Poppins Bold"/>
                  <a:ea typeface="Poppins Bold"/>
                  <a:cs typeface="Poppins Bold"/>
                  <a:sym typeface="Poppins Bold"/>
                </a:rPr>
                <a:t>ZULKIFLI HASAN</a:t>
              </a:r>
            </a:p>
          </p:txBody>
        </p:sp>
      </p:grpSp>
      <p:sp>
        <p:nvSpPr>
          <p:cNvPr name="TextBox 20" id="20"/>
          <p:cNvSpPr txBox="true"/>
          <p:nvPr/>
        </p:nvSpPr>
        <p:spPr>
          <a:xfrm rot="0">
            <a:off x="15518837" y="-238125"/>
            <a:ext cx="2568592" cy="1944441"/>
          </a:xfrm>
          <a:prstGeom prst="rect">
            <a:avLst/>
          </a:prstGeom>
        </p:spPr>
        <p:txBody>
          <a:bodyPr anchor="t" rtlCol="false" tIns="0" lIns="0" bIns="0" rIns="0">
            <a:spAutoFit/>
          </a:bodyPr>
          <a:lstStyle/>
          <a:p>
            <a:pPr algn="ctr">
              <a:lnSpc>
                <a:spcPts val="15862"/>
              </a:lnSpc>
            </a:pPr>
            <a:r>
              <a:rPr lang="en-US" sz="11330" b="true">
                <a:solidFill>
                  <a:srgbClr val="F6F4F1"/>
                </a:solidFill>
                <a:latin typeface="Montserrat Bold"/>
                <a:ea typeface="Montserrat Bold"/>
                <a:cs typeface="Montserrat Bold"/>
                <a:sym typeface="Montserrat Bold"/>
              </a:rPr>
              <a:t>#01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905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2528728" y="-617183"/>
            <a:ext cx="5975007" cy="5975007"/>
          </a:xfrm>
          <a:custGeom>
            <a:avLst/>
            <a:gdLst/>
            <a:ahLst/>
            <a:cxnLst/>
            <a:rect r="r" b="b" t="t" l="l"/>
            <a:pathLst>
              <a:path h="5975007" w="5975007">
                <a:moveTo>
                  <a:pt x="0" y="0"/>
                </a:moveTo>
                <a:lnTo>
                  <a:pt x="5975007" y="0"/>
                </a:lnTo>
                <a:lnTo>
                  <a:pt x="5975007" y="5975007"/>
                </a:lnTo>
                <a:lnTo>
                  <a:pt x="0" y="5975007"/>
                </a:lnTo>
                <a:lnTo>
                  <a:pt x="0" y="0"/>
                </a:lnTo>
                <a:close/>
              </a:path>
            </a:pathLst>
          </a:custGeom>
          <a:blipFill>
            <a:blip r:embed="rId3"/>
            <a:stretch>
              <a:fillRect l="0" t="0" r="0" b="0"/>
            </a:stretch>
          </a:blipFill>
        </p:spPr>
      </p:sp>
      <p:sp>
        <p:nvSpPr>
          <p:cNvPr name="Freeform 4" id="4"/>
          <p:cNvSpPr/>
          <p:nvPr/>
        </p:nvSpPr>
        <p:spPr>
          <a:xfrm flipH="false" flipV="false" rot="0">
            <a:off x="-2347973" y="2370321"/>
            <a:ext cx="7315200" cy="3447288"/>
          </a:xfrm>
          <a:custGeom>
            <a:avLst/>
            <a:gdLst/>
            <a:ahLst/>
            <a:cxnLst/>
            <a:rect r="r" b="b" t="t" l="l"/>
            <a:pathLst>
              <a:path h="3447288" w="7315200">
                <a:moveTo>
                  <a:pt x="0" y="0"/>
                </a:moveTo>
                <a:lnTo>
                  <a:pt x="7315200" y="0"/>
                </a:lnTo>
                <a:lnTo>
                  <a:pt x="7315200" y="3447288"/>
                </a:lnTo>
                <a:lnTo>
                  <a:pt x="0" y="3447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195573" y="2522721"/>
            <a:ext cx="7315200" cy="3447288"/>
          </a:xfrm>
          <a:custGeom>
            <a:avLst/>
            <a:gdLst/>
            <a:ahLst/>
            <a:cxnLst/>
            <a:rect r="r" b="b" t="t" l="l"/>
            <a:pathLst>
              <a:path h="3447288" w="7315200">
                <a:moveTo>
                  <a:pt x="0" y="0"/>
                </a:moveTo>
                <a:lnTo>
                  <a:pt x="7315200" y="0"/>
                </a:lnTo>
                <a:lnTo>
                  <a:pt x="7315200" y="3447288"/>
                </a:lnTo>
                <a:lnTo>
                  <a:pt x="0" y="3447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984459" y="2544051"/>
            <a:ext cx="7315200" cy="3447288"/>
          </a:xfrm>
          <a:custGeom>
            <a:avLst/>
            <a:gdLst/>
            <a:ahLst/>
            <a:cxnLst/>
            <a:rect r="r" b="b" t="t" l="l"/>
            <a:pathLst>
              <a:path h="3447288" w="7315200">
                <a:moveTo>
                  <a:pt x="0" y="0"/>
                </a:moveTo>
                <a:lnTo>
                  <a:pt x="7315200" y="0"/>
                </a:lnTo>
                <a:lnTo>
                  <a:pt x="7315200" y="3447288"/>
                </a:lnTo>
                <a:lnTo>
                  <a:pt x="0" y="34472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true" flipV="false" rot="0">
            <a:off x="-884715" y="-107857"/>
            <a:ext cx="4336189" cy="4394153"/>
          </a:xfrm>
          <a:custGeom>
            <a:avLst/>
            <a:gdLst/>
            <a:ahLst/>
            <a:cxnLst/>
            <a:rect r="r" b="b" t="t" l="l"/>
            <a:pathLst>
              <a:path h="4394153" w="4336189">
                <a:moveTo>
                  <a:pt x="4336189" y="0"/>
                </a:moveTo>
                <a:lnTo>
                  <a:pt x="0" y="0"/>
                </a:lnTo>
                <a:lnTo>
                  <a:pt x="0" y="4394153"/>
                </a:lnTo>
                <a:lnTo>
                  <a:pt x="4336189" y="4394153"/>
                </a:lnTo>
                <a:lnTo>
                  <a:pt x="4336189" y="0"/>
                </a:lnTo>
                <a:close/>
              </a:path>
            </a:pathLst>
          </a:custGeom>
          <a:blipFill>
            <a:blip r:embed="rId6"/>
            <a:stretch>
              <a:fillRect l="-38255" t="0" r="-13844" b="0"/>
            </a:stretch>
          </a:blipFill>
        </p:spPr>
      </p:sp>
      <p:grpSp>
        <p:nvGrpSpPr>
          <p:cNvPr name="Group 8" id="8"/>
          <p:cNvGrpSpPr/>
          <p:nvPr/>
        </p:nvGrpSpPr>
        <p:grpSpPr>
          <a:xfrm rot="0">
            <a:off x="317056" y="3085686"/>
            <a:ext cx="4976420" cy="1334829"/>
            <a:chOff x="0" y="0"/>
            <a:chExt cx="1564608" cy="419676"/>
          </a:xfrm>
        </p:grpSpPr>
        <p:sp>
          <p:nvSpPr>
            <p:cNvPr name="Freeform 9" id="9"/>
            <p:cNvSpPr/>
            <p:nvPr/>
          </p:nvSpPr>
          <p:spPr>
            <a:xfrm flipH="false" flipV="false" rot="0">
              <a:off x="0" y="0"/>
              <a:ext cx="1564608" cy="419676"/>
            </a:xfrm>
            <a:custGeom>
              <a:avLst/>
              <a:gdLst/>
              <a:ahLst/>
              <a:cxnLst/>
              <a:rect r="r" b="b" t="t" l="l"/>
              <a:pathLst>
                <a:path h="419676" w="1564608">
                  <a:moveTo>
                    <a:pt x="0" y="0"/>
                  </a:moveTo>
                  <a:lnTo>
                    <a:pt x="1564608" y="0"/>
                  </a:lnTo>
                  <a:lnTo>
                    <a:pt x="1564608" y="419676"/>
                  </a:lnTo>
                  <a:lnTo>
                    <a:pt x="0" y="419676"/>
                  </a:lnTo>
                  <a:close/>
                </a:path>
              </a:pathLst>
            </a:custGeom>
            <a:solidFill>
              <a:srgbClr val="107FAA"/>
            </a:solidFill>
          </p:spPr>
        </p:sp>
        <p:sp>
          <p:nvSpPr>
            <p:cNvPr name="TextBox 10" id="10"/>
            <p:cNvSpPr txBox="true"/>
            <p:nvPr/>
          </p:nvSpPr>
          <p:spPr>
            <a:xfrm>
              <a:off x="0" y="76200"/>
              <a:ext cx="1564608" cy="343476"/>
            </a:xfrm>
            <a:prstGeom prst="rect">
              <a:avLst/>
            </a:prstGeom>
          </p:spPr>
          <p:txBody>
            <a:bodyPr anchor="ctr" rtlCol="false" tIns="50800" lIns="50800" bIns="50800" rIns="50800"/>
            <a:lstStyle/>
            <a:p>
              <a:pPr algn="ctr">
                <a:lnSpc>
                  <a:spcPts val="1925"/>
                </a:lnSpc>
              </a:pPr>
            </a:p>
          </p:txBody>
        </p:sp>
      </p:grpSp>
      <p:sp>
        <p:nvSpPr>
          <p:cNvPr name="Freeform 11" id="11"/>
          <p:cNvSpPr/>
          <p:nvPr/>
        </p:nvSpPr>
        <p:spPr>
          <a:xfrm flipH="false" flipV="false" rot="0">
            <a:off x="2946978" y="3697108"/>
            <a:ext cx="573826" cy="207295"/>
          </a:xfrm>
          <a:custGeom>
            <a:avLst/>
            <a:gdLst/>
            <a:ahLst/>
            <a:cxnLst/>
            <a:rect r="r" b="b" t="t" l="l"/>
            <a:pathLst>
              <a:path h="207295" w="573826">
                <a:moveTo>
                  <a:pt x="0" y="0"/>
                </a:moveTo>
                <a:lnTo>
                  <a:pt x="573826" y="0"/>
                </a:lnTo>
                <a:lnTo>
                  <a:pt x="573826" y="207294"/>
                </a:lnTo>
                <a:lnTo>
                  <a:pt x="0" y="2072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pic>
        <p:nvPicPr>
          <p:cNvPr name="Picture 12" id="12"/>
          <p:cNvPicPr>
            <a:picLocks noChangeAspect="true"/>
          </p:cNvPicPr>
          <p:nvPr/>
        </p:nvPicPr>
        <p:blipFill>
          <a:blip r:embed="rId9"/>
          <a:stretch>
            <a:fillRect/>
          </a:stretch>
        </p:blipFill>
        <p:spPr>
          <a:xfrm rot="0">
            <a:off x="4707220" y="2345083"/>
            <a:ext cx="8968154" cy="4367624"/>
          </a:xfrm>
          <a:prstGeom prst="rect">
            <a:avLst/>
          </a:prstGeom>
        </p:spPr>
      </p:pic>
      <p:pic>
        <p:nvPicPr>
          <p:cNvPr name="Picture 13" id="13"/>
          <p:cNvPicPr>
            <a:picLocks noChangeAspect="true"/>
          </p:cNvPicPr>
          <p:nvPr/>
        </p:nvPicPr>
        <p:blipFill>
          <a:blip r:embed="rId10"/>
          <a:stretch>
            <a:fillRect/>
          </a:stretch>
        </p:blipFill>
        <p:spPr>
          <a:xfrm rot="0">
            <a:off x="-3736" y="4661935"/>
            <a:ext cx="5778775" cy="5389455"/>
          </a:xfrm>
          <a:prstGeom prst="rect">
            <a:avLst/>
          </a:prstGeom>
        </p:spPr>
      </p:pic>
      <p:pic>
        <p:nvPicPr>
          <p:cNvPr name="Picture 14" id="14"/>
          <p:cNvPicPr>
            <a:picLocks noChangeAspect="true"/>
          </p:cNvPicPr>
          <p:nvPr/>
        </p:nvPicPr>
        <p:blipFill>
          <a:blip r:embed="rId11"/>
          <a:stretch>
            <a:fillRect/>
          </a:stretch>
        </p:blipFill>
        <p:spPr>
          <a:xfrm rot="0">
            <a:off x="4707220" y="5243993"/>
            <a:ext cx="8968154" cy="5578004"/>
          </a:xfrm>
          <a:prstGeom prst="rect">
            <a:avLst/>
          </a:prstGeom>
        </p:spPr>
      </p:pic>
      <p:sp>
        <p:nvSpPr>
          <p:cNvPr name="Freeform 15" id="15"/>
          <p:cNvSpPr/>
          <p:nvPr/>
        </p:nvSpPr>
        <p:spPr>
          <a:xfrm flipH="false" flipV="false" rot="0">
            <a:off x="13089952" y="3085686"/>
            <a:ext cx="5014564" cy="2570758"/>
          </a:xfrm>
          <a:custGeom>
            <a:avLst/>
            <a:gdLst/>
            <a:ahLst/>
            <a:cxnLst/>
            <a:rect r="r" b="b" t="t" l="l"/>
            <a:pathLst>
              <a:path h="2570758" w="5014564">
                <a:moveTo>
                  <a:pt x="0" y="0"/>
                </a:moveTo>
                <a:lnTo>
                  <a:pt x="5014565" y="0"/>
                </a:lnTo>
                <a:lnTo>
                  <a:pt x="5014565" y="2570757"/>
                </a:lnTo>
                <a:lnTo>
                  <a:pt x="0" y="2570757"/>
                </a:lnTo>
                <a:lnTo>
                  <a:pt x="0" y="0"/>
                </a:lnTo>
                <a:close/>
              </a:path>
            </a:pathLst>
          </a:custGeom>
          <a:blipFill>
            <a:blip r:embed="rId12"/>
            <a:stretch>
              <a:fillRect l="0" t="0" r="0" b="0"/>
            </a:stretch>
          </a:blipFill>
        </p:spPr>
      </p:sp>
      <p:grpSp>
        <p:nvGrpSpPr>
          <p:cNvPr name="Group 16" id="16"/>
          <p:cNvGrpSpPr/>
          <p:nvPr/>
        </p:nvGrpSpPr>
        <p:grpSpPr>
          <a:xfrm rot="0">
            <a:off x="13089952" y="5802706"/>
            <a:ext cx="5042326" cy="4271945"/>
            <a:chOff x="0" y="0"/>
            <a:chExt cx="1923677" cy="1629772"/>
          </a:xfrm>
        </p:grpSpPr>
        <p:sp>
          <p:nvSpPr>
            <p:cNvPr name="Freeform 17" id="17"/>
            <p:cNvSpPr/>
            <p:nvPr/>
          </p:nvSpPr>
          <p:spPr>
            <a:xfrm flipH="false" flipV="false" rot="0">
              <a:off x="0" y="0"/>
              <a:ext cx="1923677" cy="1629772"/>
            </a:xfrm>
            <a:custGeom>
              <a:avLst/>
              <a:gdLst/>
              <a:ahLst/>
              <a:cxnLst/>
              <a:rect r="r" b="b" t="t" l="l"/>
              <a:pathLst>
                <a:path h="1629772" w="1923677">
                  <a:moveTo>
                    <a:pt x="23031" y="0"/>
                  </a:moveTo>
                  <a:lnTo>
                    <a:pt x="1900646" y="0"/>
                  </a:lnTo>
                  <a:cubicBezTo>
                    <a:pt x="1906754" y="0"/>
                    <a:pt x="1912612" y="2426"/>
                    <a:pt x="1916931" y="6746"/>
                  </a:cubicBezTo>
                  <a:cubicBezTo>
                    <a:pt x="1921250" y="11065"/>
                    <a:pt x="1923677" y="16923"/>
                    <a:pt x="1923677" y="23031"/>
                  </a:cubicBezTo>
                  <a:lnTo>
                    <a:pt x="1923677" y="1606741"/>
                  </a:lnTo>
                  <a:cubicBezTo>
                    <a:pt x="1923677" y="1612849"/>
                    <a:pt x="1921250" y="1618707"/>
                    <a:pt x="1916931" y="1623027"/>
                  </a:cubicBezTo>
                  <a:cubicBezTo>
                    <a:pt x="1912612" y="1627346"/>
                    <a:pt x="1906754" y="1629772"/>
                    <a:pt x="1900646" y="1629772"/>
                  </a:cubicBezTo>
                  <a:lnTo>
                    <a:pt x="23031" y="1629772"/>
                  </a:lnTo>
                  <a:cubicBezTo>
                    <a:pt x="16923" y="1629772"/>
                    <a:pt x="11065" y="1627346"/>
                    <a:pt x="6746" y="1623027"/>
                  </a:cubicBezTo>
                  <a:cubicBezTo>
                    <a:pt x="2426" y="1618707"/>
                    <a:pt x="0" y="1612849"/>
                    <a:pt x="0" y="1606741"/>
                  </a:cubicBezTo>
                  <a:lnTo>
                    <a:pt x="0" y="23031"/>
                  </a:lnTo>
                  <a:cubicBezTo>
                    <a:pt x="0" y="16923"/>
                    <a:pt x="2426" y="11065"/>
                    <a:pt x="6746" y="6746"/>
                  </a:cubicBezTo>
                  <a:cubicBezTo>
                    <a:pt x="11065" y="2426"/>
                    <a:pt x="16923" y="0"/>
                    <a:pt x="23031" y="0"/>
                  </a:cubicBezTo>
                  <a:close/>
                </a:path>
              </a:pathLst>
            </a:custGeom>
            <a:solidFill>
              <a:srgbClr val="8F1EAE"/>
            </a:solidFill>
          </p:spPr>
        </p:sp>
        <p:sp>
          <p:nvSpPr>
            <p:cNvPr name="TextBox 18" id="18"/>
            <p:cNvSpPr txBox="true"/>
            <p:nvPr/>
          </p:nvSpPr>
          <p:spPr>
            <a:xfrm>
              <a:off x="0" y="76200"/>
              <a:ext cx="1923677" cy="1553572"/>
            </a:xfrm>
            <a:prstGeom prst="rect">
              <a:avLst/>
            </a:prstGeom>
          </p:spPr>
          <p:txBody>
            <a:bodyPr anchor="ctr" rtlCol="false" tIns="50800" lIns="50800" bIns="50800" rIns="50800"/>
            <a:lstStyle/>
            <a:p>
              <a:pPr algn="ctr">
                <a:lnSpc>
                  <a:spcPts val="1925"/>
                </a:lnSpc>
              </a:pPr>
            </a:p>
          </p:txBody>
        </p:sp>
      </p:grpSp>
      <p:sp>
        <p:nvSpPr>
          <p:cNvPr name="Freeform 19" id="19"/>
          <p:cNvSpPr/>
          <p:nvPr/>
        </p:nvSpPr>
        <p:spPr>
          <a:xfrm flipH="false" flipV="false" rot="0">
            <a:off x="653009" y="3285551"/>
            <a:ext cx="553304" cy="553304"/>
          </a:xfrm>
          <a:custGeom>
            <a:avLst/>
            <a:gdLst/>
            <a:ahLst/>
            <a:cxnLst/>
            <a:rect r="r" b="b" t="t" l="l"/>
            <a:pathLst>
              <a:path h="553304" w="553304">
                <a:moveTo>
                  <a:pt x="0" y="0"/>
                </a:moveTo>
                <a:lnTo>
                  <a:pt x="553304" y="0"/>
                </a:lnTo>
                <a:lnTo>
                  <a:pt x="553304" y="553304"/>
                </a:lnTo>
                <a:lnTo>
                  <a:pt x="0" y="553304"/>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0" id="20"/>
          <p:cNvSpPr txBox="true"/>
          <p:nvPr/>
        </p:nvSpPr>
        <p:spPr>
          <a:xfrm rot="0">
            <a:off x="2027489" y="434577"/>
            <a:ext cx="10426820" cy="2116637"/>
          </a:xfrm>
          <a:prstGeom prst="rect">
            <a:avLst/>
          </a:prstGeom>
        </p:spPr>
        <p:txBody>
          <a:bodyPr anchor="t" rtlCol="false" tIns="0" lIns="0" bIns="0" rIns="0">
            <a:spAutoFit/>
          </a:bodyPr>
          <a:lstStyle/>
          <a:p>
            <a:pPr algn="l">
              <a:lnSpc>
                <a:spcPts val="8147"/>
              </a:lnSpc>
            </a:pPr>
            <a:r>
              <a:rPr lang="en-US" sz="6678" b="true">
                <a:solidFill>
                  <a:srgbClr val="F6F4F1"/>
                </a:solidFill>
                <a:latin typeface="Poppins Bold"/>
                <a:ea typeface="Poppins Bold"/>
                <a:cs typeface="Poppins Bold"/>
                <a:sym typeface="Poppins Bold"/>
              </a:rPr>
              <a:t>SENTIMEN PUBLIK TERHADAP PEJABAT</a:t>
            </a:r>
          </a:p>
        </p:txBody>
      </p:sp>
      <p:sp>
        <p:nvSpPr>
          <p:cNvPr name="TextBox 21" id="21"/>
          <p:cNvSpPr txBox="true"/>
          <p:nvPr/>
        </p:nvSpPr>
        <p:spPr>
          <a:xfrm rot="0">
            <a:off x="586102" y="3819805"/>
            <a:ext cx="687118"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Tiktok</a:t>
            </a:r>
          </a:p>
        </p:txBody>
      </p:sp>
      <p:sp>
        <p:nvSpPr>
          <p:cNvPr name="TextBox 22" id="22"/>
          <p:cNvSpPr txBox="true"/>
          <p:nvPr/>
        </p:nvSpPr>
        <p:spPr>
          <a:xfrm rot="0">
            <a:off x="1886907" y="3584622"/>
            <a:ext cx="893824"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1529</a:t>
            </a:r>
          </a:p>
        </p:txBody>
      </p:sp>
      <p:sp>
        <p:nvSpPr>
          <p:cNvPr name="TextBox 23" id="23"/>
          <p:cNvSpPr txBox="true"/>
          <p:nvPr/>
        </p:nvSpPr>
        <p:spPr>
          <a:xfrm rot="0">
            <a:off x="3835716" y="3584622"/>
            <a:ext cx="729840"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989</a:t>
            </a:r>
          </a:p>
        </p:txBody>
      </p:sp>
      <p:sp>
        <p:nvSpPr>
          <p:cNvPr name="TextBox 24" id="24"/>
          <p:cNvSpPr txBox="true"/>
          <p:nvPr/>
        </p:nvSpPr>
        <p:spPr>
          <a:xfrm rot="0">
            <a:off x="1766728" y="3326155"/>
            <a:ext cx="1153234"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Awal</a:t>
            </a:r>
          </a:p>
        </p:txBody>
      </p:sp>
      <p:sp>
        <p:nvSpPr>
          <p:cNvPr name="TextBox 25" id="25"/>
          <p:cNvSpPr txBox="true"/>
          <p:nvPr/>
        </p:nvSpPr>
        <p:spPr>
          <a:xfrm rot="0">
            <a:off x="3613399" y="3304398"/>
            <a:ext cx="1193525"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Akhir</a:t>
            </a:r>
          </a:p>
        </p:txBody>
      </p:sp>
      <p:sp>
        <p:nvSpPr>
          <p:cNvPr name="TextBox 26" id="26"/>
          <p:cNvSpPr txBox="true"/>
          <p:nvPr/>
        </p:nvSpPr>
        <p:spPr>
          <a:xfrm rot="0">
            <a:off x="10942542" y="203846"/>
            <a:ext cx="4608654" cy="1327150"/>
          </a:xfrm>
          <a:prstGeom prst="rect">
            <a:avLst/>
          </a:prstGeom>
        </p:spPr>
        <p:txBody>
          <a:bodyPr anchor="t" rtlCol="false" tIns="0" lIns="0" bIns="0" rIns="0">
            <a:spAutoFit/>
          </a:bodyPr>
          <a:lstStyle/>
          <a:p>
            <a:pPr algn="ctr">
              <a:lnSpc>
                <a:spcPts val="3500"/>
              </a:lnSpc>
              <a:spcBef>
                <a:spcPct val="0"/>
              </a:spcBef>
            </a:pPr>
            <a:r>
              <a:rPr lang="en-US" sz="2500">
                <a:solidFill>
                  <a:srgbClr val="F6F4F1"/>
                </a:solidFill>
                <a:latin typeface="Poppins"/>
                <a:ea typeface="Poppins"/>
                <a:cs typeface="Poppins"/>
                <a:sym typeface="Poppins"/>
              </a:rPr>
              <a:t>(28 - 29 Nov 2025) : </a:t>
            </a:r>
          </a:p>
          <a:p>
            <a:pPr algn="ctr">
              <a:lnSpc>
                <a:spcPts val="3500"/>
              </a:lnSpc>
              <a:spcBef>
                <a:spcPct val="0"/>
              </a:spcBef>
            </a:pPr>
            <a:r>
              <a:rPr lang="en-US" sz="2500">
                <a:solidFill>
                  <a:srgbClr val="F6F4F1"/>
                </a:solidFill>
                <a:latin typeface="Poppins"/>
                <a:ea typeface="Poppins"/>
                <a:cs typeface="Poppins"/>
                <a:sym typeface="Poppins"/>
              </a:rPr>
              <a:t>Video lama zulkifli hasan Bersama ford viral Kembali </a:t>
            </a:r>
          </a:p>
        </p:txBody>
      </p:sp>
      <p:sp>
        <p:nvSpPr>
          <p:cNvPr name="TextBox 27" id="27"/>
          <p:cNvSpPr txBox="true"/>
          <p:nvPr/>
        </p:nvSpPr>
        <p:spPr>
          <a:xfrm rot="0">
            <a:off x="15982002" y="190143"/>
            <a:ext cx="201463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#01</a:t>
            </a:r>
          </a:p>
        </p:txBody>
      </p:sp>
      <p:sp>
        <p:nvSpPr>
          <p:cNvPr name="TextBox 28" id="28"/>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
        <p:nvSpPr>
          <p:cNvPr name="TextBox 29" id="29"/>
          <p:cNvSpPr txBox="true"/>
          <p:nvPr/>
        </p:nvSpPr>
        <p:spPr>
          <a:xfrm rot="0">
            <a:off x="13051852" y="5893809"/>
            <a:ext cx="4933529" cy="3823970"/>
          </a:xfrm>
          <a:prstGeom prst="rect">
            <a:avLst/>
          </a:prstGeom>
        </p:spPr>
        <p:txBody>
          <a:bodyPr anchor="t" rtlCol="false" tIns="0" lIns="0" bIns="0" rIns="0">
            <a:spAutoFit/>
          </a:bodyPr>
          <a:lstStyle/>
          <a:p>
            <a:pPr algn="just" marL="367031" indent="-183515" lvl="1">
              <a:lnSpc>
                <a:spcPts val="2380"/>
              </a:lnSpc>
              <a:buFont typeface="Arial"/>
              <a:buChar char="•"/>
            </a:pPr>
            <a:r>
              <a:rPr lang="en-US" sz="1700">
                <a:solidFill>
                  <a:srgbClr val="FFFFFF"/>
                </a:solidFill>
                <a:latin typeface="Montserrat"/>
                <a:ea typeface="Montserrat"/>
                <a:cs typeface="Montserrat"/>
                <a:sym typeface="Montserrat"/>
              </a:rPr>
              <a:t>Diketahui video tiktok yang mengupload ulang tentang  dokumentasi harrison ford dengan zulkifli hasan dimulai tgl 28 Nov - 1 Des dan saya mengambil sample komentar dari 2 video tiktok dengan views tertinggi yang diupload oleh @feovles &amp; @sitisulastri </a:t>
            </a:r>
          </a:p>
          <a:p>
            <a:pPr algn="just" marL="367031" indent="-183515" lvl="1">
              <a:lnSpc>
                <a:spcPts val="2380"/>
              </a:lnSpc>
              <a:buFont typeface="Arial"/>
              <a:buChar char="•"/>
            </a:pPr>
            <a:r>
              <a:rPr lang="en-US" sz="1700">
                <a:solidFill>
                  <a:srgbClr val="FFFFFF"/>
                </a:solidFill>
                <a:latin typeface="Montserrat"/>
                <a:ea typeface="Montserrat"/>
                <a:cs typeface="Montserrat"/>
                <a:sym typeface="Montserrat"/>
              </a:rPr>
              <a:t>Netral &gt; Negatif &gt; Positif  artinya, publik lebih banyak “melihat” atau “mengomentari” daripada “mendukung” atau “mengecam”. Tapi sentimen negatif cukup kuat, terutama terhadap figur politik.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3549483" y="759722"/>
            <a:ext cx="10815050" cy="743937"/>
            <a:chOff x="0" y="0"/>
            <a:chExt cx="2848408" cy="195934"/>
          </a:xfrm>
        </p:grpSpPr>
        <p:sp>
          <p:nvSpPr>
            <p:cNvPr name="Freeform 4" id="4"/>
            <p:cNvSpPr/>
            <p:nvPr/>
          </p:nvSpPr>
          <p:spPr>
            <a:xfrm flipH="false" flipV="false" rot="0">
              <a:off x="0" y="0"/>
              <a:ext cx="2848408" cy="195934"/>
            </a:xfrm>
            <a:custGeom>
              <a:avLst/>
              <a:gdLst/>
              <a:ahLst/>
              <a:cxnLst/>
              <a:rect r="r" b="b" t="t" l="l"/>
              <a:pathLst>
                <a:path h="195934" w="2848408">
                  <a:moveTo>
                    <a:pt x="36508" y="0"/>
                  </a:moveTo>
                  <a:lnTo>
                    <a:pt x="2811900" y="0"/>
                  </a:lnTo>
                  <a:cubicBezTo>
                    <a:pt x="2821583" y="0"/>
                    <a:pt x="2830869" y="3846"/>
                    <a:pt x="2837715" y="10693"/>
                  </a:cubicBezTo>
                  <a:cubicBezTo>
                    <a:pt x="2844562" y="17540"/>
                    <a:pt x="2848408" y="26826"/>
                    <a:pt x="2848408" y="36508"/>
                  </a:cubicBezTo>
                  <a:lnTo>
                    <a:pt x="2848408" y="159426"/>
                  </a:lnTo>
                  <a:cubicBezTo>
                    <a:pt x="2848408" y="169108"/>
                    <a:pt x="2844562" y="178394"/>
                    <a:pt x="2837715" y="185241"/>
                  </a:cubicBezTo>
                  <a:cubicBezTo>
                    <a:pt x="2830869" y="192088"/>
                    <a:pt x="2821583" y="195934"/>
                    <a:pt x="2811900" y="195934"/>
                  </a:cubicBezTo>
                  <a:lnTo>
                    <a:pt x="36508" y="195934"/>
                  </a:lnTo>
                  <a:cubicBezTo>
                    <a:pt x="26826" y="195934"/>
                    <a:pt x="17540" y="192088"/>
                    <a:pt x="10693" y="185241"/>
                  </a:cubicBezTo>
                  <a:cubicBezTo>
                    <a:pt x="3846" y="178394"/>
                    <a:pt x="0" y="169108"/>
                    <a:pt x="0" y="159426"/>
                  </a:cubicBezTo>
                  <a:lnTo>
                    <a:pt x="0" y="36508"/>
                  </a:lnTo>
                  <a:cubicBezTo>
                    <a:pt x="0" y="26826"/>
                    <a:pt x="3846" y="17540"/>
                    <a:pt x="10693" y="10693"/>
                  </a:cubicBezTo>
                  <a:cubicBezTo>
                    <a:pt x="17540" y="3846"/>
                    <a:pt x="26826" y="0"/>
                    <a:pt x="36508" y="0"/>
                  </a:cubicBezTo>
                  <a:close/>
                </a:path>
              </a:pathLst>
            </a:custGeom>
            <a:solidFill>
              <a:srgbClr val="F1F0EC"/>
            </a:solidFill>
          </p:spPr>
        </p:sp>
        <p:sp>
          <p:nvSpPr>
            <p:cNvPr name="TextBox 5" id="5"/>
            <p:cNvSpPr txBox="true"/>
            <p:nvPr/>
          </p:nvSpPr>
          <p:spPr>
            <a:xfrm>
              <a:off x="0" y="76200"/>
              <a:ext cx="2848408" cy="119734"/>
            </a:xfrm>
            <a:prstGeom prst="rect">
              <a:avLst/>
            </a:prstGeom>
          </p:spPr>
          <p:txBody>
            <a:bodyPr anchor="ctr" rtlCol="false" tIns="50800" lIns="50800" bIns="50800" rIns="50800"/>
            <a:lstStyle/>
            <a:p>
              <a:pPr algn="ctr">
                <a:lnSpc>
                  <a:spcPts val="1848"/>
                </a:lnSpc>
              </a:pPr>
              <a:r>
                <a:rPr lang="en-US" b="true" sz="2400" spc="-12">
                  <a:solidFill>
                    <a:srgbClr val="191919"/>
                  </a:solidFill>
                  <a:latin typeface="Poppins Semi-Bold"/>
                  <a:ea typeface="Poppins Semi-Bold"/>
                  <a:cs typeface="Poppins Semi-Bold"/>
                  <a:sym typeface="Poppins Semi-Bold"/>
                </a:rPr>
                <a:t>Sentimen Publik Terhadap Zulkifli Hasan Dalam Bentuk World Cloud</a:t>
              </a:r>
            </a:p>
          </p:txBody>
        </p:sp>
      </p:grpSp>
      <p:grpSp>
        <p:nvGrpSpPr>
          <p:cNvPr name="Group 6" id="6"/>
          <p:cNvGrpSpPr/>
          <p:nvPr/>
        </p:nvGrpSpPr>
        <p:grpSpPr>
          <a:xfrm rot="0">
            <a:off x="380978" y="6188986"/>
            <a:ext cx="5482717" cy="3835830"/>
            <a:chOff x="0" y="0"/>
            <a:chExt cx="2091688" cy="1463392"/>
          </a:xfrm>
        </p:grpSpPr>
        <p:sp>
          <p:nvSpPr>
            <p:cNvPr name="Freeform 7" id="7"/>
            <p:cNvSpPr/>
            <p:nvPr/>
          </p:nvSpPr>
          <p:spPr>
            <a:xfrm flipH="false" flipV="false" rot="0">
              <a:off x="0" y="0"/>
              <a:ext cx="2091688" cy="1463392"/>
            </a:xfrm>
            <a:custGeom>
              <a:avLst/>
              <a:gdLst/>
              <a:ahLst/>
              <a:cxnLst/>
              <a:rect r="r" b="b" t="t" l="l"/>
              <a:pathLst>
                <a:path h="1463392" w="2091688">
                  <a:moveTo>
                    <a:pt x="21181" y="0"/>
                  </a:moveTo>
                  <a:lnTo>
                    <a:pt x="2070508" y="0"/>
                  </a:lnTo>
                  <a:cubicBezTo>
                    <a:pt x="2076125" y="0"/>
                    <a:pt x="2081512" y="2232"/>
                    <a:pt x="2085485" y="6204"/>
                  </a:cubicBezTo>
                  <a:cubicBezTo>
                    <a:pt x="2089457" y="10176"/>
                    <a:pt x="2091688" y="15563"/>
                    <a:pt x="2091688" y="21181"/>
                  </a:cubicBezTo>
                  <a:lnTo>
                    <a:pt x="2091688" y="1442211"/>
                  </a:lnTo>
                  <a:cubicBezTo>
                    <a:pt x="2091688" y="1447828"/>
                    <a:pt x="2089457" y="1453216"/>
                    <a:pt x="2085485" y="1457188"/>
                  </a:cubicBezTo>
                  <a:cubicBezTo>
                    <a:pt x="2081512" y="1461160"/>
                    <a:pt x="2076125" y="1463392"/>
                    <a:pt x="2070508" y="1463392"/>
                  </a:cubicBezTo>
                  <a:lnTo>
                    <a:pt x="21181" y="1463392"/>
                  </a:lnTo>
                  <a:cubicBezTo>
                    <a:pt x="15563" y="1463392"/>
                    <a:pt x="10176" y="1461160"/>
                    <a:pt x="6204" y="1457188"/>
                  </a:cubicBezTo>
                  <a:cubicBezTo>
                    <a:pt x="2232" y="1453216"/>
                    <a:pt x="0" y="1447828"/>
                    <a:pt x="0" y="1442211"/>
                  </a:cubicBezTo>
                  <a:lnTo>
                    <a:pt x="0" y="21181"/>
                  </a:lnTo>
                  <a:cubicBezTo>
                    <a:pt x="0" y="15563"/>
                    <a:pt x="2232" y="10176"/>
                    <a:pt x="6204" y="6204"/>
                  </a:cubicBezTo>
                  <a:cubicBezTo>
                    <a:pt x="10176" y="2232"/>
                    <a:pt x="15563" y="0"/>
                    <a:pt x="21181" y="0"/>
                  </a:cubicBezTo>
                  <a:close/>
                </a:path>
              </a:pathLst>
            </a:custGeom>
            <a:solidFill>
              <a:srgbClr val="8F1EAE"/>
            </a:solidFill>
          </p:spPr>
        </p:sp>
        <p:sp>
          <p:nvSpPr>
            <p:cNvPr name="TextBox 8" id="8"/>
            <p:cNvSpPr txBox="true"/>
            <p:nvPr/>
          </p:nvSpPr>
          <p:spPr>
            <a:xfrm>
              <a:off x="0" y="76200"/>
              <a:ext cx="2091688" cy="1387192"/>
            </a:xfrm>
            <a:prstGeom prst="rect">
              <a:avLst/>
            </a:prstGeom>
          </p:spPr>
          <p:txBody>
            <a:bodyPr anchor="ctr" rtlCol="false" tIns="50800" lIns="50800" bIns="50800" rIns="50800"/>
            <a:lstStyle/>
            <a:p>
              <a:pPr algn="ctr">
                <a:lnSpc>
                  <a:spcPts val="1925"/>
                </a:lnSpc>
              </a:pPr>
            </a:p>
          </p:txBody>
        </p:sp>
      </p:grpSp>
      <p:grpSp>
        <p:nvGrpSpPr>
          <p:cNvPr name="Group 9" id="9"/>
          <p:cNvGrpSpPr/>
          <p:nvPr/>
        </p:nvGrpSpPr>
        <p:grpSpPr>
          <a:xfrm rot="0">
            <a:off x="12741170" y="2303759"/>
            <a:ext cx="4792303" cy="668124"/>
            <a:chOff x="0" y="0"/>
            <a:chExt cx="1220438" cy="170149"/>
          </a:xfrm>
        </p:grpSpPr>
        <p:sp>
          <p:nvSpPr>
            <p:cNvPr name="Freeform 10" id="10"/>
            <p:cNvSpPr/>
            <p:nvPr/>
          </p:nvSpPr>
          <p:spPr>
            <a:xfrm flipH="false" flipV="false" rot="0">
              <a:off x="0" y="0"/>
              <a:ext cx="1220438" cy="170149"/>
            </a:xfrm>
            <a:custGeom>
              <a:avLst/>
              <a:gdLst/>
              <a:ahLst/>
              <a:cxnLst/>
              <a:rect r="r" b="b" t="t" l="l"/>
              <a:pathLst>
                <a:path h="170149" w="1220438">
                  <a:moveTo>
                    <a:pt x="82390" y="0"/>
                  </a:moveTo>
                  <a:lnTo>
                    <a:pt x="1138048" y="0"/>
                  </a:lnTo>
                  <a:cubicBezTo>
                    <a:pt x="1183551" y="0"/>
                    <a:pt x="1220438" y="36887"/>
                    <a:pt x="1220438" y="82390"/>
                  </a:cubicBezTo>
                  <a:lnTo>
                    <a:pt x="1220438" y="87759"/>
                  </a:lnTo>
                  <a:cubicBezTo>
                    <a:pt x="1220438" y="109610"/>
                    <a:pt x="1211758" y="130566"/>
                    <a:pt x="1196307" y="146017"/>
                  </a:cubicBezTo>
                  <a:cubicBezTo>
                    <a:pt x="1180856" y="161468"/>
                    <a:pt x="1159900" y="170149"/>
                    <a:pt x="1138048" y="170149"/>
                  </a:cubicBezTo>
                  <a:lnTo>
                    <a:pt x="82390" y="170149"/>
                  </a:lnTo>
                  <a:cubicBezTo>
                    <a:pt x="36887" y="170149"/>
                    <a:pt x="0" y="133261"/>
                    <a:pt x="0" y="87759"/>
                  </a:cubicBezTo>
                  <a:lnTo>
                    <a:pt x="0" y="82390"/>
                  </a:lnTo>
                  <a:cubicBezTo>
                    <a:pt x="0" y="36887"/>
                    <a:pt x="36887" y="0"/>
                    <a:pt x="82390" y="0"/>
                  </a:cubicBezTo>
                  <a:close/>
                </a:path>
              </a:pathLst>
            </a:custGeom>
            <a:solidFill>
              <a:srgbClr val="F6F4F1"/>
            </a:solidFill>
          </p:spPr>
        </p:sp>
        <p:sp>
          <p:nvSpPr>
            <p:cNvPr name="TextBox 11" id="11"/>
            <p:cNvSpPr txBox="true"/>
            <p:nvPr/>
          </p:nvSpPr>
          <p:spPr>
            <a:xfrm>
              <a:off x="0" y="76200"/>
              <a:ext cx="1220438"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(Netral)</a:t>
              </a:r>
            </a:p>
          </p:txBody>
        </p:sp>
      </p:grpSp>
      <p:grpSp>
        <p:nvGrpSpPr>
          <p:cNvPr name="Group 12" id="12"/>
          <p:cNvGrpSpPr/>
          <p:nvPr/>
        </p:nvGrpSpPr>
        <p:grpSpPr>
          <a:xfrm rot="0">
            <a:off x="-2528728" y="-617183"/>
            <a:ext cx="7859468" cy="6608522"/>
            <a:chOff x="0" y="0"/>
            <a:chExt cx="10479291" cy="8811363"/>
          </a:xfrm>
        </p:grpSpPr>
        <p:sp>
          <p:nvSpPr>
            <p:cNvPr name="Freeform 13" id="13"/>
            <p:cNvSpPr/>
            <p:nvPr/>
          </p:nvSpPr>
          <p:spPr>
            <a:xfrm flipH="false" flipV="false" rot="0">
              <a:off x="0"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14" id="14"/>
            <p:cNvSpPr/>
            <p:nvPr/>
          </p:nvSpPr>
          <p:spPr>
            <a:xfrm flipH="false" flipV="false" rot="0">
              <a:off x="241006" y="39833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444206" y="41865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725691" y="421497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0">
              <a:off x="2192016" y="679102"/>
              <a:ext cx="5781586" cy="5858870"/>
            </a:xfrm>
            <a:custGeom>
              <a:avLst/>
              <a:gdLst/>
              <a:ahLst/>
              <a:cxnLst/>
              <a:rect r="r" b="b" t="t" l="l"/>
              <a:pathLst>
                <a:path h="5858870" w="5781586">
                  <a:moveTo>
                    <a:pt x="5781586" y="0"/>
                  </a:moveTo>
                  <a:lnTo>
                    <a:pt x="0" y="0"/>
                  </a:lnTo>
                  <a:lnTo>
                    <a:pt x="0" y="5858870"/>
                  </a:lnTo>
                  <a:lnTo>
                    <a:pt x="5781586" y="5858870"/>
                  </a:lnTo>
                  <a:lnTo>
                    <a:pt x="5781586" y="0"/>
                  </a:lnTo>
                  <a:close/>
                </a:path>
              </a:pathLst>
            </a:custGeom>
            <a:blipFill>
              <a:blip r:embed="rId6"/>
              <a:stretch>
                <a:fillRect l="-38255" t="0" r="-13844" b="0"/>
              </a:stretch>
            </a:blipFill>
          </p:spPr>
        </p:sp>
      </p:grpSp>
      <p:grpSp>
        <p:nvGrpSpPr>
          <p:cNvPr name="Group 18" id="18"/>
          <p:cNvGrpSpPr/>
          <p:nvPr/>
        </p:nvGrpSpPr>
        <p:grpSpPr>
          <a:xfrm rot="0">
            <a:off x="631097" y="2303759"/>
            <a:ext cx="4947678" cy="668124"/>
            <a:chOff x="0" y="0"/>
            <a:chExt cx="1260007" cy="170149"/>
          </a:xfrm>
        </p:grpSpPr>
        <p:sp>
          <p:nvSpPr>
            <p:cNvPr name="Freeform 19" id="19"/>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20" id="20"/>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(Positif)</a:t>
              </a:r>
            </a:p>
          </p:txBody>
        </p:sp>
      </p:grpSp>
      <p:grpSp>
        <p:nvGrpSpPr>
          <p:cNvPr name="Group 21" id="21"/>
          <p:cNvGrpSpPr/>
          <p:nvPr/>
        </p:nvGrpSpPr>
        <p:grpSpPr>
          <a:xfrm rot="0">
            <a:off x="6606751" y="2303759"/>
            <a:ext cx="4995828" cy="668124"/>
            <a:chOff x="0" y="0"/>
            <a:chExt cx="1272269" cy="170149"/>
          </a:xfrm>
        </p:grpSpPr>
        <p:sp>
          <p:nvSpPr>
            <p:cNvPr name="Freeform 22" id="22"/>
            <p:cNvSpPr/>
            <p:nvPr/>
          </p:nvSpPr>
          <p:spPr>
            <a:xfrm flipH="false" flipV="false" rot="0">
              <a:off x="0" y="0"/>
              <a:ext cx="1272269" cy="170149"/>
            </a:xfrm>
            <a:custGeom>
              <a:avLst/>
              <a:gdLst/>
              <a:ahLst/>
              <a:cxnLst/>
              <a:rect r="r" b="b" t="t" l="l"/>
              <a:pathLst>
                <a:path h="170149" w="1272269">
                  <a:moveTo>
                    <a:pt x="79034" y="0"/>
                  </a:moveTo>
                  <a:lnTo>
                    <a:pt x="1193236" y="0"/>
                  </a:lnTo>
                  <a:cubicBezTo>
                    <a:pt x="1236885" y="0"/>
                    <a:pt x="1272269" y="35385"/>
                    <a:pt x="1272269" y="79034"/>
                  </a:cubicBezTo>
                  <a:lnTo>
                    <a:pt x="1272269" y="91115"/>
                  </a:lnTo>
                  <a:cubicBezTo>
                    <a:pt x="1272269" y="134764"/>
                    <a:pt x="1236885" y="170149"/>
                    <a:pt x="1193236" y="170149"/>
                  </a:cubicBezTo>
                  <a:lnTo>
                    <a:pt x="79034" y="170149"/>
                  </a:lnTo>
                  <a:cubicBezTo>
                    <a:pt x="35385" y="170149"/>
                    <a:pt x="0" y="134764"/>
                    <a:pt x="0" y="91115"/>
                  </a:cubicBezTo>
                  <a:lnTo>
                    <a:pt x="0" y="79034"/>
                  </a:lnTo>
                  <a:cubicBezTo>
                    <a:pt x="0" y="35385"/>
                    <a:pt x="35385" y="0"/>
                    <a:pt x="79034" y="0"/>
                  </a:cubicBezTo>
                  <a:close/>
                </a:path>
              </a:pathLst>
            </a:custGeom>
            <a:solidFill>
              <a:srgbClr val="F6F4F1"/>
            </a:solidFill>
          </p:spPr>
        </p:sp>
        <p:sp>
          <p:nvSpPr>
            <p:cNvPr name="TextBox 23" id="23"/>
            <p:cNvSpPr txBox="true"/>
            <p:nvPr/>
          </p:nvSpPr>
          <p:spPr>
            <a:xfrm>
              <a:off x="0" y="76200"/>
              <a:ext cx="1272269"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(Negatif)</a:t>
              </a:r>
            </a:p>
          </p:txBody>
        </p:sp>
      </p:grpSp>
      <p:grpSp>
        <p:nvGrpSpPr>
          <p:cNvPr name="Group 24" id="24"/>
          <p:cNvGrpSpPr/>
          <p:nvPr/>
        </p:nvGrpSpPr>
        <p:grpSpPr>
          <a:xfrm rot="0">
            <a:off x="6449570" y="6188986"/>
            <a:ext cx="5567805" cy="3835830"/>
            <a:chOff x="0" y="0"/>
            <a:chExt cx="2124150" cy="1463392"/>
          </a:xfrm>
        </p:grpSpPr>
        <p:sp>
          <p:nvSpPr>
            <p:cNvPr name="Freeform 25" id="25"/>
            <p:cNvSpPr/>
            <p:nvPr/>
          </p:nvSpPr>
          <p:spPr>
            <a:xfrm flipH="false" flipV="false" rot="0">
              <a:off x="0" y="0"/>
              <a:ext cx="2124150" cy="1463392"/>
            </a:xfrm>
            <a:custGeom>
              <a:avLst/>
              <a:gdLst/>
              <a:ahLst/>
              <a:cxnLst/>
              <a:rect r="r" b="b" t="t" l="l"/>
              <a:pathLst>
                <a:path h="1463392" w="2124150">
                  <a:moveTo>
                    <a:pt x="20857" y="0"/>
                  </a:moveTo>
                  <a:lnTo>
                    <a:pt x="2103293" y="0"/>
                  </a:lnTo>
                  <a:cubicBezTo>
                    <a:pt x="2114812" y="0"/>
                    <a:pt x="2124150" y="9338"/>
                    <a:pt x="2124150" y="20857"/>
                  </a:cubicBezTo>
                  <a:lnTo>
                    <a:pt x="2124150" y="1442534"/>
                  </a:lnTo>
                  <a:cubicBezTo>
                    <a:pt x="2124150" y="1454053"/>
                    <a:pt x="2114812" y="1463392"/>
                    <a:pt x="2103293" y="1463392"/>
                  </a:cubicBezTo>
                  <a:lnTo>
                    <a:pt x="20857" y="1463392"/>
                  </a:lnTo>
                  <a:cubicBezTo>
                    <a:pt x="9338" y="1463392"/>
                    <a:pt x="0" y="1454053"/>
                    <a:pt x="0" y="1442534"/>
                  </a:cubicBezTo>
                  <a:lnTo>
                    <a:pt x="0" y="20857"/>
                  </a:lnTo>
                  <a:cubicBezTo>
                    <a:pt x="0" y="9338"/>
                    <a:pt x="9338" y="0"/>
                    <a:pt x="20857" y="0"/>
                  </a:cubicBezTo>
                  <a:close/>
                </a:path>
              </a:pathLst>
            </a:custGeom>
            <a:solidFill>
              <a:srgbClr val="8F1EAE"/>
            </a:solidFill>
          </p:spPr>
        </p:sp>
        <p:sp>
          <p:nvSpPr>
            <p:cNvPr name="TextBox 26" id="26"/>
            <p:cNvSpPr txBox="true"/>
            <p:nvPr/>
          </p:nvSpPr>
          <p:spPr>
            <a:xfrm>
              <a:off x="0" y="76200"/>
              <a:ext cx="2124150" cy="1387192"/>
            </a:xfrm>
            <a:prstGeom prst="rect">
              <a:avLst/>
            </a:prstGeom>
          </p:spPr>
          <p:txBody>
            <a:bodyPr anchor="ctr" rtlCol="false" tIns="50800" lIns="50800" bIns="50800" rIns="50800"/>
            <a:lstStyle/>
            <a:p>
              <a:pPr algn="ctr">
                <a:lnSpc>
                  <a:spcPts val="1925"/>
                </a:lnSpc>
              </a:pPr>
            </a:p>
          </p:txBody>
        </p:sp>
      </p:grpSp>
      <p:grpSp>
        <p:nvGrpSpPr>
          <p:cNvPr name="Group 27" id="27"/>
          <p:cNvGrpSpPr/>
          <p:nvPr/>
        </p:nvGrpSpPr>
        <p:grpSpPr>
          <a:xfrm rot="0">
            <a:off x="12488530" y="6188986"/>
            <a:ext cx="5549311" cy="3835830"/>
            <a:chOff x="0" y="0"/>
            <a:chExt cx="2117094" cy="1463392"/>
          </a:xfrm>
        </p:grpSpPr>
        <p:sp>
          <p:nvSpPr>
            <p:cNvPr name="Freeform 28" id="28"/>
            <p:cNvSpPr/>
            <p:nvPr/>
          </p:nvSpPr>
          <p:spPr>
            <a:xfrm flipH="false" flipV="false" rot="0">
              <a:off x="0" y="0"/>
              <a:ext cx="2117094" cy="1463392"/>
            </a:xfrm>
            <a:custGeom>
              <a:avLst/>
              <a:gdLst/>
              <a:ahLst/>
              <a:cxnLst/>
              <a:rect r="r" b="b" t="t" l="l"/>
              <a:pathLst>
                <a:path h="1463392" w="2117094">
                  <a:moveTo>
                    <a:pt x="20927" y="0"/>
                  </a:moveTo>
                  <a:lnTo>
                    <a:pt x="2096168" y="0"/>
                  </a:lnTo>
                  <a:cubicBezTo>
                    <a:pt x="2101718" y="0"/>
                    <a:pt x="2107041" y="2205"/>
                    <a:pt x="2110965" y="6129"/>
                  </a:cubicBezTo>
                  <a:cubicBezTo>
                    <a:pt x="2114890" y="10054"/>
                    <a:pt x="2117094" y="15377"/>
                    <a:pt x="2117094" y="20927"/>
                  </a:cubicBezTo>
                  <a:lnTo>
                    <a:pt x="2117094" y="1442465"/>
                  </a:lnTo>
                  <a:cubicBezTo>
                    <a:pt x="2117094" y="1448015"/>
                    <a:pt x="2114890" y="1453338"/>
                    <a:pt x="2110965" y="1457262"/>
                  </a:cubicBezTo>
                  <a:cubicBezTo>
                    <a:pt x="2107041" y="1461187"/>
                    <a:pt x="2101718" y="1463392"/>
                    <a:pt x="2096168" y="1463392"/>
                  </a:cubicBezTo>
                  <a:lnTo>
                    <a:pt x="20927" y="1463392"/>
                  </a:lnTo>
                  <a:cubicBezTo>
                    <a:pt x="15377" y="1463392"/>
                    <a:pt x="10054" y="1461187"/>
                    <a:pt x="6129" y="1457262"/>
                  </a:cubicBezTo>
                  <a:cubicBezTo>
                    <a:pt x="2205" y="1453338"/>
                    <a:pt x="0" y="1448015"/>
                    <a:pt x="0" y="1442465"/>
                  </a:cubicBezTo>
                  <a:lnTo>
                    <a:pt x="0" y="20927"/>
                  </a:lnTo>
                  <a:cubicBezTo>
                    <a:pt x="0" y="15377"/>
                    <a:pt x="2205" y="10054"/>
                    <a:pt x="6129" y="6129"/>
                  </a:cubicBezTo>
                  <a:cubicBezTo>
                    <a:pt x="10054" y="2205"/>
                    <a:pt x="15377" y="0"/>
                    <a:pt x="20927" y="0"/>
                  </a:cubicBezTo>
                  <a:close/>
                </a:path>
              </a:pathLst>
            </a:custGeom>
            <a:solidFill>
              <a:srgbClr val="8F1EAE"/>
            </a:solidFill>
          </p:spPr>
        </p:sp>
        <p:sp>
          <p:nvSpPr>
            <p:cNvPr name="TextBox 29" id="29"/>
            <p:cNvSpPr txBox="true"/>
            <p:nvPr/>
          </p:nvSpPr>
          <p:spPr>
            <a:xfrm>
              <a:off x="0" y="76200"/>
              <a:ext cx="2117094" cy="1387192"/>
            </a:xfrm>
            <a:prstGeom prst="rect">
              <a:avLst/>
            </a:prstGeom>
          </p:spPr>
          <p:txBody>
            <a:bodyPr anchor="ctr" rtlCol="false" tIns="50800" lIns="50800" bIns="50800" rIns="50800"/>
            <a:lstStyle/>
            <a:p>
              <a:pPr algn="ctr">
                <a:lnSpc>
                  <a:spcPts val="1925"/>
                </a:lnSpc>
              </a:pPr>
            </a:p>
          </p:txBody>
        </p:sp>
      </p:grpSp>
      <p:sp>
        <p:nvSpPr>
          <p:cNvPr name="Freeform 30" id="30"/>
          <p:cNvSpPr/>
          <p:nvPr/>
        </p:nvSpPr>
        <p:spPr>
          <a:xfrm flipH="false" flipV="false" rot="0">
            <a:off x="390503" y="3152169"/>
            <a:ext cx="5381792" cy="2922517"/>
          </a:xfrm>
          <a:custGeom>
            <a:avLst/>
            <a:gdLst/>
            <a:ahLst/>
            <a:cxnLst/>
            <a:rect r="r" b="b" t="t" l="l"/>
            <a:pathLst>
              <a:path h="2922517" w="5381792">
                <a:moveTo>
                  <a:pt x="0" y="0"/>
                </a:moveTo>
                <a:lnTo>
                  <a:pt x="5381792" y="0"/>
                </a:lnTo>
                <a:lnTo>
                  <a:pt x="5381792" y="2922517"/>
                </a:lnTo>
                <a:lnTo>
                  <a:pt x="0" y="2922517"/>
                </a:lnTo>
                <a:lnTo>
                  <a:pt x="0" y="0"/>
                </a:lnTo>
                <a:close/>
              </a:path>
            </a:pathLst>
          </a:custGeom>
          <a:blipFill>
            <a:blip r:embed="rId7"/>
            <a:stretch>
              <a:fillRect l="0" t="0" r="0" b="0"/>
            </a:stretch>
          </a:blipFill>
        </p:spPr>
      </p:sp>
      <p:sp>
        <p:nvSpPr>
          <p:cNvPr name="Freeform 31" id="31"/>
          <p:cNvSpPr/>
          <p:nvPr/>
        </p:nvSpPr>
        <p:spPr>
          <a:xfrm flipH="false" flipV="false" rot="0">
            <a:off x="6552101" y="3183086"/>
            <a:ext cx="5324858" cy="2891600"/>
          </a:xfrm>
          <a:custGeom>
            <a:avLst/>
            <a:gdLst/>
            <a:ahLst/>
            <a:cxnLst/>
            <a:rect r="r" b="b" t="t" l="l"/>
            <a:pathLst>
              <a:path h="2891600" w="5324858">
                <a:moveTo>
                  <a:pt x="0" y="0"/>
                </a:moveTo>
                <a:lnTo>
                  <a:pt x="5324858" y="0"/>
                </a:lnTo>
                <a:lnTo>
                  <a:pt x="5324858" y="2891600"/>
                </a:lnTo>
                <a:lnTo>
                  <a:pt x="0" y="2891600"/>
                </a:lnTo>
                <a:lnTo>
                  <a:pt x="0" y="0"/>
                </a:lnTo>
                <a:close/>
              </a:path>
            </a:pathLst>
          </a:custGeom>
          <a:blipFill>
            <a:blip r:embed="rId8"/>
            <a:stretch>
              <a:fillRect l="0" t="0" r="0" b="0"/>
            </a:stretch>
          </a:blipFill>
        </p:spPr>
      </p:sp>
      <p:sp>
        <p:nvSpPr>
          <p:cNvPr name="Freeform 32" id="32"/>
          <p:cNvSpPr/>
          <p:nvPr/>
        </p:nvSpPr>
        <p:spPr>
          <a:xfrm flipH="false" flipV="false" rot="0">
            <a:off x="12600757" y="3183086"/>
            <a:ext cx="5324858" cy="2891600"/>
          </a:xfrm>
          <a:custGeom>
            <a:avLst/>
            <a:gdLst/>
            <a:ahLst/>
            <a:cxnLst/>
            <a:rect r="r" b="b" t="t" l="l"/>
            <a:pathLst>
              <a:path h="2891600" w="5324858">
                <a:moveTo>
                  <a:pt x="0" y="0"/>
                </a:moveTo>
                <a:lnTo>
                  <a:pt x="5324858" y="0"/>
                </a:lnTo>
                <a:lnTo>
                  <a:pt x="5324858" y="2891600"/>
                </a:lnTo>
                <a:lnTo>
                  <a:pt x="0" y="2891600"/>
                </a:lnTo>
                <a:lnTo>
                  <a:pt x="0" y="0"/>
                </a:lnTo>
                <a:close/>
              </a:path>
            </a:pathLst>
          </a:custGeom>
          <a:blipFill>
            <a:blip r:embed="rId9"/>
            <a:stretch>
              <a:fillRect l="0" t="0" r="0" b="0"/>
            </a:stretch>
          </a:blipFill>
        </p:spPr>
      </p:sp>
      <p:sp>
        <p:nvSpPr>
          <p:cNvPr name="TextBox 33" id="33"/>
          <p:cNvSpPr txBox="true"/>
          <p:nvPr/>
        </p:nvSpPr>
        <p:spPr>
          <a:xfrm rot="0">
            <a:off x="520377" y="6279992"/>
            <a:ext cx="5178748" cy="2741170"/>
          </a:xfrm>
          <a:prstGeom prst="rect">
            <a:avLst/>
          </a:prstGeom>
        </p:spPr>
        <p:txBody>
          <a:bodyPr anchor="t" rtlCol="false" tIns="0" lIns="0" bIns="0" rIns="0">
            <a:spAutoFit/>
          </a:bodyPr>
          <a:lstStyle/>
          <a:p>
            <a:pPr algn="just">
              <a:lnSpc>
                <a:spcPts val="2736"/>
              </a:lnSpc>
            </a:pPr>
            <a:r>
              <a:rPr lang="en-US" sz="1954">
                <a:solidFill>
                  <a:srgbClr val="FFFFFF"/>
                </a:solidFill>
                <a:latin typeface="Montserrat"/>
                <a:ea typeface="Montserrat"/>
                <a:cs typeface="Montserrat"/>
                <a:sym typeface="Montserrat"/>
              </a:rPr>
              <a:t>Sentimen positif ini bukan bentuk mendukung sikap pak zulhas, akan tetapi apresiasi terhadap keberanian Harrison Ford yang berani semprot pejabat Indonesia. Kata </a:t>
            </a:r>
            <a:r>
              <a:rPr lang="en-US" sz="1954" b="true">
                <a:solidFill>
                  <a:srgbClr val="FFFFFF"/>
                </a:solidFill>
                <a:latin typeface="Montserrat Bold"/>
                <a:ea typeface="Montserrat Bold"/>
                <a:cs typeface="Montserrat Bold"/>
                <a:sym typeface="Montserrat Bold"/>
              </a:rPr>
              <a:t>HUTAN</a:t>
            </a:r>
            <a:r>
              <a:rPr lang="en-US" sz="1954">
                <a:solidFill>
                  <a:srgbClr val="FFFFFF"/>
                </a:solidFill>
                <a:latin typeface="Montserrat"/>
                <a:ea typeface="Montserrat"/>
                <a:cs typeface="Montserrat"/>
                <a:sym typeface="Montserrat"/>
              </a:rPr>
              <a:t>, </a:t>
            </a:r>
            <a:r>
              <a:rPr lang="en-US" sz="1954" b="true">
                <a:solidFill>
                  <a:srgbClr val="FFFFFF"/>
                </a:solidFill>
                <a:latin typeface="Montserrat Bold"/>
                <a:ea typeface="Montserrat Bold"/>
                <a:cs typeface="Montserrat Bold"/>
                <a:sym typeface="Montserrat Bold"/>
              </a:rPr>
              <a:t>FORD</a:t>
            </a:r>
            <a:r>
              <a:rPr lang="en-US" sz="1954">
                <a:solidFill>
                  <a:srgbClr val="FFFFFF"/>
                </a:solidFill>
                <a:latin typeface="Montserrat"/>
                <a:ea typeface="Montserrat"/>
                <a:cs typeface="Montserrat"/>
                <a:sym typeface="Montserrat"/>
              </a:rPr>
              <a:t>, </a:t>
            </a:r>
            <a:r>
              <a:rPr lang="en-US" sz="1954" b="true">
                <a:solidFill>
                  <a:srgbClr val="FFFFFF"/>
                </a:solidFill>
                <a:latin typeface="Montserrat Bold"/>
                <a:ea typeface="Montserrat Bold"/>
                <a:cs typeface="Montserrat Bold"/>
                <a:sym typeface="Montserrat Bold"/>
              </a:rPr>
              <a:t>BANGET</a:t>
            </a:r>
            <a:r>
              <a:rPr lang="en-US" sz="1954">
                <a:solidFill>
                  <a:srgbClr val="FFFFFF"/>
                </a:solidFill>
                <a:latin typeface="Montserrat"/>
                <a:ea typeface="Montserrat"/>
                <a:cs typeface="Montserrat"/>
                <a:sym typeface="Montserrat"/>
              </a:rPr>
              <a:t>, &amp; </a:t>
            </a:r>
            <a:r>
              <a:rPr lang="en-US" sz="1954" b="true">
                <a:solidFill>
                  <a:srgbClr val="FFFFFF"/>
                </a:solidFill>
                <a:latin typeface="Montserrat Bold"/>
                <a:ea typeface="Montserrat Bold"/>
                <a:cs typeface="Montserrat Bold"/>
                <a:sym typeface="Montserrat Bold"/>
              </a:rPr>
              <a:t>AJA</a:t>
            </a:r>
            <a:r>
              <a:rPr lang="en-US" sz="1954">
                <a:solidFill>
                  <a:srgbClr val="FFFFFF"/>
                </a:solidFill>
                <a:latin typeface="Montserrat"/>
                <a:ea typeface="Montserrat"/>
                <a:cs typeface="Montserrat"/>
                <a:sym typeface="Montserrat"/>
              </a:rPr>
              <a:t> banyak muncul sebagai bentuk dukungan terhadap sikap harrison ford</a:t>
            </a:r>
          </a:p>
        </p:txBody>
      </p:sp>
      <p:sp>
        <p:nvSpPr>
          <p:cNvPr name="TextBox 34" id="34"/>
          <p:cNvSpPr txBox="true"/>
          <p:nvPr/>
        </p:nvSpPr>
        <p:spPr>
          <a:xfrm rot="0">
            <a:off x="6586307" y="6236611"/>
            <a:ext cx="5290652" cy="3769870"/>
          </a:xfrm>
          <a:prstGeom prst="rect">
            <a:avLst/>
          </a:prstGeom>
        </p:spPr>
        <p:txBody>
          <a:bodyPr anchor="t" rtlCol="false" tIns="0" lIns="0" bIns="0" rIns="0">
            <a:spAutoFit/>
          </a:bodyPr>
          <a:lstStyle/>
          <a:p>
            <a:pPr algn="just">
              <a:lnSpc>
                <a:spcPts val="2736"/>
              </a:lnSpc>
            </a:pPr>
            <a:r>
              <a:rPr lang="en-US" sz="1954">
                <a:solidFill>
                  <a:srgbClr val="FFFFFF"/>
                </a:solidFill>
                <a:latin typeface="Montserrat"/>
                <a:ea typeface="Montserrat"/>
                <a:cs typeface="Montserrat"/>
                <a:sym typeface="Montserrat"/>
              </a:rPr>
              <a:t>Kata negatif seperti </a:t>
            </a:r>
            <a:r>
              <a:rPr lang="en-US" sz="1954" b="true">
                <a:solidFill>
                  <a:srgbClr val="FFFFFF"/>
                </a:solidFill>
                <a:latin typeface="Montserrat Bold"/>
                <a:ea typeface="Montserrat Bold"/>
                <a:cs typeface="Montserrat Bold"/>
                <a:sym typeface="Montserrat Bold"/>
              </a:rPr>
              <a:t>GA/GAK</a:t>
            </a:r>
            <a:r>
              <a:rPr lang="en-US" sz="1954">
                <a:solidFill>
                  <a:srgbClr val="FFFFFF"/>
                </a:solidFill>
                <a:latin typeface="Montserrat"/>
                <a:ea typeface="Montserrat"/>
                <a:cs typeface="Montserrat"/>
                <a:sym typeface="Montserrat"/>
              </a:rPr>
              <a:t> "bahasa" (mungkin merujuk bahasa kasar atau kritik tajam), </a:t>
            </a:r>
            <a:r>
              <a:rPr lang="en-US" sz="1954" b="true">
                <a:solidFill>
                  <a:srgbClr val="FFFFFF"/>
                </a:solidFill>
                <a:latin typeface="Montserrat Bold"/>
                <a:ea typeface="Montserrat Bold"/>
                <a:cs typeface="Montserrat Bold"/>
                <a:sym typeface="Montserrat Bold"/>
              </a:rPr>
              <a:t>MENTERI, </a:t>
            </a:r>
            <a:r>
              <a:rPr lang="en-US" sz="1954">
                <a:solidFill>
                  <a:srgbClr val="FFFFFF"/>
                </a:solidFill>
                <a:latin typeface="Montserrat"/>
                <a:ea typeface="Montserrat"/>
                <a:cs typeface="Montserrat"/>
                <a:sym typeface="Montserrat"/>
              </a:rPr>
              <a:t>&amp;</a:t>
            </a:r>
            <a:r>
              <a:rPr lang="en-US" sz="1954" b="true">
                <a:solidFill>
                  <a:srgbClr val="FFFFFF"/>
                </a:solidFill>
                <a:latin typeface="Montserrat Bold"/>
                <a:ea typeface="Montserrat Bold"/>
                <a:cs typeface="Montserrat Bold"/>
                <a:sym typeface="Montserrat Bold"/>
              </a:rPr>
              <a:t> DEMOKRASI</a:t>
            </a:r>
            <a:r>
              <a:rPr lang="en-US" sz="1954">
                <a:solidFill>
                  <a:srgbClr val="FFFFFF"/>
                </a:solidFill>
                <a:latin typeface="Montserrat"/>
                <a:ea typeface="Montserrat"/>
                <a:cs typeface="Montserrat"/>
                <a:sym typeface="Montserrat"/>
              </a:rPr>
              <a:t> mencerminkan rasa marah atas hipokripsi. Masyarakat merasa Zulhas (sebagai ex-Menteri Kehutanan) bertanggung jawab atas deforestasi masa lalu, terutama pelepasan 1,6 juta hktr hutan untuk sawit, yang dianggap picu banjir bandang Sumatera.</a:t>
            </a:r>
          </a:p>
          <a:p>
            <a:pPr algn="just">
              <a:lnSpc>
                <a:spcPts val="2736"/>
              </a:lnSpc>
            </a:pPr>
          </a:p>
        </p:txBody>
      </p:sp>
      <p:sp>
        <p:nvSpPr>
          <p:cNvPr name="TextBox 35" id="35"/>
          <p:cNvSpPr txBox="true"/>
          <p:nvPr/>
        </p:nvSpPr>
        <p:spPr>
          <a:xfrm rot="0">
            <a:off x="12617450" y="6217561"/>
            <a:ext cx="5256593" cy="4455670"/>
          </a:xfrm>
          <a:prstGeom prst="rect">
            <a:avLst/>
          </a:prstGeom>
        </p:spPr>
        <p:txBody>
          <a:bodyPr anchor="t" rtlCol="false" tIns="0" lIns="0" bIns="0" rIns="0">
            <a:spAutoFit/>
          </a:bodyPr>
          <a:lstStyle/>
          <a:p>
            <a:pPr algn="just">
              <a:lnSpc>
                <a:spcPts val="2736"/>
              </a:lnSpc>
            </a:pPr>
            <a:r>
              <a:rPr lang="en-US" sz="1954">
                <a:solidFill>
                  <a:srgbClr val="F6F4F1"/>
                </a:solidFill>
                <a:latin typeface="Montserrat"/>
                <a:ea typeface="Montserrat"/>
                <a:cs typeface="Montserrat"/>
                <a:sym typeface="Montserrat"/>
              </a:rPr>
              <a:t>Sentimen netral ini muncul dikarenakan banyak yang mengomentari video tanpa emosi kuat, seperti kata "funny" dari "not funny", "nyambung" karena jawaban Zulhas dianggap tidak nyambung). dan kata "malu", "indonesia", "demokrasi" mencerminkan rasa malu publik terhadap  zulkifli hasan, kata-kata ini dianggap kurang menampilkan emosi kuat, sehingga dikategorikan sentimen netral. </a:t>
            </a:r>
          </a:p>
          <a:p>
            <a:pPr algn="just">
              <a:lnSpc>
                <a:spcPts val="2736"/>
              </a:lnSpc>
            </a:pPr>
          </a:p>
          <a:p>
            <a:pPr algn="just">
              <a:lnSpc>
                <a:spcPts val="2736"/>
              </a:lnSpc>
            </a:pPr>
          </a:p>
        </p:txBody>
      </p:sp>
      <p:sp>
        <p:nvSpPr>
          <p:cNvPr name="TextBox 36" id="36"/>
          <p:cNvSpPr txBox="true"/>
          <p:nvPr/>
        </p:nvSpPr>
        <p:spPr>
          <a:xfrm rot="0">
            <a:off x="15982002" y="190143"/>
            <a:ext cx="201463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#01</a:t>
            </a:r>
          </a:p>
        </p:txBody>
      </p:sp>
      <p:sp>
        <p:nvSpPr>
          <p:cNvPr name="TextBox 37" id="37"/>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2528728" y="-617183"/>
            <a:ext cx="7859468" cy="6608522"/>
            <a:chOff x="0" y="0"/>
            <a:chExt cx="10479291" cy="8811363"/>
          </a:xfrm>
        </p:grpSpPr>
        <p:sp>
          <p:nvSpPr>
            <p:cNvPr name="Freeform 4" id="4"/>
            <p:cNvSpPr/>
            <p:nvPr/>
          </p:nvSpPr>
          <p:spPr>
            <a:xfrm flipH="false" flipV="false" rot="0">
              <a:off x="0"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5" id="5"/>
            <p:cNvSpPr/>
            <p:nvPr/>
          </p:nvSpPr>
          <p:spPr>
            <a:xfrm flipH="false" flipV="false" rot="0">
              <a:off x="241006" y="39833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44206" y="41865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25691" y="421497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2192016" y="679102"/>
              <a:ext cx="5781586" cy="5858870"/>
            </a:xfrm>
            <a:custGeom>
              <a:avLst/>
              <a:gdLst/>
              <a:ahLst/>
              <a:cxnLst/>
              <a:rect r="r" b="b" t="t" l="l"/>
              <a:pathLst>
                <a:path h="5858870" w="5781586">
                  <a:moveTo>
                    <a:pt x="5781586" y="0"/>
                  </a:moveTo>
                  <a:lnTo>
                    <a:pt x="0" y="0"/>
                  </a:lnTo>
                  <a:lnTo>
                    <a:pt x="0" y="5858870"/>
                  </a:lnTo>
                  <a:lnTo>
                    <a:pt x="5781586" y="5858870"/>
                  </a:lnTo>
                  <a:lnTo>
                    <a:pt x="5781586" y="0"/>
                  </a:lnTo>
                  <a:close/>
                </a:path>
              </a:pathLst>
            </a:custGeom>
            <a:blipFill>
              <a:blip r:embed="rId6"/>
              <a:stretch>
                <a:fillRect l="-38255" t="0" r="-13844" b="0"/>
              </a:stretch>
            </a:blipFill>
          </p:spPr>
        </p:sp>
      </p:grpSp>
      <p:grpSp>
        <p:nvGrpSpPr>
          <p:cNvPr name="Group 9" id="9"/>
          <p:cNvGrpSpPr/>
          <p:nvPr/>
        </p:nvGrpSpPr>
        <p:grpSpPr>
          <a:xfrm rot="0">
            <a:off x="317056" y="3092429"/>
            <a:ext cx="5137510" cy="1334829"/>
            <a:chOff x="0" y="0"/>
            <a:chExt cx="1615256" cy="419676"/>
          </a:xfrm>
        </p:grpSpPr>
        <p:sp>
          <p:nvSpPr>
            <p:cNvPr name="Freeform 10" id="10"/>
            <p:cNvSpPr/>
            <p:nvPr/>
          </p:nvSpPr>
          <p:spPr>
            <a:xfrm flipH="false" flipV="false" rot="0">
              <a:off x="0" y="0"/>
              <a:ext cx="1615256" cy="419676"/>
            </a:xfrm>
            <a:custGeom>
              <a:avLst/>
              <a:gdLst/>
              <a:ahLst/>
              <a:cxnLst/>
              <a:rect r="r" b="b" t="t" l="l"/>
              <a:pathLst>
                <a:path h="419676" w="1615256">
                  <a:moveTo>
                    <a:pt x="0" y="0"/>
                  </a:moveTo>
                  <a:lnTo>
                    <a:pt x="1615256" y="0"/>
                  </a:lnTo>
                  <a:lnTo>
                    <a:pt x="1615256" y="419676"/>
                  </a:lnTo>
                  <a:lnTo>
                    <a:pt x="0" y="419676"/>
                  </a:lnTo>
                  <a:close/>
                </a:path>
              </a:pathLst>
            </a:custGeom>
            <a:solidFill>
              <a:srgbClr val="107FAA"/>
            </a:solidFill>
          </p:spPr>
        </p:sp>
        <p:sp>
          <p:nvSpPr>
            <p:cNvPr name="TextBox 11" id="11"/>
            <p:cNvSpPr txBox="true"/>
            <p:nvPr/>
          </p:nvSpPr>
          <p:spPr>
            <a:xfrm>
              <a:off x="0" y="76200"/>
              <a:ext cx="1615256" cy="343476"/>
            </a:xfrm>
            <a:prstGeom prst="rect">
              <a:avLst/>
            </a:prstGeom>
          </p:spPr>
          <p:txBody>
            <a:bodyPr anchor="ctr" rtlCol="false" tIns="50800" lIns="50800" bIns="50800" rIns="50800"/>
            <a:lstStyle/>
            <a:p>
              <a:pPr algn="ctr">
                <a:lnSpc>
                  <a:spcPts val="1925"/>
                </a:lnSpc>
              </a:pPr>
            </a:p>
          </p:txBody>
        </p:sp>
      </p:grpSp>
      <p:pic>
        <p:nvPicPr>
          <p:cNvPr name="Picture 12" id="12"/>
          <p:cNvPicPr>
            <a:picLocks noChangeAspect="true"/>
          </p:cNvPicPr>
          <p:nvPr/>
        </p:nvPicPr>
        <p:blipFill>
          <a:blip r:embed="rId7"/>
          <a:stretch>
            <a:fillRect/>
          </a:stretch>
        </p:blipFill>
        <p:spPr>
          <a:xfrm rot="0">
            <a:off x="-450376" y="4554866"/>
            <a:ext cx="6070276" cy="5520817"/>
          </a:xfrm>
          <a:prstGeom prst="rect">
            <a:avLst/>
          </a:prstGeom>
        </p:spPr>
      </p:pic>
      <p:pic>
        <p:nvPicPr>
          <p:cNvPr name="Picture 13" id="13"/>
          <p:cNvPicPr>
            <a:picLocks noChangeAspect="true"/>
          </p:cNvPicPr>
          <p:nvPr/>
        </p:nvPicPr>
        <p:blipFill>
          <a:blip r:embed="rId8"/>
          <a:stretch>
            <a:fillRect/>
          </a:stretch>
        </p:blipFill>
        <p:spPr>
          <a:xfrm rot="0">
            <a:off x="5009615" y="5709784"/>
            <a:ext cx="7396813" cy="4981268"/>
          </a:xfrm>
          <a:prstGeom prst="rect">
            <a:avLst/>
          </a:prstGeom>
        </p:spPr>
      </p:pic>
      <p:grpSp>
        <p:nvGrpSpPr>
          <p:cNvPr name="Group 14" id="14"/>
          <p:cNvGrpSpPr/>
          <p:nvPr/>
        </p:nvGrpSpPr>
        <p:grpSpPr>
          <a:xfrm rot="0">
            <a:off x="11998325" y="3092429"/>
            <a:ext cx="5997629" cy="6982222"/>
            <a:chOff x="0" y="0"/>
            <a:chExt cx="2288130" cy="2663758"/>
          </a:xfrm>
        </p:grpSpPr>
        <p:sp>
          <p:nvSpPr>
            <p:cNvPr name="Freeform 15" id="15"/>
            <p:cNvSpPr/>
            <p:nvPr/>
          </p:nvSpPr>
          <p:spPr>
            <a:xfrm flipH="false" flipV="false" rot="0">
              <a:off x="0" y="0"/>
              <a:ext cx="2288130" cy="2663758"/>
            </a:xfrm>
            <a:custGeom>
              <a:avLst/>
              <a:gdLst/>
              <a:ahLst/>
              <a:cxnLst/>
              <a:rect r="r" b="b" t="t" l="l"/>
              <a:pathLst>
                <a:path h="2663758" w="2288130">
                  <a:moveTo>
                    <a:pt x="19362" y="0"/>
                  </a:moveTo>
                  <a:lnTo>
                    <a:pt x="2268768" y="0"/>
                  </a:lnTo>
                  <a:cubicBezTo>
                    <a:pt x="2273903" y="0"/>
                    <a:pt x="2278828" y="2040"/>
                    <a:pt x="2282459" y="5671"/>
                  </a:cubicBezTo>
                  <a:cubicBezTo>
                    <a:pt x="2286090" y="9302"/>
                    <a:pt x="2288130" y="14227"/>
                    <a:pt x="2288130" y="19362"/>
                  </a:cubicBezTo>
                  <a:lnTo>
                    <a:pt x="2288130" y="2644396"/>
                  </a:lnTo>
                  <a:cubicBezTo>
                    <a:pt x="2288130" y="2655089"/>
                    <a:pt x="2279462" y="2663758"/>
                    <a:pt x="2268768" y="2663758"/>
                  </a:cubicBezTo>
                  <a:lnTo>
                    <a:pt x="19362" y="2663758"/>
                  </a:lnTo>
                  <a:cubicBezTo>
                    <a:pt x="8669" y="2663758"/>
                    <a:pt x="0" y="2655089"/>
                    <a:pt x="0" y="2644396"/>
                  </a:cubicBezTo>
                  <a:lnTo>
                    <a:pt x="0" y="19362"/>
                  </a:lnTo>
                  <a:cubicBezTo>
                    <a:pt x="0" y="8669"/>
                    <a:pt x="8669" y="0"/>
                    <a:pt x="19362" y="0"/>
                  </a:cubicBezTo>
                  <a:close/>
                </a:path>
              </a:pathLst>
            </a:custGeom>
            <a:solidFill>
              <a:srgbClr val="8F1EAE"/>
            </a:solidFill>
          </p:spPr>
        </p:sp>
        <p:sp>
          <p:nvSpPr>
            <p:cNvPr name="TextBox 16" id="16"/>
            <p:cNvSpPr txBox="true"/>
            <p:nvPr/>
          </p:nvSpPr>
          <p:spPr>
            <a:xfrm>
              <a:off x="0" y="76200"/>
              <a:ext cx="2288130" cy="2587558"/>
            </a:xfrm>
            <a:prstGeom prst="rect">
              <a:avLst/>
            </a:prstGeom>
          </p:spPr>
          <p:txBody>
            <a:bodyPr anchor="ctr" rtlCol="false" tIns="50800" lIns="50800" bIns="50800" rIns="50800"/>
            <a:lstStyle/>
            <a:p>
              <a:pPr algn="ctr">
                <a:lnSpc>
                  <a:spcPts val="1925"/>
                </a:lnSpc>
              </a:pPr>
            </a:p>
          </p:txBody>
        </p:sp>
      </p:grpSp>
      <p:sp>
        <p:nvSpPr>
          <p:cNvPr name="Freeform 17" id="17"/>
          <p:cNvSpPr/>
          <p:nvPr/>
        </p:nvSpPr>
        <p:spPr>
          <a:xfrm flipH="false" flipV="false" rot="0">
            <a:off x="5626016" y="3092429"/>
            <a:ext cx="6158525" cy="3195618"/>
          </a:xfrm>
          <a:custGeom>
            <a:avLst/>
            <a:gdLst/>
            <a:ahLst/>
            <a:cxnLst/>
            <a:rect r="r" b="b" t="t" l="l"/>
            <a:pathLst>
              <a:path h="3195618" w="6158525">
                <a:moveTo>
                  <a:pt x="0" y="0"/>
                </a:moveTo>
                <a:lnTo>
                  <a:pt x="6158525" y="0"/>
                </a:lnTo>
                <a:lnTo>
                  <a:pt x="6158525" y="3195618"/>
                </a:lnTo>
                <a:lnTo>
                  <a:pt x="0" y="3195618"/>
                </a:lnTo>
                <a:lnTo>
                  <a:pt x="0" y="0"/>
                </a:lnTo>
                <a:close/>
              </a:path>
            </a:pathLst>
          </a:custGeom>
          <a:blipFill>
            <a:blip r:embed="rId9"/>
            <a:stretch>
              <a:fillRect l="0" t="0" r="-1216" b="0"/>
            </a:stretch>
          </a:blipFill>
        </p:spPr>
      </p:sp>
      <p:sp>
        <p:nvSpPr>
          <p:cNvPr name="Freeform 18" id="18"/>
          <p:cNvSpPr/>
          <p:nvPr/>
        </p:nvSpPr>
        <p:spPr>
          <a:xfrm flipH="false" flipV="false" rot="0">
            <a:off x="3260965" y="3704911"/>
            <a:ext cx="573826" cy="207295"/>
          </a:xfrm>
          <a:custGeom>
            <a:avLst/>
            <a:gdLst/>
            <a:ahLst/>
            <a:cxnLst/>
            <a:rect r="r" b="b" t="t" l="l"/>
            <a:pathLst>
              <a:path h="207295" w="573826">
                <a:moveTo>
                  <a:pt x="0" y="0"/>
                </a:moveTo>
                <a:lnTo>
                  <a:pt x="573826" y="0"/>
                </a:lnTo>
                <a:lnTo>
                  <a:pt x="573826" y="207294"/>
                </a:lnTo>
                <a:lnTo>
                  <a:pt x="0" y="2072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808231" y="3210419"/>
            <a:ext cx="617360" cy="617360"/>
          </a:xfrm>
          <a:custGeom>
            <a:avLst/>
            <a:gdLst/>
            <a:ahLst/>
            <a:cxnLst/>
            <a:rect r="r" b="b" t="t" l="l"/>
            <a:pathLst>
              <a:path h="617360" w="617360">
                <a:moveTo>
                  <a:pt x="0" y="0"/>
                </a:moveTo>
                <a:lnTo>
                  <a:pt x="617360" y="0"/>
                </a:lnTo>
                <a:lnTo>
                  <a:pt x="617360" y="617360"/>
                </a:lnTo>
                <a:lnTo>
                  <a:pt x="0" y="6173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0" id="20"/>
          <p:cNvSpPr txBox="true"/>
          <p:nvPr/>
        </p:nvSpPr>
        <p:spPr>
          <a:xfrm rot="0">
            <a:off x="2374630" y="608914"/>
            <a:ext cx="10426820" cy="2116637"/>
          </a:xfrm>
          <a:prstGeom prst="rect">
            <a:avLst/>
          </a:prstGeom>
        </p:spPr>
        <p:txBody>
          <a:bodyPr anchor="t" rtlCol="false" tIns="0" lIns="0" bIns="0" rIns="0">
            <a:spAutoFit/>
          </a:bodyPr>
          <a:lstStyle/>
          <a:p>
            <a:pPr algn="l">
              <a:lnSpc>
                <a:spcPts val="8147"/>
              </a:lnSpc>
            </a:pPr>
            <a:r>
              <a:rPr lang="en-US" sz="6678" b="true">
                <a:solidFill>
                  <a:srgbClr val="F6F4F1"/>
                </a:solidFill>
                <a:latin typeface="Poppins Bold"/>
                <a:ea typeface="Poppins Bold"/>
                <a:cs typeface="Poppins Bold"/>
                <a:sym typeface="Poppins Bold"/>
              </a:rPr>
              <a:t>SENTIMEN PUBLIK TERHADAP PEJABAT</a:t>
            </a:r>
          </a:p>
        </p:txBody>
      </p:sp>
      <p:sp>
        <p:nvSpPr>
          <p:cNvPr name="TextBox 21" id="21"/>
          <p:cNvSpPr txBox="true"/>
          <p:nvPr/>
        </p:nvSpPr>
        <p:spPr>
          <a:xfrm rot="0">
            <a:off x="10552508" y="107950"/>
            <a:ext cx="5081966" cy="1765300"/>
          </a:xfrm>
          <a:prstGeom prst="rect">
            <a:avLst/>
          </a:prstGeom>
        </p:spPr>
        <p:txBody>
          <a:bodyPr anchor="t" rtlCol="false" tIns="0" lIns="0" bIns="0" rIns="0">
            <a:spAutoFit/>
          </a:bodyPr>
          <a:lstStyle/>
          <a:p>
            <a:pPr algn="ctr">
              <a:lnSpc>
                <a:spcPts val="3500"/>
              </a:lnSpc>
              <a:spcBef>
                <a:spcPct val="0"/>
              </a:spcBef>
            </a:pPr>
            <a:r>
              <a:rPr lang="en-US" sz="2500" spc="12">
                <a:solidFill>
                  <a:srgbClr val="F6F4F1"/>
                </a:solidFill>
                <a:latin typeface="Poppins"/>
                <a:ea typeface="Poppins"/>
                <a:cs typeface="Poppins"/>
                <a:sym typeface="Poppins"/>
              </a:rPr>
              <a:t>Fase 2 </a:t>
            </a:r>
            <a:r>
              <a:rPr lang="en-US" sz="2500" spc="12">
                <a:solidFill>
                  <a:srgbClr val="F6F4F1"/>
                </a:solidFill>
                <a:latin typeface="Poppins"/>
                <a:ea typeface="Poppins"/>
                <a:cs typeface="Poppins"/>
                <a:sym typeface="Poppins"/>
              </a:rPr>
              <a:t>(29 - 30 Nov 2025) : </a:t>
            </a:r>
          </a:p>
          <a:p>
            <a:pPr algn="ctr">
              <a:lnSpc>
                <a:spcPts val="3500"/>
              </a:lnSpc>
              <a:spcBef>
                <a:spcPct val="0"/>
              </a:spcBef>
            </a:pPr>
            <a:r>
              <a:rPr lang="en-US" sz="2500" spc="12">
                <a:solidFill>
                  <a:srgbClr val="F6F4F1"/>
                </a:solidFill>
                <a:latin typeface="Poppins"/>
                <a:ea typeface="Poppins"/>
                <a:cs typeface="Poppins"/>
                <a:sym typeface="Poppins"/>
              </a:rPr>
              <a:t>Post Instagram pak zulkifli hasan bantu warga Sumatra </a:t>
            </a:r>
          </a:p>
          <a:p>
            <a:pPr algn="ctr">
              <a:lnSpc>
                <a:spcPts val="3500"/>
              </a:lnSpc>
              <a:spcBef>
                <a:spcPct val="0"/>
              </a:spcBef>
            </a:pPr>
          </a:p>
        </p:txBody>
      </p:sp>
      <p:sp>
        <p:nvSpPr>
          <p:cNvPr name="TextBox 22" id="22"/>
          <p:cNvSpPr txBox="true"/>
          <p:nvPr/>
        </p:nvSpPr>
        <p:spPr>
          <a:xfrm rot="0">
            <a:off x="15780737" y="190143"/>
            <a:ext cx="2238055"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#02</a:t>
            </a:r>
          </a:p>
        </p:txBody>
      </p:sp>
      <p:sp>
        <p:nvSpPr>
          <p:cNvPr name="TextBox 23" id="23"/>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
        <p:nvSpPr>
          <p:cNvPr name="TextBox 24" id="24"/>
          <p:cNvSpPr txBox="true"/>
          <p:nvPr/>
        </p:nvSpPr>
        <p:spPr>
          <a:xfrm rot="0">
            <a:off x="540975" y="3799204"/>
            <a:ext cx="1151872"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Instagram</a:t>
            </a:r>
          </a:p>
        </p:txBody>
      </p:sp>
      <p:sp>
        <p:nvSpPr>
          <p:cNvPr name="TextBox 25" id="25"/>
          <p:cNvSpPr txBox="true"/>
          <p:nvPr/>
        </p:nvSpPr>
        <p:spPr>
          <a:xfrm rot="0">
            <a:off x="2169035" y="3621000"/>
            <a:ext cx="923967"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2076</a:t>
            </a:r>
          </a:p>
        </p:txBody>
      </p:sp>
      <p:sp>
        <p:nvSpPr>
          <p:cNvPr name="TextBox 26" id="26"/>
          <p:cNvSpPr txBox="true"/>
          <p:nvPr/>
        </p:nvSpPr>
        <p:spPr>
          <a:xfrm rot="0">
            <a:off x="2073847" y="3365413"/>
            <a:ext cx="1153234"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Awal</a:t>
            </a:r>
          </a:p>
        </p:txBody>
      </p:sp>
      <p:sp>
        <p:nvSpPr>
          <p:cNvPr name="TextBox 27" id="27"/>
          <p:cNvSpPr txBox="true"/>
          <p:nvPr/>
        </p:nvSpPr>
        <p:spPr>
          <a:xfrm rot="0">
            <a:off x="3920518" y="3343655"/>
            <a:ext cx="1193525"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Akhir</a:t>
            </a:r>
          </a:p>
        </p:txBody>
      </p:sp>
      <p:sp>
        <p:nvSpPr>
          <p:cNvPr name="TextBox 28" id="28"/>
          <p:cNvSpPr txBox="true"/>
          <p:nvPr/>
        </p:nvSpPr>
        <p:spPr>
          <a:xfrm rot="0">
            <a:off x="4166088" y="3592425"/>
            <a:ext cx="697071"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991</a:t>
            </a:r>
          </a:p>
        </p:txBody>
      </p:sp>
      <p:sp>
        <p:nvSpPr>
          <p:cNvPr name="TextBox 29" id="29"/>
          <p:cNvSpPr txBox="true"/>
          <p:nvPr/>
        </p:nvSpPr>
        <p:spPr>
          <a:xfrm rot="0">
            <a:off x="11969750" y="3219944"/>
            <a:ext cx="5800309" cy="6467985"/>
          </a:xfrm>
          <a:prstGeom prst="rect">
            <a:avLst/>
          </a:prstGeom>
        </p:spPr>
        <p:txBody>
          <a:bodyPr anchor="t" rtlCol="false" tIns="0" lIns="0" bIns="0" rIns="0">
            <a:spAutoFit/>
          </a:bodyPr>
          <a:lstStyle/>
          <a:p>
            <a:pPr algn="just" marL="400479" indent="-200240" lvl="1">
              <a:lnSpc>
                <a:spcPts val="2596"/>
              </a:lnSpc>
              <a:buFont typeface="Arial"/>
              <a:buChar char="•"/>
            </a:pPr>
            <a:r>
              <a:rPr lang="en-US" sz="1854">
                <a:solidFill>
                  <a:srgbClr val="FFFFFF"/>
                </a:solidFill>
                <a:latin typeface="Montserrat"/>
                <a:ea typeface="Montserrat"/>
                <a:cs typeface="Montserrat"/>
                <a:sym typeface="Montserrat"/>
              </a:rPr>
              <a:t>Data sentimen publik ini saya ambil dari postingan resmi bapak zulkifli hasan di akun instagramnya yang mengupload 2 video reels dalam membantu korban bencana banjir.</a:t>
            </a:r>
          </a:p>
          <a:p>
            <a:pPr algn="just" marL="400479" indent="-200240" lvl="1">
              <a:lnSpc>
                <a:spcPts val="2596"/>
              </a:lnSpc>
              <a:buFont typeface="Arial"/>
              <a:buChar char="•"/>
            </a:pPr>
            <a:r>
              <a:rPr lang="en-US" sz="1854">
                <a:solidFill>
                  <a:srgbClr val="FFFFFF"/>
                </a:solidFill>
                <a:latin typeface="Montserrat"/>
                <a:ea typeface="Montserrat"/>
                <a:cs typeface="Montserrat"/>
                <a:sym typeface="Montserrat"/>
              </a:rPr>
              <a:t>Diketahui kata </a:t>
            </a:r>
            <a:r>
              <a:rPr lang="en-US" b="true" sz="1854">
                <a:solidFill>
                  <a:srgbClr val="FFFFFF"/>
                </a:solidFill>
                <a:latin typeface="Montserrat Bold"/>
                <a:ea typeface="Montserrat Bold"/>
                <a:cs typeface="Montserrat Bold"/>
                <a:sym typeface="Montserrat Bold"/>
              </a:rPr>
              <a:t>BERAS</a:t>
            </a:r>
            <a:r>
              <a:rPr lang="en-US" sz="1854">
                <a:solidFill>
                  <a:srgbClr val="FFFFFF"/>
                </a:solidFill>
                <a:latin typeface="Montserrat"/>
                <a:ea typeface="Montserrat"/>
                <a:cs typeface="Montserrat"/>
                <a:sym typeface="Montserrat"/>
              </a:rPr>
              <a:t> menjadi fokus masyarakat terhadap postingan bapak zulhas. kata</a:t>
            </a:r>
            <a:r>
              <a:rPr lang="en-US" b="true" sz="1854">
                <a:solidFill>
                  <a:srgbClr val="FFFFFF"/>
                </a:solidFill>
                <a:latin typeface="Montserrat Bold"/>
                <a:ea typeface="Montserrat Bold"/>
                <a:cs typeface="Montserrat Bold"/>
                <a:sym typeface="Montserrat Bold"/>
              </a:rPr>
              <a:t> GAK, GA</a:t>
            </a:r>
            <a:r>
              <a:rPr lang="en-US" sz="1854">
                <a:solidFill>
                  <a:srgbClr val="FFFFFF"/>
                </a:solidFill>
                <a:latin typeface="Montserrat"/>
                <a:ea typeface="Montserrat"/>
                <a:cs typeface="Montserrat"/>
                <a:sym typeface="Montserrat"/>
              </a:rPr>
              <a:t>, &amp; </a:t>
            </a:r>
            <a:r>
              <a:rPr lang="en-US" b="true" sz="1854">
                <a:solidFill>
                  <a:srgbClr val="FFFFFF"/>
                </a:solidFill>
                <a:latin typeface="Montserrat Bold"/>
                <a:ea typeface="Montserrat Bold"/>
                <a:cs typeface="Montserrat Bold"/>
                <a:sym typeface="Montserrat Bold"/>
              </a:rPr>
              <a:t>BANGET </a:t>
            </a:r>
            <a:r>
              <a:rPr lang="en-US" sz="1854">
                <a:solidFill>
                  <a:srgbClr val="FFFFFF"/>
                </a:solidFill>
                <a:latin typeface="Montserrat"/>
                <a:ea typeface="Montserrat"/>
                <a:cs typeface="Montserrat"/>
                <a:sym typeface="Montserrat"/>
              </a:rPr>
              <a:t>diketahui banyak dilontarkan oleh sentimen publik yang dapat diartikan sebagai sikap penolakan tegas terhadap bantuan bapak zulhas yang dianggap sebagai pencitraan. Kata </a:t>
            </a:r>
            <a:r>
              <a:rPr lang="en-US" b="true" sz="1854">
                <a:solidFill>
                  <a:srgbClr val="FFFFFF"/>
                </a:solidFill>
                <a:latin typeface="Montserrat Bold"/>
                <a:ea typeface="Montserrat Bold"/>
                <a:cs typeface="Montserrat Bold"/>
                <a:sym typeface="Montserrat Bold"/>
              </a:rPr>
              <a:t>MALU</a:t>
            </a:r>
            <a:r>
              <a:rPr lang="en-US" sz="1854">
                <a:solidFill>
                  <a:srgbClr val="FFFFFF"/>
                </a:solidFill>
                <a:latin typeface="Montserrat"/>
                <a:ea typeface="Montserrat"/>
                <a:cs typeface="Montserrat"/>
                <a:sym typeface="Montserrat"/>
              </a:rPr>
              <a:t> &amp; </a:t>
            </a:r>
            <a:r>
              <a:rPr lang="en-US" b="true" sz="1854">
                <a:solidFill>
                  <a:srgbClr val="FFFFFF"/>
                </a:solidFill>
                <a:latin typeface="Montserrat Bold"/>
                <a:ea typeface="Montserrat Bold"/>
                <a:cs typeface="Montserrat Bold"/>
                <a:sym typeface="Montserrat Bold"/>
              </a:rPr>
              <a:t>MUAK</a:t>
            </a:r>
            <a:r>
              <a:rPr lang="en-US" sz="1854">
                <a:solidFill>
                  <a:srgbClr val="FFFFFF"/>
                </a:solidFill>
                <a:latin typeface="Montserrat"/>
                <a:ea typeface="Montserrat"/>
                <a:cs typeface="Montserrat"/>
                <a:sym typeface="Montserrat"/>
              </a:rPr>
              <a:t> memperkuat sikap emosi publik yang tidak menyukai apa yang dilakukan oleh bapak zulhas.</a:t>
            </a:r>
          </a:p>
          <a:p>
            <a:pPr algn="just" marL="400479" indent="-200240" lvl="1">
              <a:lnSpc>
                <a:spcPts val="2596"/>
              </a:lnSpc>
              <a:buFont typeface="Arial"/>
              <a:buChar char="•"/>
            </a:pPr>
            <a:r>
              <a:rPr lang="en-US" sz="1854">
                <a:solidFill>
                  <a:srgbClr val="F1F0EC"/>
                </a:solidFill>
                <a:latin typeface="Montserrat"/>
                <a:ea typeface="Montserrat"/>
                <a:cs typeface="Montserrat"/>
                <a:sym typeface="Montserrat"/>
              </a:rPr>
              <a:t>Netral &gt; Negatif &gt; Positif artinya, publik lebih banyak “melihat” atau “mengomentari” daripada “mendukung” atau “mengecam”. Tapi sentimen negatif cukup kuat, terutama terhadap figur politik.</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3549483" y="759722"/>
            <a:ext cx="10815050" cy="743937"/>
            <a:chOff x="0" y="0"/>
            <a:chExt cx="2848408" cy="195934"/>
          </a:xfrm>
        </p:grpSpPr>
        <p:sp>
          <p:nvSpPr>
            <p:cNvPr name="Freeform 4" id="4"/>
            <p:cNvSpPr/>
            <p:nvPr/>
          </p:nvSpPr>
          <p:spPr>
            <a:xfrm flipH="false" flipV="false" rot="0">
              <a:off x="0" y="0"/>
              <a:ext cx="2848408" cy="195934"/>
            </a:xfrm>
            <a:custGeom>
              <a:avLst/>
              <a:gdLst/>
              <a:ahLst/>
              <a:cxnLst/>
              <a:rect r="r" b="b" t="t" l="l"/>
              <a:pathLst>
                <a:path h="195934" w="2848408">
                  <a:moveTo>
                    <a:pt x="36508" y="0"/>
                  </a:moveTo>
                  <a:lnTo>
                    <a:pt x="2811900" y="0"/>
                  </a:lnTo>
                  <a:cubicBezTo>
                    <a:pt x="2821583" y="0"/>
                    <a:pt x="2830869" y="3846"/>
                    <a:pt x="2837715" y="10693"/>
                  </a:cubicBezTo>
                  <a:cubicBezTo>
                    <a:pt x="2844562" y="17540"/>
                    <a:pt x="2848408" y="26826"/>
                    <a:pt x="2848408" y="36508"/>
                  </a:cubicBezTo>
                  <a:lnTo>
                    <a:pt x="2848408" y="159426"/>
                  </a:lnTo>
                  <a:cubicBezTo>
                    <a:pt x="2848408" y="169108"/>
                    <a:pt x="2844562" y="178394"/>
                    <a:pt x="2837715" y="185241"/>
                  </a:cubicBezTo>
                  <a:cubicBezTo>
                    <a:pt x="2830869" y="192088"/>
                    <a:pt x="2821583" y="195934"/>
                    <a:pt x="2811900" y="195934"/>
                  </a:cubicBezTo>
                  <a:lnTo>
                    <a:pt x="36508" y="195934"/>
                  </a:lnTo>
                  <a:cubicBezTo>
                    <a:pt x="26826" y="195934"/>
                    <a:pt x="17540" y="192088"/>
                    <a:pt x="10693" y="185241"/>
                  </a:cubicBezTo>
                  <a:cubicBezTo>
                    <a:pt x="3846" y="178394"/>
                    <a:pt x="0" y="169108"/>
                    <a:pt x="0" y="159426"/>
                  </a:cubicBezTo>
                  <a:lnTo>
                    <a:pt x="0" y="36508"/>
                  </a:lnTo>
                  <a:cubicBezTo>
                    <a:pt x="0" y="26826"/>
                    <a:pt x="3846" y="17540"/>
                    <a:pt x="10693" y="10693"/>
                  </a:cubicBezTo>
                  <a:cubicBezTo>
                    <a:pt x="17540" y="3846"/>
                    <a:pt x="26826" y="0"/>
                    <a:pt x="36508" y="0"/>
                  </a:cubicBezTo>
                  <a:close/>
                </a:path>
              </a:pathLst>
            </a:custGeom>
            <a:solidFill>
              <a:srgbClr val="F1F0EC"/>
            </a:solidFill>
          </p:spPr>
        </p:sp>
        <p:sp>
          <p:nvSpPr>
            <p:cNvPr name="TextBox 5" id="5"/>
            <p:cNvSpPr txBox="true"/>
            <p:nvPr/>
          </p:nvSpPr>
          <p:spPr>
            <a:xfrm>
              <a:off x="0" y="76200"/>
              <a:ext cx="2848408" cy="119734"/>
            </a:xfrm>
            <a:prstGeom prst="rect">
              <a:avLst/>
            </a:prstGeom>
          </p:spPr>
          <p:txBody>
            <a:bodyPr anchor="ctr" rtlCol="false" tIns="50800" lIns="50800" bIns="50800" rIns="50800"/>
            <a:lstStyle/>
            <a:p>
              <a:pPr algn="ctr">
                <a:lnSpc>
                  <a:spcPts val="1848"/>
                </a:lnSpc>
              </a:pPr>
              <a:r>
                <a:rPr lang="en-US" b="true" sz="2400" spc="-12">
                  <a:solidFill>
                    <a:srgbClr val="191919"/>
                  </a:solidFill>
                  <a:latin typeface="Poppins Semi-Bold"/>
                  <a:ea typeface="Poppins Semi-Bold"/>
                  <a:cs typeface="Poppins Semi-Bold"/>
                  <a:sym typeface="Poppins Semi-Bold"/>
                </a:rPr>
                <a:t>Sentimen Publik Terhadap Zulkifli Hasan Dalam Bentuk World Cloud</a:t>
              </a:r>
            </a:p>
          </p:txBody>
        </p:sp>
      </p:grpSp>
      <p:grpSp>
        <p:nvGrpSpPr>
          <p:cNvPr name="Group 6" id="6"/>
          <p:cNvGrpSpPr/>
          <p:nvPr/>
        </p:nvGrpSpPr>
        <p:grpSpPr>
          <a:xfrm rot="0">
            <a:off x="380978" y="6375242"/>
            <a:ext cx="5482717" cy="3609266"/>
            <a:chOff x="0" y="0"/>
            <a:chExt cx="2091688" cy="1376956"/>
          </a:xfrm>
        </p:grpSpPr>
        <p:sp>
          <p:nvSpPr>
            <p:cNvPr name="Freeform 7" id="7"/>
            <p:cNvSpPr/>
            <p:nvPr/>
          </p:nvSpPr>
          <p:spPr>
            <a:xfrm flipH="false" flipV="false" rot="0">
              <a:off x="0" y="0"/>
              <a:ext cx="2091688" cy="1376956"/>
            </a:xfrm>
            <a:custGeom>
              <a:avLst/>
              <a:gdLst/>
              <a:ahLst/>
              <a:cxnLst/>
              <a:rect r="r" b="b" t="t" l="l"/>
              <a:pathLst>
                <a:path h="1376956" w="2091688">
                  <a:moveTo>
                    <a:pt x="21181" y="0"/>
                  </a:moveTo>
                  <a:lnTo>
                    <a:pt x="2070508" y="0"/>
                  </a:lnTo>
                  <a:cubicBezTo>
                    <a:pt x="2076125" y="0"/>
                    <a:pt x="2081512" y="2232"/>
                    <a:pt x="2085485" y="6204"/>
                  </a:cubicBezTo>
                  <a:cubicBezTo>
                    <a:pt x="2089457" y="10176"/>
                    <a:pt x="2091688" y="15563"/>
                    <a:pt x="2091688" y="21181"/>
                  </a:cubicBezTo>
                  <a:lnTo>
                    <a:pt x="2091688" y="1355775"/>
                  </a:lnTo>
                  <a:cubicBezTo>
                    <a:pt x="2091688" y="1361392"/>
                    <a:pt x="2089457" y="1366780"/>
                    <a:pt x="2085485" y="1370752"/>
                  </a:cubicBezTo>
                  <a:cubicBezTo>
                    <a:pt x="2081512" y="1374724"/>
                    <a:pt x="2076125" y="1376956"/>
                    <a:pt x="2070508" y="1376956"/>
                  </a:cubicBezTo>
                  <a:lnTo>
                    <a:pt x="21181" y="1376956"/>
                  </a:lnTo>
                  <a:cubicBezTo>
                    <a:pt x="15563" y="1376956"/>
                    <a:pt x="10176" y="1374724"/>
                    <a:pt x="6204" y="1370752"/>
                  </a:cubicBezTo>
                  <a:cubicBezTo>
                    <a:pt x="2232" y="1366780"/>
                    <a:pt x="0" y="1361392"/>
                    <a:pt x="0" y="1355775"/>
                  </a:cubicBezTo>
                  <a:lnTo>
                    <a:pt x="0" y="21181"/>
                  </a:lnTo>
                  <a:cubicBezTo>
                    <a:pt x="0" y="15563"/>
                    <a:pt x="2232" y="10176"/>
                    <a:pt x="6204" y="6204"/>
                  </a:cubicBezTo>
                  <a:cubicBezTo>
                    <a:pt x="10176" y="2232"/>
                    <a:pt x="15563" y="0"/>
                    <a:pt x="21181" y="0"/>
                  </a:cubicBezTo>
                  <a:close/>
                </a:path>
              </a:pathLst>
            </a:custGeom>
            <a:solidFill>
              <a:srgbClr val="8F1EAE"/>
            </a:solidFill>
          </p:spPr>
        </p:sp>
        <p:sp>
          <p:nvSpPr>
            <p:cNvPr name="TextBox 8" id="8"/>
            <p:cNvSpPr txBox="true"/>
            <p:nvPr/>
          </p:nvSpPr>
          <p:spPr>
            <a:xfrm>
              <a:off x="0" y="76200"/>
              <a:ext cx="2091688" cy="1300756"/>
            </a:xfrm>
            <a:prstGeom prst="rect">
              <a:avLst/>
            </a:prstGeom>
          </p:spPr>
          <p:txBody>
            <a:bodyPr anchor="ctr" rtlCol="false" tIns="50800" lIns="50800" bIns="50800" rIns="50800"/>
            <a:lstStyle/>
            <a:p>
              <a:pPr algn="ctr">
                <a:lnSpc>
                  <a:spcPts val="1925"/>
                </a:lnSpc>
              </a:pPr>
            </a:p>
          </p:txBody>
        </p:sp>
      </p:grpSp>
      <p:grpSp>
        <p:nvGrpSpPr>
          <p:cNvPr name="Group 9" id="9"/>
          <p:cNvGrpSpPr/>
          <p:nvPr/>
        </p:nvGrpSpPr>
        <p:grpSpPr>
          <a:xfrm rot="0">
            <a:off x="12741170" y="2303759"/>
            <a:ext cx="4792303" cy="668124"/>
            <a:chOff x="0" y="0"/>
            <a:chExt cx="1220438" cy="170149"/>
          </a:xfrm>
        </p:grpSpPr>
        <p:sp>
          <p:nvSpPr>
            <p:cNvPr name="Freeform 10" id="10"/>
            <p:cNvSpPr/>
            <p:nvPr/>
          </p:nvSpPr>
          <p:spPr>
            <a:xfrm flipH="false" flipV="false" rot="0">
              <a:off x="0" y="0"/>
              <a:ext cx="1220438" cy="170149"/>
            </a:xfrm>
            <a:custGeom>
              <a:avLst/>
              <a:gdLst/>
              <a:ahLst/>
              <a:cxnLst/>
              <a:rect r="r" b="b" t="t" l="l"/>
              <a:pathLst>
                <a:path h="170149" w="1220438">
                  <a:moveTo>
                    <a:pt x="82390" y="0"/>
                  </a:moveTo>
                  <a:lnTo>
                    <a:pt x="1138048" y="0"/>
                  </a:lnTo>
                  <a:cubicBezTo>
                    <a:pt x="1183551" y="0"/>
                    <a:pt x="1220438" y="36887"/>
                    <a:pt x="1220438" y="82390"/>
                  </a:cubicBezTo>
                  <a:lnTo>
                    <a:pt x="1220438" y="87759"/>
                  </a:lnTo>
                  <a:cubicBezTo>
                    <a:pt x="1220438" y="109610"/>
                    <a:pt x="1211758" y="130566"/>
                    <a:pt x="1196307" y="146017"/>
                  </a:cubicBezTo>
                  <a:cubicBezTo>
                    <a:pt x="1180856" y="161468"/>
                    <a:pt x="1159900" y="170149"/>
                    <a:pt x="1138048" y="170149"/>
                  </a:cubicBezTo>
                  <a:lnTo>
                    <a:pt x="82390" y="170149"/>
                  </a:lnTo>
                  <a:cubicBezTo>
                    <a:pt x="36887" y="170149"/>
                    <a:pt x="0" y="133261"/>
                    <a:pt x="0" y="87759"/>
                  </a:cubicBezTo>
                  <a:lnTo>
                    <a:pt x="0" y="82390"/>
                  </a:lnTo>
                  <a:cubicBezTo>
                    <a:pt x="0" y="36887"/>
                    <a:pt x="36887" y="0"/>
                    <a:pt x="82390" y="0"/>
                  </a:cubicBezTo>
                  <a:close/>
                </a:path>
              </a:pathLst>
            </a:custGeom>
            <a:solidFill>
              <a:srgbClr val="F6F4F1"/>
            </a:solidFill>
          </p:spPr>
        </p:sp>
        <p:sp>
          <p:nvSpPr>
            <p:cNvPr name="TextBox 11" id="11"/>
            <p:cNvSpPr txBox="true"/>
            <p:nvPr/>
          </p:nvSpPr>
          <p:spPr>
            <a:xfrm>
              <a:off x="0" y="76200"/>
              <a:ext cx="1220438"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(Netral)</a:t>
              </a:r>
            </a:p>
          </p:txBody>
        </p:sp>
      </p:grpSp>
      <p:grpSp>
        <p:nvGrpSpPr>
          <p:cNvPr name="Group 12" id="12"/>
          <p:cNvGrpSpPr/>
          <p:nvPr/>
        </p:nvGrpSpPr>
        <p:grpSpPr>
          <a:xfrm rot="0">
            <a:off x="-2528728" y="-617183"/>
            <a:ext cx="7859468" cy="6608522"/>
            <a:chOff x="0" y="0"/>
            <a:chExt cx="10479291" cy="8811363"/>
          </a:xfrm>
        </p:grpSpPr>
        <p:sp>
          <p:nvSpPr>
            <p:cNvPr name="Freeform 13" id="13"/>
            <p:cNvSpPr/>
            <p:nvPr/>
          </p:nvSpPr>
          <p:spPr>
            <a:xfrm flipH="false" flipV="false" rot="0">
              <a:off x="0"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14" id="14"/>
            <p:cNvSpPr/>
            <p:nvPr/>
          </p:nvSpPr>
          <p:spPr>
            <a:xfrm flipH="false" flipV="false" rot="0">
              <a:off x="241006" y="39833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444206" y="41865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725691" y="421497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0">
              <a:off x="2192016" y="679102"/>
              <a:ext cx="5781586" cy="5858870"/>
            </a:xfrm>
            <a:custGeom>
              <a:avLst/>
              <a:gdLst/>
              <a:ahLst/>
              <a:cxnLst/>
              <a:rect r="r" b="b" t="t" l="l"/>
              <a:pathLst>
                <a:path h="5858870" w="5781586">
                  <a:moveTo>
                    <a:pt x="5781586" y="0"/>
                  </a:moveTo>
                  <a:lnTo>
                    <a:pt x="0" y="0"/>
                  </a:lnTo>
                  <a:lnTo>
                    <a:pt x="0" y="5858870"/>
                  </a:lnTo>
                  <a:lnTo>
                    <a:pt x="5781586" y="5858870"/>
                  </a:lnTo>
                  <a:lnTo>
                    <a:pt x="5781586" y="0"/>
                  </a:lnTo>
                  <a:close/>
                </a:path>
              </a:pathLst>
            </a:custGeom>
            <a:blipFill>
              <a:blip r:embed="rId6"/>
              <a:stretch>
                <a:fillRect l="-38255" t="0" r="-13844" b="0"/>
              </a:stretch>
            </a:blipFill>
          </p:spPr>
        </p:sp>
      </p:grpSp>
      <p:grpSp>
        <p:nvGrpSpPr>
          <p:cNvPr name="Group 18" id="18"/>
          <p:cNvGrpSpPr/>
          <p:nvPr/>
        </p:nvGrpSpPr>
        <p:grpSpPr>
          <a:xfrm rot="0">
            <a:off x="631097" y="2303759"/>
            <a:ext cx="4947678" cy="668124"/>
            <a:chOff x="0" y="0"/>
            <a:chExt cx="1260007" cy="170149"/>
          </a:xfrm>
        </p:grpSpPr>
        <p:sp>
          <p:nvSpPr>
            <p:cNvPr name="Freeform 19" id="19"/>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20" id="20"/>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(Positif)</a:t>
              </a:r>
            </a:p>
          </p:txBody>
        </p:sp>
      </p:grpSp>
      <p:grpSp>
        <p:nvGrpSpPr>
          <p:cNvPr name="Group 21" id="21"/>
          <p:cNvGrpSpPr/>
          <p:nvPr/>
        </p:nvGrpSpPr>
        <p:grpSpPr>
          <a:xfrm rot="0">
            <a:off x="6606751" y="2303759"/>
            <a:ext cx="4995828" cy="668124"/>
            <a:chOff x="0" y="0"/>
            <a:chExt cx="1272269" cy="170149"/>
          </a:xfrm>
        </p:grpSpPr>
        <p:sp>
          <p:nvSpPr>
            <p:cNvPr name="Freeform 22" id="22"/>
            <p:cNvSpPr/>
            <p:nvPr/>
          </p:nvSpPr>
          <p:spPr>
            <a:xfrm flipH="false" flipV="false" rot="0">
              <a:off x="0" y="0"/>
              <a:ext cx="1272269" cy="170149"/>
            </a:xfrm>
            <a:custGeom>
              <a:avLst/>
              <a:gdLst/>
              <a:ahLst/>
              <a:cxnLst/>
              <a:rect r="r" b="b" t="t" l="l"/>
              <a:pathLst>
                <a:path h="170149" w="1272269">
                  <a:moveTo>
                    <a:pt x="79034" y="0"/>
                  </a:moveTo>
                  <a:lnTo>
                    <a:pt x="1193236" y="0"/>
                  </a:lnTo>
                  <a:cubicBezTo>
                    <a:pt x="1236885" y="0"/>
                    <a:pt x="1272269" y="35385"/>
                    <a:pt x="1272269" y="79034"/>
                  </a:cubicBezTo>
                  <a:lnTo>
                    <a:pt x="1272269" y="91115"/>
                  </a:lnTo>
                  <a:cubicBezTo>
                    <a:pt x="1272269" y="134764"/>
                    <a:pt x="1236885" y="170149"/>
                    <a:pt x="1193236" y="170149"/>
                  </a:cubicBezTo>
                  <a:lnTo>
                    <a:pt x="79034" y="170149"/>
                  </a:lnTo>
                  <a:cubicBezTo>
                    <a:pt x="35385" y="170149"/>
                    <a:pt x="0" y="134764"/>
                    <a:pt x="0" y="91115"/>
                  </a:cubicBezTo>
                  <a:lnTo>
                    <a:pt x="0" y="79034"/>
                  </a:lnTo>
                  <a:cubicBezTo>
                    <a:pt x="0" y="35385"/>
                    <a:pt x="35385" y="0"/>
                    <a:pt x="79034" y="0"/>
                  </a:cubicBezTo>
                  <a:close/>
                </a:path>
              </a:pathLst>
            </a:custGeom>
            <a:solidFill>
              <a:srgbClr val="F6F4F1"/>
            </a:solidFill>
          </p:spPr>
        </p:sp>
        <p:sp>
          <p:nvSpPr>
            <p:cNvPr name="TextBox 23" id="23"/>
            <p:cNvSpPr txBox="true"/>
            <p:nvPr/>
          </p:nvSpPr>
          <p:spPr>
            <a:xfrm>
              <a:off x="0" y="76200"/>
              <a:ext cx="1272269"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(Negatif)</a:t>
              </a:r>
            </a:p>
          </p:txBody>
        </p:sp>
      </p:grpSp>
      <p:grpSp>
        <p:nvGrpSpPr>
          <p:cNvPr name="Group 24" id="24"/>
          <p:cNvGrpSpPr/>
          <p:nvPr/>
        </p:nvGrpSpPr>
        <p:grpSpPr>
          <a:xfrm rot="0">
            <a:off x="6449570" y="6375242"/>
            <a:ext cx="5696728" cy="3609266"/>
            <a:chOff x="0" y="0"/>
            <a:chExt cx="2173335" cy="1376956"/>
          </a:xfrm>
        </p:grpSpPr>
        <p:sp>
          <p:nvSpPr>
            <p:cNvPr name="Freeform 25" id="25"/>
            <p:cNvSpPr/>
            <p:nvPr/>
          </p:nvSpPr>
          <p:spPr>
            <a:xfrm flipH="false" flipV="false" rot="0">
              <a:off x="0" y="0"/>
              <a:ext cx="2173335" cy="1376956"/>
            </a:xfrm>
            <a:custGeom>
              <a:avLst/>
              <a:gdLst/>
              <a:ahLst/>
              <a:cxnLst/>
              <a:rect r="r" b="b" t="t" l="l"/>
              <a:pathLst>
                <a:path h="1376956" w="2173335">
                  <a:moveTo>
                    <a:pt x="20385" y="0"/>
                  </a:moveTo>
                  <a:lnTo>
                    <a:pt x="2152950" y="0"/>
                  </a:lnTo>
                  <a:cubicBezTo>
                    <a:pt x="2164208" y="0"/>
                    <a:pt x="2173335" y="9127"/>
                    <a:pt x="2173335" y="20385"/>
                  </a:cubicBezTo>
                  <a:lnTo>
                    <a:pt x="2173335" y="1356571"/>
                  </a:lnTo>
                  <a:cubicBezTo>
                    <a:pt x="2173335" y="1367829"/>
                    <a:pt x="2164208" y="1376956"/>
                    <a:pt x="2152950" y="1376956"/>
                  </a:cubicBezTo>
                  <a:lnTo>
                    <a:pt x="20385" y="1376956"/>
                  </a:lnTo>
                  <a:cubicBezTo>
                    <a:pt x="9127" y="1376956"/>
                    <a:pt x="0" y="1367829"/>
                    <a:pt x="0" y="1356571"/>
                  </a:cubicBezTo>
                  <a:lnTo>
                    <a:pt x="0" y="20385"/>
                  </a:lnTo>
                  <a:cubicBezTo>
                    <a:pt x="0" y="9127"/>
                    <a:pt x="9127" y="0"/>
                    <a:pt x="20385" y="0"/>
                  </a:cubicBezTo>
                  <a:close/>
                </a:path>
              </a:pathLst>
            </a:custGeom>
            <a:solidFill>
              <a:srgbClr val="8F1EAE"/>
            </a:solidFill>
          </p:spPr>
        </p:sp>
        <p:sp>
          <p:nvSpPr>
            <p:cNvPr name="TextBox 26" id="26"/>
            <p:cNvSpPr txBox="true"/>
            <p:nvPr/>
          </p:nvSpPr>
          <p:spPr>
            <a:xfrm>
              <a:off x="0" y="76200"/>
              <a:ext cx="2173335" cy="1300756"/>
            </a:xfrm>
            <a:prstGeom prst="rect">
              <a:avLst/>
            </a:prstGeom>
          </p:spPr>
          <p:txBody>
            <a:bodyPr anchor="ctr" rtlCol="false" tIns="50800" lIns="50800" bIns="50800" rIns="50800"/>
            <a:lstStyle/>
            <a:p>
              <a:pPr algn="ctr">
                <a:lnSpc>
                  <a:spcPts val="1925"/>
                </a:lnSpc>
              </a:pPr>
            </a:p>
          </p:txBody>
        </p:sp>
      </p:grpSp>
      <p:grpSp>
        <p:nvGrpSpPr>
          <p:cNvPr name="Group 27" id="27"/>
          <p:cNvGrpSpPr/>
          <p:nvPr/>
        </p:nvGrpSpPr>
        <p:grpSpPr>
          <a:xfrm rot="0">
            <a:off x="12626870" y="6375242"/>
            <a:ext cx="5248363" cy="3609266"/>
            <a:chOff x="0" y="0"/>
            <a:chExt cx="2002281" cy="1376956"/>
          </a:xfrm>
        </p:grpSpPr>
        <p:sp>
          <p:nvSpPr>
            <p:cNvPr name="Freeform 28" id="28"/>
            <p:cNvSpPr/>
            <p:nvPr/>
          </p:nvSpPr>
          <p:spPr>
            <a:xfrm flipH="false" flipV="false" rot="0">
              <a:off x="0" y="0"/>
              <a:ext cx="2002281" cy="1376956"/>
            </a:xfrm>
            <a:custGeom>
              <a:avLst/>
              <a:gdLst/>
              <a:ahLst/>
              <a:cxnLst/>
              <a:rect r="r" b="b" t="t" l="l"/>
              <a:pathLst>
                <a:path h="1376956" w="2002281">
                  <a:moveTo>
                    <a:pt x="22127" y="0"/>
                  </a:moveTo>
                  <a:lnTo>
                    <a:pt x="1980154" y="0"/>
                  </a:lnTo>
                  <a:cubicBezTo>
                    <a:pt x="1992375" y="0"/>
                    <a:pt x="2002281" y="9906"/>
                    <a:pt x="2002281" y="22127"/>
                  </a:cubicBezTo>
                  <a:lnTo>
                    <a:pt x="2002281" y="1354829"/>
                  </a:lnTo>
                  <a:cubicBezTo>
                    <a:pt x="2002281" y="1367049"/>
                    <a:pt x="1992375" y="1376956"/>
                    <a:pt x="1980154" y="1376956"/>
                  </a:cubicBezTo>
                  <a:lnTo>
                    <a:pt x="22127" y="1376956"/>
                  </a:lnTo>
                  <a:cubicBezTo>
                    <a:pt x="16258" y="1376956"/>
                    <a:pt x="10630" y="1374625"/>
                    <a:pt x="6481" y="1370475"/>
                  </a:cubicBezTo>
                  <a:cubicBezTo>
                    <a:pt x="2331" y="1366326"/>
                    <a:pt x="0" y="1360697"/>
                    <a:pt x="0" y="1354829"/>
                  </a:cubicBezTo>
                  <a:lnTo>
                    <a:pt x="0" y="22127"/>
                  </a:lnTo>
                  <a:cubicBezTo>
                    <a:pt x="0" y="9906"/>
                    <a:pt x="9906" y="0"/>
                    <a:pt x="22127" y="0"/>
                  </a:cubicBezTo>
                  <a:close/>
                </a:path>
              </a:pathLst>
            </a:custGeom>
            <a:solidFill>
              <a:srgbClr val="8F1EAE"/>
            </a:solidFill>
          </p:spPr>
        </p:sp>
        <p:sp>
          <p:nvSpPr>
            <p:cNvPr name="TextBox 29" id="29"/>
            <p:cNvSpPr txBox="true"/>
            <p:nvPr/>
          </p:nvSpPr>
          <p:spPr>
            <a:xfrm>
              <a:off x="0" y="76200"/>
              <a:ext cx="2002281" cy="1300756"/>
            </a:xfrm>
            <a:prstGeom prst="rect">
              <a:avLst/>
            </a:prstGeom>
          </p:spPr>
          <p:txBody>
            <a:bodyPr anchor="ctr" rtlCol="false" tIns="50800" lIns="50800" bIns="50800" rIns="50800"/>
            <a:lstStyle/>
            <a:p>
              <a:pPr algn="ctr">
                <a:lnSpc>
                  <a:spcPts val="1925"/>
                </a:lnSpc>
              </a:pPr>
            </a:p>
          </p:txBody>
        </p:sp>
      </p:grpSp>
      <p:sp>
        <p:nvSpPr>
          <p:cNvPr name="Freeform 30" id="30"/>
          <p:cNvSpPr/>
          <p:nvPr/>
        </p:nvSpPr>
        <p:spPr>
          <a:xfrm flipH="false" flipV="false" rot="0">
            <a:off x="380978" y="3136550"/>
            <a:ext cx="5397660" cy="2931134"/>
          </a:xfrm>
          <a:custGeom>
            <a:avLst/>
            <a:gdLst/>
            <a:ahLst/>
            <a:cxnLst/>
            <a:rect r="r" b="b" t="t" l="l"/>
            <a:pathLst>
              <a:path h="2931134" w="5397660">
                <a:moveTo>
                  <a:pt x="0" y="0"/>
                </a:moveTo>
                <a:lnTo>
                  <a:pt x="5397659" y="0"/>
                </a:lnTo>
                <a:lnTo>
                  <a:pt x="5397659" y="2931134"/>
                </a:lnTo>
                <a:lnTo>
                  <a:pt x="0" y="2931134"/>
                </a:lnTo>
                <a:lnTo>
                  <a:pt x="0" y="0"/>
                </a:lnTo>
                <a:close/>
              </a:path>
            </a:pathLst>
          </a:custGeom>
          <a:blipFill>
            <a:blip r:embed="rId7"/>
            <a:stretch>
              <a:fillRect l="0" t="0" r="0" b="0"/>
            </a:stretch>
          </a:blipFill>
        </p:spPr>
      </p:sp>
      <p:sp>
        <p:nvSpPr>
          <p:cNvPr name="Freeform 31" id="31"/>
          <p:cNvSpPr/>
          <p:nvPr/>
        </p:nvSpPr>
        <p:spPr>
          <a:xfrm flipH="false" flipV="false" rot="0">
            <a:off x="6516765" y="3136550"/>
            <a:ext cx="5433415" cy="2950551"/>
          </a:xfrm>
          <a:custGeom>
            <a:avLst/>
            <a:gdLst/>
            <a:ahLst/>
            <a:cxnLst/>
            <a:rect r="r" b="b" t="t" l="l"/>
            <a:pathLst>
              <a:path h="2950551" w="5433415">
                <a:moveTo>
                  <a:pt x="0" y="0"/>
                </a:moveTo>
                <a:lnTo>
                  <a:pt x="5433415" y="0"/>
                </a:lnTo>
                <a:lnTo>
                  <a:pt x="5433415" y="2950551"/>
                </a:lnTo>
                <a:lnTo>
                  <a:pt x="0" y="2950551"/>
                </a:lnTo>
                <a:lnTo>
                  <a:pt x="0" y="0"/>
                </a:lnTo>
                <a:close/>
              </a:path>
            </a:pathLst>
          </a:custGeom>
          <a:blipFill>
            <a:blip r:embed="rId8"/>
            <a:stretch>
              <a:fillRect l="0" t="0" r="0" b="0"/>
            </a:stretch>
          </a:blipFill>
        </p:spPr>
      </p:sp>
      <p:sp>
        <p:nvSpPr>
          <p:cNvPr name="Freeform 32" id="32"/>
          <p:cNvSpPr/>
          <p:nvPr/>
        </p:nvSpPr>
        <p:spPr>
          <a:xfrm flipH="false" flipV="false" rot="0">
            <a:off x="12521719" y="3136550"/>
            <a:ext cx="5353514" cy="2907161"/>
          </a:xfrm>
          <a:custGeom>
            <a:avLst/>
            <a:gdLst/>
            <a:ahLst/>
            <a:cxnLst/>
            <a:rect r="r" b="b" t="t" l="l"/>
            <a:pathLst>
              <a:path h="2907161" w="5353514">
                <a:moveTo>
                  <a:pt x="0" y="0"/>
                </a:moveTo>
                <a:lnTo>
                  <a:pt x="5353514" y="0"/>
                </a:lnTo>
                <a:lnTo>
                  <a:pt x="5353514" y="2907161"/>
                </a:lnTo>
                <a:lnTo>
                  <a:pt x="0" y="2907161"/>
                </a:lnTo>
                <a:lnTo>
                  <a:pt x="0" y="0"/>
                </a:lnTo>
                <a:close/>
              </a:path>
            </a:pathLst>
          </a:custGeom>
          <a:blipFill>
            <a:blip r:embed="rId9"/>
            <a:stretch>
              <a:fillRect l="0" t="0" r="0" b="0"/>
            </a:stretch>
          </a:blipFill>
        </p:spPr>
      </p:sp>
      <p:sp>
        <p:nvSpPr>
          <p:cNvPr name="TextBox 33" id="33"/>
          <p:cNvSpPr txBox="true"/>
          <p:nvPr/>
        </p:nvSpPr>
        <p:spPr>
          <a:xfrm rot="0">
            <a:off x="460490" y="6441917"/>
            <a:ext cx="5308622" cy="2157605"/>
          </a:xfrm>
          <a:prstGeom prst="rect">
            <a:avLst/>
          </a:prstGeom>
        </p:spPr>
        <p:txBody>
          <a:bodyPr anchor="t" rtlCol="false" tIns="0" lIns="0" bIns="0" rIns="0">
            <a:spAutoFit/>
          </a:bodyPr>
          <a:lstStyle/>
          <a:p>
            <a:pPr algn="just">
              <a:lnSpc>
                <a:spcPts val="2876"/>
              </a:lnSpc>
            </a:pPr>
            <a:r>
              <a:rPr lang="en-US" sz="2054">
                <a:solidFill>
                  <a:srgbClr val="F6F4F1"/>
                </a:solidFill>
                <a:latin typeface="Montserrat"/>
                <a:ea typeface="Montserrat"/>
                <a:cs typeface="Montserrat"/>
                <a:sym typeface="Montserrat"/>
              </a:rPr>
              <a:t>Sentimen positif ini, banyak kata “beras”, ‘bantu’, ‘angkat, ’kamera’ yang mana setelah ditelusuri komentar ini berupa kata-kata satir yang mana model yang saya gunakan tidak dapat memahami makhsud dari kalimat tersebut. </a:t>
            </a:r>
            <a:r>
              <a:rPr lang="en-US" sz="2054">
                <a:solidFill>
                  <a:srgbClr val="F1F0EC"/>
                </a:solidFill>
                <a:latin typeface="Montserrat"/>
                <a:ea typeface="Montserrat"/>
                <a:cs typeface="Montserrat"/>
                <a:sym typeface="Montserrat"/>
              </a:rPr>
              <a:t> </a:t>
            </a:r>
          </a:p>
        </p:txBody>
      </p:sp>
      <p:sp>
        <p:nvSpPr>
          <p:cNvPr name="TextBox 34" id="34"/>
          <p:cNvSpPr txBox="true"/>
          <p:nvPr/>
        </p:nvSpPr>
        <p:spPr>
          <a:xfrm rot="0">
            <a:off x="6567693" y="6394292"/>
            <a:ext cx="5460482" cy="360540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Sentimen negatif  dapat dilihat dari banyak kata </a:t>
            </a:r>
            <a:r>
              <a:rPr lang="en-US" sz="2054" b="true">
                <a:solidFill>
                  <a:srgbClr val="FFFFFF"/>
                </a:solidFill>
                <a:latin typeface="Montserrat Bold"/>
                <a:ea typeface="Montserrat Bold"/>
                <a:cs typeface="Montserrat Bold"/>
                <a:sym typeface="Montserrat Bold"/>
              </a:rPr>
              <a:t>MUAK</a:t>
            </a:r>
            <a:r>
              <a:rPr lang="en-US" sz="2054">
                <a:solidFill>
                  <a:srgbClr val="FFFFFF"/>
                </a:solidFill>
                <a:latin typeface="Montserrat"/>
                <a:ea typeface="Montserrat"/>
                <a:cs typeface="Montserrat"/>
                <a:sym typeface="Montserrat"/>
              </a:rPr>
              <a:t>, </a:t>
            </a:r>
            <a:r>
              <a:rPr lang="en-US" sz="2054" b="true">
                <a:solidFill>
                  <a:srgbClr val="FFFFFF"/>
                </a:solidFill>
                <a:latin typeface="Montserrat Bold"/>
                <a:ea typeface="Montserrat Bold"/>
                <a:cs typeface="Montserrat Bold"/>
                <a:sym typeface="Montserrat Bold"/>
              </a:rPr>
              <a:t>GELI</a:t>
            </a:r>
            <a:r>
              <a:rPr lang="en-US" sz="2054">
                <a:solidFill>
                  <a:srgbClr val="FFFFFF"/>
                </a:solidFill>
                <a:latin typeface="Montserrat"/>
                <a:ea typeface="Montserrat"/>
                <a:cs typeface="Montserrat"/>
                <a:sym typeface="Montserrat"/>
              </a:rPr>
              <a:t>, </a:t>
            </a:r>
            <a:r>
              <a:rPr lang="en-US" sz="2054" b="true">
                <a:solidFill>
                  <a:srgbClr val="FFFFFF"/>
                </a:solidFill>
                <a:latin typeface="Montserrat Bold"/>
                <a:ea typeface="Montserrat Bold"/>
                <a:cs typeface="Montserrat Bold"/>
                <a:sym typeface="Montserrat Bold"/>
              </a:rPr>
              <a:t>KOCAK</a:t>
            </a:r>
            <a:r>
              <a:rPr lang="en-US" sz="2054">
                <a:solidFill>
                  <a:srgbClr val="FFFFFF"/>
                </a:solidFill>
                <a:latin typeface="Montserrat"/>
                <a:ea typeface="Montserrat"/>
                <a:cs typeface="Montserrat"/>
                <a:sym typeface="Montserrat"/>
              </a:rPr>
              <a:t>, &amp; </a:t>
            </a:r>
            <a:r>
              <a:rPr lang="en-US" sz="2054" b="true">
                <a:solidFill>
                  <a:srgbClr val="FFFFFF"/>
                </a:solidFill>
                <a:latin typeface="Montserrat Bold"/>
                <a:ea typeface="Montserrat Bold"/>
                <a:cs typeface="Montserrat Bold"/>
                <a:sym typeface="Montserrat Bold"/>
              </a:rPr>
              <a:t>MALU</a:t>
            </a:r>
            <a:r>
              <a:rPr lang="en-US" sz="2054">
                <a:solidFill>
                  <a:srgbClr val="FFFFFF"/>
                </a:solidFill>
                <a:latin typeface="Montserrat"/>
                <a:ea typeface="Montserrat"/>
                <a:cs typeface="Montserrat"/>
                <a:sym typeface="Montserrat"/>
              </a:rPr>
              <a:t> yang melihat aksi zulhas yang memanggul beras yg dianggap pencitraan.  dan sentimen kemarahan dan sindiran publik juga muncul dari banyaknya kata </a:t>
            </a:r>
            <a:r>
              <a:rPr lang="en-US" sz="2054" b="true">
                <a:solidFill>
                  <a:srgbClr val="FFFFFF"/>
                </a:solidFill>
                <a:latin typeface="Montserrat Bold"/>
                <a:ea typeface="Montserrat Bold"/>
                <a:cs typeface="Montserrat Bold"/>
                <a:sym typeface="Montserrat Bold"/>
              </a:rPr>
              <a:t>TAI, JAHAT, JIJIK, DOSA</a:t>
            </a:r>
            <a:r>
              <a:rPr lang="en-US" sz="2054">
                <a:solidFill>
                  <a:srgbClr val="FFFFFF"/>
                </a:solidFill>
                <a:latin typeface="Montserrat"/>
                <a:ea typeface="Montserrat"/>
                <a:cs typeface="Montserrat"/>
                <a:sym typeface="Montserrat"/>
              </a:rPr>
              <a:t> yang diartikan bahwa aksi tersebut tidak pantas (sebagai biang deforestasi masa lalu)</a:t>
            </a:r>
          </a:p>
        </p:txBody>
      </p:sp>
      <p:sp>
        <p:nvSpPr>
          <p:cNvPr name="TextBox 35" id="35"/>
          <p:cNvSpPr txBox="true"/>
          <p:nvPr/>
        </p:nvSpPr>
        <p:spPr>
          <a:xfrm rot="0">
            <a:off x="12717168" y="6413342"/>
            <a:ext cx="5086816" cy="288150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Sentimen netral ini muncul dikarenakan kata yang digunakan dianggap sebagai sarkasme ringan dan tidak dianggap sebagai kata positif dan negatif. seperti banyak nya kata </a:t>
            </a:r>
            <a:r>
              <a:rPr lang="en-US" sz="2054" b="true">
                <a:solidFill>
                  <a:srgbClr val="FFFFFF"/>
                </a:solidFill>
                <a:latin typeface="Montserrat Bold"/>
                <a:ea typeface="Montserrat Bold"/>
                <a:cs typeface="Montserrat Bold"/>
                <a:sym typeface="Montserrat Bold"/>
              </a:rPr>
              <a:t>AKTING </a:t>
            </a:r>
            <a:r>
              <a:rPr lang="en-US" sz="2054">
                <a:solidFill>
                  <a:srgbClr val="FFFFFF"/>
                </a:solidFill>
                <a:latin typeface="Montserrat"/>
                <a:ea typeface="Montserrat"/>
                <a:cs typeface="Montserrat"/>
                <a:sym typeface="Montserrat"/>
              </a:rPr>
              <a:t>&amp; </a:t>
            </a:r>
            <a:r>
              <a:rPr lang="en-US" sz="2054" b="true">
                <a:solidFill>
                  <a:srgbClr val="FFFFFF"/>
                </a:solidFill>
                <a:latin typeface="Montserrat Bold"/>
                <a:ea typeface="Montserrat Bold"/>
                <a:cs typeface="Montserrat Bold"/>
                <a:sym typeface="Montserrat Bold"/>
              </a:rPr>
              <a:t>MANGGUL </a:t>
            </a:r>
            <a:r>
              <a:rPr lang="en-US" sz="2054">
                <a:solidFill>
                  <a:srgbClr val="FFFFFF"/>
                </a:solidFill>
                <a:latin typeface="Montserrat"/>
                <a:ea typeface="Montserrat"/>
                <a:cs typeface="Montserrat"/>
                <a:sym typeface="Montserrat"/>
              </a:rPr>
              <a:t>akan tetapi makna sebenarnya adalah sindiran negatif.</a:t>
            </a:r>
          </a:p>
        </p:txBody>
      </p:sp>
      <p:sp>
        <p:nvSpPr>
          <p:cNvPr name="TextBox 36" id="36"/>
          <p:cNvSpPr txBox="true"/>
          <p:nvPr/>
        </p:nvSpPr>
        <p:spPr>
          <a:xfrm rot="0">
            <a:off x="15780737" y="190143"/>
            <a:ext cx="2238055"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#02</a:t>
            </a:r>
          </a:p>
        </p:txBody>
      </p:sp>
      <p:sp>
        <p:nvSpPr>
          <p:cNvPr name="TextBox 37" id="37"/>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2528728" y="-617183"/>
            <a:ext cx="7859468" cy="6608522"/>
            <a:chOff x="0" y="0"/>
            <a:chExt cx="10479291" cy="8811363"/>
          </a:xfrm>
        </p:grpSpPr>
        <p:sp>
          <p:nvSpPr>
            <p:cNvPr name="Freeform 4" id="4"/>
            <p:cNvSpPr/>
            <p:nvPr/>
          </p:nvSpPr>
          <p:spPr>
            <a:xfrm flipH="false" flipV="false" rot="0">
              <a:off x="0"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5" id="5"/>
            <p:cNvSpPr/>
            <p:nvPr/>
          </p:nvSpPr>
          <p:spPr>
            <a:xfrm flipH="false" flipV="false" rot="0">
              <a:off x="241006" y="39833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444206" y="41865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25691" y="421497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2192016" y="679102"/>
              <a:ext cx="5781586" cy="5858870"/>
            </a:xfrm>
            <a:custGeom>
              <a:avLst/>
              <a:gdLst/>
              <a:ahLst/>
              <a:cxnLst/>
              <a:rect r="r" b="b" t="t" l="l"/>
              <a:pathLst>
                <a:path h="5858870" w="5781586">
                  <a:moveTo>
                    <a:pt x="5781586" y="0"/>
                  </a:moveTo>
                  <a:lnTo>
                    <a:pt x="0" y="0"/>
                  </a:lnTo>
                  <a:lnTo>
                    <a:pt x="0" y="5858870"/>
                  </a:lnTo>
                  <a:lnTo>
                    <a:pt x="5781586" y="5858870"/>
                  </a:lnTo>
                  <a:lnTo>
                    <a:pt x="5781586" y="0"/>
                  </a:lnTo>
                  <a:close/>
                </a:path>
              </a:pathLst>
            </a:custGeom>
            <a:blipFill>
              <a:blip r:embed="rId6"/>
              <a:stretch>
                <a:fillRect l="-38255" t="0" r="-13844" b="0"/>
              </a:stretch>
            </a:blipFill>
          </p:spPr>
        </p:sp>
      </p:grpSp>
      <p:grpSp>
        <p:nvGrpSpPr>
          <p:cNvPr name="Group 9" id="9"/>
          <p:cNvGrpSpPr/>
          <p:nvPr/>
        </p:nvGrpSpPr>
        <p:grpSpPr>
          <a:xfrm rot="0">
            <a:off x="317056" y="3040549"/>
            <a:ext cx="5137510" cy="1334829"/>
            <a:chOff x="0" y="0"/>
            <a:chExt cx="1615256" cy="419676"/>
          </a:xfrm>
        </p:grpSpPr>
        <p:sp>
          <p:nvSpPr>
            <p:cNvPr name="Freeform 10" id="10"/>
            <p:cNvSpPr/>
            <p:nvPr/>
          </p:nvSpPr>
          <p:spPr>
            <a:xfrm flipH="false" flipV="false" rot="0">
              <a:off x="0" y="0"/>
              <a:ext cx="1615256" cy="419676"/>
            </a:xfrm>
            <a:custGeom>
              <a:avLst/>
              <a:gdLst/>
              <a:ahLst/>
              <a:cxnLst/>
              <a:rect r="r" b="b" t="t" l="l"/>
              <a:pathLst>
                <a:path h="419676" w="1615256">
                  <a:moveTo>
                    <a:pt x="0" y="0"/>
                  </a:moveTo>
                  <a:lnTo>
                    <a:pt x="1615256" y="0"/>
                  </a:lnTo>
                  <a:lnTo>
                    <a:pt x="1615256" y="419676"/>
                  </a:lnTo>
                  <a:lnTo>
                    <a:pt x="0" y="419676"/>
                  </a:lnTo>
                  <a:close/>
                </a:path>
              </a:pathLst>
            </a:custGeom>
            <a:solidFill>
              <a:srgbClr val="107FAA"/>
            </a:solidFill>
          </p:spPr>
        </p:sp>
        <p:sp>
          <p:nvSpPr>
            <p:cNvPr name="TextBox 11" id="11"/>
            <p:cNvSpPr txBox="true"/>
            <p:nvPr/>
          </p:nvSpPr>
          <p:spPr>
            <a:xfrm>
              <a:off x="0" y="76200"/>
              <a:ext cx="1615256" cy="343476"/>
            </a:xfrm>
            <a:prstGeom prst="rect">
              <a:avLst/>
            </a:prstGeom>
          </p:spPr>
          <p:txBody>
            <a:bodyPr anchor="ctr" rtlCol="false" tIns="50800" lIns="50800" bIns="50800" rIns="50800"/>
            <a:lstStyle/>
            <a:p>
              <a:pPr algn="ctr">
                <a:lnSpc>
                  <a:spcPts val="1925"/>
                </a:lnSpc>
              </a:pPr>
            </a:p>
          </p:txBody>
        </p:sp>
      </p:grpSp>
      <p:pic>
        <p:nvPicPr>
          <p:cNvPr name="Picture 12" id="12"/>
          <p:cNvPicPr>
            <a:picLocks noChangeAspect="true"/>
          </p:cNvPicPr>
          <p:nvPr/>
        </p:nvPicPr>
        <p:blipFill>
          <a:blip r:embed="rId7"/>
          <a:stretch>
            <a:fillRect/>
          </a:stretch>
        </p:blipFill>
        <p:spPr>
          <a:xfrm rot="0">
            <a:off x="144898" y="4782781"/>
            <a:ext cx="5539559" cy="5494330"/>
          </a:xfrm>
          <a:prstGeom prst="rect">
            <a:avLst/>
          </a:prstGeom>
        </p:spPr>
      </p:pic>
      <p:pic>
        <p:nvPicPr>
          <p:cNvPr name="Picture 13" id="13"/>
          <p:cNvPicPr>
            <a:picLocks noChangeAspect="true"/>
          </p:cNvPicPr>
          <p:nvPr/>
        </p:nvPicPr>
        <p:blipFill>
          <a:blip r:embed="rId8"/>
          <a:stretch>
            <a:fillRect/>
          </a:stretch>
        </p:blipFill>
        <p:spPr>
          <a:xfrm rot="0">
            <a:off x="4922219" y="5692639"/>
            <a:ext cx="7602553" cy="5015558"/>
          </a:xfrm>
          <a:prstGeom prst="rect">
            <a:avLst/>
          </a:prstGeom>
        </p:spPr>
      </p:pic>
      <p:grpSp>
        <p:nvGrpSpPr>
          <p:cNvPr name="Group 14" id="14"/>
          <p:cNvGrpSpPr/>
          <p:nvPr/>
        </p:nvGrpSpPr>
        <p:grpSpPr>
          <a:xfrm rot="0">
            <a:off x="12049737" y="3040549"/>
            <a:ext cx="5997629" cy="7034103"/>
            <a:chOff x="0" y="0"/>
            <a:chExt cx="2288130" cy="2683551"/>
          </a:xfrm>
        </p:grpSpPr>
        <p:sp>
          <p:nvSpPr>
            <p:cNvPr name="Freeform 15" id="15"/>
            <p:cNvSpPr/>
            <p:nvPr/>
          </p:nvSpPr>
          <p:spPr>
            <a:xfrm flipH="false" flipV="false" rot="0">
              <a:off x="0" y="0"/>
              <a:ext cx="2288130" cy="2683551"/>
            </a:xfrm>
            <a:custGeom>
              <a:avLst/>
              <a:gdLst/>
              <a:ahLst/>
              <a:cxnLst/>
              <a:rect r="r" b="b" t="t" l="l"/>
              <a:pathLst>
                <a:path h="2683551" w="2288130">
                  <a:moveTo>
                    <a:pt x="19362" y="0"/>
                  </a:moveTo>
                  <a:lnTo>
                    <a:pt x="2268768" y="0"/>
                  </a:lnTo>
                  <a:cubicBezTo>
                    <a:pt x="2273903" y="0"/>
                    <a:pt x="2278828" y="2040"/>
                    <a:pt x="2282459" y="5671"/>
                  </a:cubicBezTo>
                  <a:cubicBezTo>
                    <a:pt x="2286090" y="9302"/>
                    <a:pt x="2288130" y="14227"/>
                    <a:pt x="2288130" y="19362"/>
                  </a:cubicBezTo>
                  <a:lnTo>
                    <a:pt x="2288130" y="2664189"/>
                  </a:lnTo>
                  <a:cubicBezTo>
                    <a:pt x="2288130" y="2669324"/>
                    <a:pt x="2286090" y="2674249"/>
                    <a:pt x="2282459" y="2677880"/>
                  </a:cubicBezTo>
                  <a:cubicBezTo>
                    <a:pt x="2278828" y="2681511"/>
                    <a:pt x="2273903" y="2683551"/>
                    <a:pt x="2268768" y="2683551"/>
                  </a:cubicBezTo>
                  <a:lnTo>
                    <a:pt x="19362" y="2683551"/>
                  </a:lnTo>
                  <a:cubicBezTo>
                    <a:pt x="8669" y="2683551"/>
                    <a:pt x="0" y="2674882"/>
                    <a:pt x="0" y="2664189"/>
                  </a:cubicBezTo>
                  <a:lnTo>
                    <a:pt x="0" y="19362"/>
                  </a:lnTo>
                  <a:cubicBezTo>
                    <a:pt x="0" y="8669"/>
                    <a:pt x="8669" y="0"/>
                    <a:pt x="19362" y="0"/>
                  </a:cubicBezTo>
                  <a:close/>
                </a:path>
              </a:pathLst>
            </a:custGeom>
            <a:solidFill>
              <a:srgbClr val="8F1EAE"/>
            </a:solidFill>
          </p:spPr>
        </p:sp>
        <p:sp>
          <p:nvSpPr>
            <p:cNvPr name="TextBox 16" id="16"/>
            <p:cNvSpPr txBox="true"/>
            <p:nvPr/>
          </p:nvSpPr>
          <p:spPr>
            <a:xfrm>
              <a:off x="0" y="76200"/>
              <a:ext cx="2288130" cy="2607351"/>
            </a:xfrm>
            <a:prstGeom prst="rect">
              <a:avLst/>
            </a:prstGeom>
          </p:spPr>
          <p:txBody>
            <a:bodyPr anchor="ctr" rtlCol="false" tIns="50800" lIns="50800" bIns="50800" rIns="50800"/>
            <a:lstStyle/>
            <a:p>
              <a:pPr algn="ctr">
                <a:lnSpc>
                  <a:spcPts val="1925"/>
                </a:lnSpc>
              </a:pPr>
            </a:p>
          </p:txBody>
        </p:sp>
      </p:grpSp>
      <p:sp>
        <p:nvSpPr>
          <p:cNvPr name="Freeform 17" id="17"/>
          <p:cNvSpPr/>
          <p:nvPr/>
        </p:nvSpPr>
        <p:spPr>
          <a:xfrm flipH="false" flipV="false" rot="0">
            <a:off x="5561714" y="3040549"/>
            <a:ext cx="6329512" cy="3244877"/>
          </a:xfrm>
          <a:custGeom>
            <a:avLst/>
            <a:gdLst/>
            <a:ahLst/>
            <a:cxnLst/>
            <a:rect r="r" b="b" t="t" l="l"/>
            <a:pathLst>
              <a:path h="3244877" w="6329512">
                <a:moveTo>
                  <a:pt x="0" y="0"/>
                </a:moveTo>
                <a:lnTo>
                  <a:pt x="6329512" y="0"/>
                </a:lnTo>
                <a:lnTo>
                  <a:pt x="6329512" y="3244876"/>
                </a:lnTo>
                <a:lnTo>
                  <a:pt x="0" y="3244876"/>
                </a:lnTo>
                <a:lnTo>
                  <a:pt x="0" y="0"/>
                </a:lnTo>
                <a:close/>
              </a:path>
            </a:pathLst>
          </a:custGeom>
          <a:blipFill>
            <a:blip r:embed="rId9"/>
            <a:stretch>
              <a:fillRect l="0" t="0" r="0" b="0"/>
            </a:stretch>
          </a:blipFill>
        </p:spPr>
      </p:sp>
      <p:sp>
        <p:nvSpPr>
          <p:cNvPr name="Freeform 18" id="18"/>
          <p:cNvSpPr/>
          <p:nvPr/>
        </p:nvSpPr>
        <p:spPr>
          <a:xfrm flipH="false" flipV="false" rot="0">
            <a:off x="3135783" y="3653030"/>
            <a:ext cx="573826" cy="207295"/>
          </a:xfrm>
          <a:custGeom>
            <a:avLst/>
            <a:gdLst/>
            <a:ahLst/>
            <a:cxnLst/>
            <a:rect r="r" b="b" t="t" l="l"/>
            <a:pathLst>
              <a:path h="207295" w="573826">
                <a:moveTo>
                  <a:pt x="0" y="0"/>
                </a:moveTo>
                <a:lnTo>
                  <a:pt x="573826" y="0"/>
                </a:lnTo>
                <a:lnTo>
                  <a:pt x="573826" y="207295"/>
                </a:lnTo>
                <a:lnTo>
                  <a:pt x="0" y="2072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9" id="19"/>
          <p:cNvSpPr/>
          <p:nvPr/>
        </p:nvSpPr>
        <p:spPr>
          <a:xfrm flipH="false" flipV="false" rot="0">
            <a:off x="865928" y="3208650"/>
            <a:ext cx="570441" cy="571480"/>
          </a:xfrm>
          <a:custGeom>
            <a:avLst/>
            <a:gdLst/>
            <a:ahLst/>
            <a:cxnLst/>
            <a:rect r="r" b="b" t="t" l="l"/>
            <a:pathLst>
              <a:path h="571480" w="570441">
                <a:moveTo>
                  <a:pt x="0" y="0"/>
                </a:moveTo>
                <a:lnTo>
                  <a:pt x="570441" y="0"/>
                </a:lnTo>
                <a:lnTo>
                  <a:pt x="570441" y="571480"/>
                </a:lnTo>
                <a:lnTo>
                  <a:pt x="0" y="571480"/>
                </a:lnTo>
                <a:lnTo>
                  <a:pt x="0" y="0"/>
                </a:lnTo>
                <a:close/>
              </a:path>
            </a:pathLst>
          </a:custGeom>
          <a:blipFill>
            <a:blip r:embed="rId12"/>
            <a:stretch>
              <a:fillRect l="0" t="0" r="0" b="0"/>
            </a:stretch>
          </a:blipFill>
        </p:spPr>
      </p:sp>
      <p:sp>
        <p:nvSpPr>
          <p:cNvPr name="TextBox 20" id="20"/>
          <p:cNvSpPr txBox="true"/>
          <p:nvPr/>
        </p:nvSpPr>
        <p:spPr>
          <a:xfrm rot="0">
            <a:off x="2190630" y="513291"/>
            <a:ext cx="10426820" cy="2116637"/>
          </a:xfrm>
          <a:prstGeom prst="rect">
            <a:avLst/>
          </a:prstGeom>
        </p:spPr>
        <p:txBody>
          <a:bodyPr anchor="t" rtlCol="false" tIns="0" lIns="0" bIns="0" rIns="0">
            <a:spAutoFit/>
          </a:bodyPr>
          <a:lstStyle/>
          <a:p>
            <a:pPr algn="l">
              <a:lnSpc>
                <a:spcPts val="8147"/>
              </a:lnSpc>
            </a:pPr>
            <a:r>
              <a:rPr lang="en-US" sz="6678" b="true">
                <a:solidFill>
                  <a:srgbClr val="F6F4F1"/>
                </a:solidFill>
                <a:latin typeface="Poppins Bold"/>
                <a:ea typeface="Poppins Bold"/>
                <a:cs typeface="Poppins Bold"/>
                <a:sym typeface="Poppins Bold"/>
              </a:rPr>
              <a:t>SENTIMEN PUBLIK TERHADAP PEJABAT</a:t>
            </a:r>
          </a:p>
        </p:txBody>
      </p:sp>
      <p:sp>
        <p:nvSpPr>
          <p:cNvPr name="TextBox 21" id="21"/>
          <p:cNvSpPr txBox="true"/>
          <p:nvPr/>
        </p:nvSpPr>
        <p:spPr>
          <a:xfrm rot="0">
            <a:off x="10051244" y="107950"/>
            <a:ext cx="5545131" cy="1765300"/>
          </a:xfrm>
          <a:prstGeom prst="rect">
            <a:avLst/>
          </a:prstGeom>
        </p:spPr>
        <p:txBody>
          <a:bodyPr anchor="t" rtlCol="false" tIns="0" lIns="0" bIns="0" rIns="0">
            <a:spAutoFit/>
          </a:bodyPr>
          <a:lstStyle/>
          <a:p>
            <a:pPr algn="ctr">
              <a:lnSpc>
                <a:spcPts val="3500"/>
              </a:lnSpc>
              <a:spcBef>
                <a:spcPct val="0"/>
              </a:spcBef>
            </a:pPr>
            <a:r>
              <a:rPr lang="en-US" sz="2500" spc="12">
                <a:solidFill>
                  <a:srgbClr val="F6F4F1"/>
                </a:solidFill>
                <a:latin typeface="Poppins"/>
                <a:ea typeface="Poppins"/>
                <a:cs typeface="Poppins"/>
                <a:sym typeface="Poppins"/>
              </a:rPr>
              <a:t>Fase 3 </a:t>
            </a:r>
            <a:r>
              <a:rPr lang="en-US" sz="2500" spc="12">
                <a:solidFill>
                  <a:srgbClr val="F6F4F1"/>
                </a:solidFill>
                <a:latin typeface="Poppins"/>
                <a:ea typeface="Poppins"/>
                <a:cs typeface="Poppins"/>
                <a:sym typeface="Poppins"/>
              </a:rPr>
              <a:t>(1 Des 2025) : </a:t>
            </a:r>
          </a:p>
          <a:p>
            <a:pPr algn="ctr">
              <a:lnSpc>
                <a:spcPts val="3500"/>
              </a:lnSpc>
              <a:spcBef>
                <a:spcPct val="0"/>
              </a:spcBef>
            </a:pPr>
            <a:r>
              <a:rPr lang="en-US" sz="2500" spc="12">
                <a:solidFill>
                  <a:srgbClr val="F6F4F1"/>
                </a:solidFill>
                <a:latin typeface="Poppins"/>
                <a:ea typeface="Poppins"/>
                <a:cs typeface="Poppins"/>
                <a:sym typeface="Poppins"/>
              </a:rPr>
              <a:t>Klarifikasi zulkifli hasan di podcast denny sumargo (Youtobe)</a:t>
            </a:r>
          </a:p>
          <a:p>
            <a:pPr algn="ctr">
              <a:lnSpc>
                <a:spcPts val="3500"/>
              </a:lnSpc>
              <a:spcBef>
                <a:spcPct val="0"/>
              </a:spcBef>
            </a:pPr>
          </a:p>
        </p:txBody>
      </p:sp>
      <p:sp>
        <p:nvSpPr>
          <p:cNvPr name="TextBox 22" id="22"/>
          <p:cNvSpPr txBox="true"/>
          <p:nvPr/>
        </p:nvSpPr>
        <p:spPr>
          <a:xfrm rot="0">
            <a:off x="15781856" y="190143"/>
            <a:ext cx="223581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#03</a:t>
            </a:r>
          </a:p>
        </p:txBody>
      </p:sp>
      <p:sp>
        <p:nvSpPr>
          <p:cNvPr name="TextBox 23" id="23"/>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
        <p:nvSpPr>
          <p:cNvPr name="TextBox 24" id="24"/>
          <p:cNvSpPr txBox="true"/>
          <p:nvPr/>
        </p:nvSpPr>
        <p:spPr>
          <a:xfrm rot="0">
            <a:off x="704684" y="3752911"/>
            <a:ext cx="975407"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Youtobe</a:t>
            </a:r>
          </a:p>
        </p:txBody>
      </p:sp>
      <p:sp>
        <p:nvSpPr>
          <p:cNvPr name="TextBox 25" id="25"/>
          <p:cNvSpPr txBox="true"/>
          <p:nvPr/>
        </p:nvSpPr>
        <p:spPr>
          <a:xfrm rot="0">
            <a:off x="2032515" y="3569119"/>
            <a:ext cx="946642"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1044</a:t>
            </a:r>
          </a:p>
        </p:txBody>
      </p:sp>
      <p:sp>
        <p:nvSpPr>
          <p:cNvPr name="TextBox 26" id="26"/>
          <p:cNvSpPr txBox="true"/>
          <p:nvPr/>
        </p:nvSpPr>
        <p:spPr>
          <a:xfrm rot="0">
            <a:off x="1948666" y="3313532"/>
            <a:ext cx="1153234"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Awal</a:t>
            </a:r>
          </a:p>
        </p:txBody>
      </p:sp>
      <p:sp>
        <p:nvSpPr>
          <p:cNvPr name="TextBox 27" id="27"/>
          <p:cNvSpPr txBox="true"/>
          <p:nvPr/>
        </p:nvSpPr>
        <p:spPr>
          <a:xfrm rot="0">
            <a:off x="3795337" y="3291774"/>
            <a:ext cx="1193525"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Akhir</a:t>
            </a:r>
          </a:p>
        </p:txBody>
      </p:sp>
      <p:sp>
        <p:nvSpPr>
          <p:cNvPr name="TextBox 28" id="28"/>
          <p:cNvSpPr txBox="true"/>
          <p:nvPr/>
        </p:nvSpPr>
        <p:spPr>
          <a:xfrm rot="0">
            <a:off x="4027529" y="3540544"/>
            <a:ext cx="723826"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636</a:t>
            </a:r>
          </a:p>
        </p:txBody>
      </p:sp>
      <p:sp>
        <p:nvSpPr>
          <p:cNvPr name="TextBox 29" id="29"/>
          <p:cNvSpPr txBox="true"/>
          <p:nvPr/>
        </p:nvSpPr>
        <p:spPr>
          <a:xfrm rot="0">
            <a:off x="12119826" y="3170550"/>
            <a:ext cx="5697171" cy="6323965"/>
          </a:xfrm>
          <a:prstGeom prst="rect">
            <a:avLst/>
          </a:prstGeom>
        </p:spPr>
        <p:txBody>
          <a:bodyPr anchor="t" rtlCol="false" tIns="0" lIns="0" bIns="0" rIns="0">
            <a:spAutoFit/>
          </a:bodyPr>
          <a:lstStyle/>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Data sentimen publik ini saya ambil dari postingan youtobe podcast denny sumargo dengan bapak zulhas berkaitan dengan klarifikasi bapak zulhas terhadap video dokumentasi yang dibuat oleh harrison ford.</a:t>
            </a:r>
          </a:p>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Frekuensi kata yang sering muncul adalah kata </a:t>
            </a:r>
            <a:r>
              <a:rPr lang="en-US" b="true" sz="1899">
                <a:solidFill>
                  <a:srgbClr val="FFFFFF"/>
                </a:solidFill>
                <a:latin typeface="Montserrat Bold"/>
                <a:ea typeface="Montserrat Bold"/>
                <a:cs typeface="Montserrat Bold"/>
                <a:sym typeface="Montserrat Bold"/>
              </a:rPr>
              <a:t>RAKYAT</a:t>
            </a:r>
            <a:r>
              <a:rPr lang="en-US" sz="1899">
                <a:solidFill>
                  <a:srgbClr val="FFFFFF"/>
                </a:solidFill>
                <a:latin typeface="Montserrat"/>
                <a:ea typeface="Montserrat"/>
                <a:cs typeface="Montserrat"/>
                <a:sym typeface="Montserrat"/>
              </a:rPr>
              <a:t> dan </a:t>
            </a:r>
            <a:r>
              <a:rPr lang="en-US" b="true" sz="1899">
                <a:solidFill>
                  <a:srgbClr val="FFFFFF"/>
                </a:solidFill>
                <a:latin typeface="Montserrat Bold"/>
                <a:ea typeface="Montserrat Bold"/>
                <a:cs typeface="Montserrat Bold"/>
                <a:sym typeface="Montserrat Bold"/>
              </a:rPr>
              <a:t>PEJABAT</a:t>
            </a:r>
            <a:r>
              <a:rPr lang="en-US" sz="1899">
                <a:solidFill>
                  <a:srgbClr val="FFFFFF"/>
                </a:solidFill>
                <a:latin typeface="Montserrat"/>
                <a:ea typeface="Montserrat"/>
                <a:cs typeface="Montserrat"/>
                <a:sym typeface="Montserrat"/>
              </a:rPr>
              <a:t>, hal ini menunjukan bahwa sentimen publik banyak membandingkan antara rakyat dan pejabat, baik kondisi, perilaku, dll. kata </a:t>
            </a:r>
            <a:r>
              <a:rPr lang="en-US" b="true" sz="1899">
                <a:solidFill>
                  <a:srgbClr val="FFFFFF"/>
                </a:solidFill>
                <a:latin typeface="Montserrat Bold"/>
                <a:ea typeface="Montserrat Bold"/>
                <a:cs typeface="Montserrat Bold"/>
                <a:sym typeface="Montserrat Bold"/>
              </a:rPr>
              <a:t>DUNIA, AKHIRTA, SEMOGA</a:t>
            </a:r>
            <a:r>
              <a:rPr lang="en-US" sz="1899">
                <a:solidFill>
                  <a:srgbClr val="FFFFFF"/>
                </a:solidFill>
                <a:latin typeface="Montserrat"/>
                <a:ea typeface="Montserrat"/>
                <a:cs typeface="Montserrat"/>
                <a:sym typeface="Montserrat"/>
              </a:rPr>
              <a:t> menunjukan sikap pasrah &amp; berharap publik terhadap yang Maha Kuasa atas sikap para pejabat, khususnya  zulkifli hasan.</a:t>
            </a:r>
          </a:p>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Sentimen publik didominasi sikap netral dibandingkan sikap negatif dan positif. akan tetapi sentimen negatif lebih tinggi dibandingkan sentimen positif</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3549483" y="759722"/>
            <a:ext cx="10815050" cy="743937"/>
            <a:chOff x="0" y="0"/>
            <a:chExt cx="2848408" cy="195934"/>
          </a:xfrm>
        </p:grpSpPr>
        <p:sp>
          <p:nvSpPr>
            <p:cNvPr name="Freeform 4" id="4"/>
            <p:cNvSpPr/>
            <p:nvPr/>
          </p:nvSpPr>
          <p:spPr>
            <a:xfrm flipH="false" flipV="false" rot="0">
              <a:off x="0" y="0"/>
              <a:ext cx="2848408" cy="195934"/>
            </a:xfrm>
            <a:custGeom>
              <a:avLst/>
              <a:gdLst/>
              <a:ahLst/>
              <a:cxnLst/>
              <a:rect r="r" b="b" t="t" l="l"/>
              <a:pathLst>
                <a:path h="195934" w="2848408">
                  <a:moveTo>
                    <a:pt x="36508" y="0"/>
                  </a:moveTo>
                  <a:lnTo>
                    <a:pt x="2811900" y="0"/>
                  </a:lnTo>
                  <a:cubicBezTo>
                    <a:pt x="2821583" y="0"/>
                    <a:pt x="2830869" y="3846"/>
                    <a:pt x="2837715" y="10693"/>
                  </a:cubicBezTo>
                  <a:cubicBezTo>
                    <a:pt x="2844562" y="17540"/>
                    <a:pt x="2848408" y="26826"/>
                    <a:pt x="2848408" y="36508"/>
                  </a:cubicBezTo>
                  <a:lnTo>
                    <a:pt x="2848408" y="159426"/>
                  </a:lnTo>
                  <a:cubicBezTo>
                    <a:pt x="2848408" y="169108"/>
                    <a:pt x="2844562" y="178394"/>
                    <a:pt x="2837715" y="185241"/>
                  </a:cubicBezTo>
                  <a:cubicBezTo>
                    <a:pt x="2830869" y="192088"/>
                    <a:pt x="2821583" y="195934"/>
                    <a:pt x="2811900" y="195934"/>
                  </a:cubicBezTo>
                  <a:lnTo>
                    <a:pt x="36508" y="195934"/>
                  </a:lnTo>
                  <a:cubicBezTo>
                    <a:pt x="26826" y="195934"/>
                    <a:pt x="17540" y="192088"/>
                    <a:pt x="10693" y="185241"/>
                  </a:cubicBezTo>
                  <a:cubicBezTo>
                    <a:pt x="3846" y="178394"/>
                    <a:pt x="0" y="169108"/>
                    <a:pt x="0" y="159426"/>
                  </a:cubicBezTo>
                  <a:lnTo>
                    <a:pt x="0" y="36508"/>
                  </a:lnTo>
                  <a:cubicBezTo>
                    <a:pt x="0" y="26826"/>
                    <a:pt x="3846" y="17540"/>
                    <a:pt x="10693" y="10693"/>
                  </a:cubicBezTo>
                  <a:cubicBezTo>
                    <a:pt x="17540" y="3846"/>
                    <a:pt x="26826" y="0"/>
                    <a:pt x="36508" y="0"/>
                  </a:cubicBezTo>
                  <a:close/>
                </a:path>
              </a:pathLst>
            </a:custGeom>
            <a:solidFill>
              <a:srgbClr val="F1F0EC"/>
            </a:solidFill>
          </p:spPr>
        </p:sp>
        <p:sp>
          <p:nvSpPr>
            <p:cNvPr name="TextBox 5" id="5"/>
            <p:cNvSpPr txBox="true"/>
            <p:nvPr/>
          </p:nvSpPr>
          <p:spPr>
            <a:xfrm>
              <a:off x="0" y="76200"/>
              <a:ext cx="2848408" cy="119734"/>
            </a:xfrm>
            <a:prstGeom prst="rect">
              <a:avLst/>
            </a:prstGeom>
          </p:spPr>
          <p:txBody>
            <a:bodyPr anchor="ctr" rtlCol="false" tIns="50800" lIns="50800" bIns="50800" rIns="50800"/>
            <a:lstStyle/>
            <a:p>
              <a:pPr algn="ctr">
                <a:lnSpc>
                  <a:spcPts val="1848"/>
                </a:lnSpc>
              </a:pPr>
              <a:r>
                <a:rPr lang="en-US" b="true" sz="2400" spc="-12">
                  <a:solidFill>
                    <a:srgbClr val="191919"/>
                  </a:solidFill>
                  <a:latin typeface="Poppins Semi-Bold"/>
                  <a:ea typeface="Poppins Semi-Bold"/>
                  <a:cs typeface="Poppins Semi-Bold"/>
                  <a:sym typeface="Poppins Semi-Bold"/>
                </a:rPr>
                <a:t>Sentimen Publik Terhadap Zulkifli Hasan Dalam Bentuk World Cloud</a:t>
              </a:r>
            </a:p>
          </p:txBody>
        </p:sp>
      </p:grpSp>
      <p:grpSp>
        <p:nvGrpSpPr>
          <p:cNvPr name="Group 6" id="6"/>
          <p:cNvGrpSpPr/>
          <p:nvPr/>
        </p:nvGrpSpPr>
        <p:grpSpPr>
          <a:xfrm rot="0">
            <a:off x="380978" y="6375242"/>
            <a:ext cx="5482717" cy="3633980"/>
            <a:chOff x="0" y="0"/>
            <a:chExt cx="2091688" cy="1386384"/>
          </a:xfrm>
        </p:grpSpPr>
        <p:sp>
          <p:nvSpPr>
            <p:cNvPr name="Freeform 7" id="7"/>
            <p:cNvSpPr/>
            <p:nvPr/>
          </p:nvSpPr>
          <p:spPr>
            <a:xfrm flipH="false" flipV="false" rot="0">
              <a:off x="0" y="0"/>
              <a:ext cx="2091688" cy="1386384"/>
            </a:xfrm>
            <a:custGeom>
              <a:avLst/>
              <a:gdLst/>
              <a:ahLst/>
              <a:cxnLst/>
              <a:rect r="r" b="b" t="t" l="l"/>
              <a:pathLst>
                <a:path h="1386384" w="2091688">
                  <a:moveTo>
                    <a:pt x="21181" y="0"/>
                  </a:moveTo>
                  <a:lnTo>
                    <a:pt x="2070508" y="0"/>
                  </a:lnTo>
                  <a:cubicBezTo>
                    <a:pt x="2076125" y="0"/>
                    <a:pt x="2081512" y="2232"/>
                    <a:pt x="2085485" y="6204"/>
                  </a:cubicBezTo>
                  <a:cubicBezTo>
                    <a:pt x="2089457" y="10176"/>
                    <a:pt x="2091688" y="15563"/>
                    <a:pt x="2091688" y="21181"/>
                  </a:cubicBezTo>
                  <a:lnTo>
                    <a:pt x="2091688" y="1365204"/>
                  </a:lnTo>
                  <a:cubicBezTo>
                    <a:pt x="2091688" y="1370821"/>
                    <a:pt x="2089457" y="1376209"/>
                    <a:pt x="2085485" y="1380181"/>
                  </a:cubicBezTo>
                  <a:cubicBezTo>
                    <a:pt x="2081512" y="1384153"/>
                    <a:pt x="2076125" y="1386384"/>
                    <a:pt x="2070508" y="1386384"/>
                  </a:cubicBezTo>
                  <a:lnTo>
                    <a:pt x="21181" y="1386384"/>
                  </a:lnTo>
                  <a:cubicBezTo>
                    <a:pt x="15563" y="1386384"/>
                    <a:pt x="10176" y="1384153"/>
                    <a:pt x="6204" y="1380181"/>
                  </a:cubicBezTo>
                  <a:cubicBezTo>
                    <a:pt x="2232" y="1376209"/>
                    <a:pt x="0" y="1370821"/>
                    <a:pt x="0" y="1365204"/>
                  </a:cubicBezTo>
                  <a:lnTo>
                    <a:pt x="0" y="21181"/>
                  </a:lnTo>
                  <a:cubicBezTo>
                    <a:pt x="0" y="15563"/>
                    <a:pt x="2232" y="10176"/>
                    <a:pt x="6204" y="6204"/>
                  </a:cubicBezTo>
                  <a:cubicBezTo>
                    <a:pt x="10176" y="2232"/>
                    <a:pt x="15563" y="0"/>
                    <a:pt x="21181" y="0"/>
                  </a:cubicBezTo>
                  <a:close/>
                </a:path>
              </a:pathLst>
            </a:custGeom>
            <a:solidFill>
              <a:srgbClr val="8F1EAE"/>
            </a:solidFill>
          </p:spPr>
        </p:sp>
        <p:sp>
          <p:nvSpPr>
            <p:cNvPr name="TextBox 8" id="8"/>
            <p:cNvSpPr txBox="true"/>
            <p:nvPr/>
          </p:nvSpPr>
          <p:spPr>
            <a:xfrm>
              <a:off x="0" y="76200"/>
              <a:ext cx="2091688" cy="1310184"/>
            </a:xfrm>
            <a:prstGeom prst="rect">
              <a:avLst/>
            </a:prstGeom>
          </p:spPr>
          <p:txBody>
            <a:bodyPr anchor="ctr" rtlCol="false" tIns="50800" lIns="50800" bIns="50800" rIns="50800"/>
            <a:lstStyle/>
            <a:p>
              <a:pPr algn="ctr">
                <a:lnSpc>
                  <a:spcPts val="1925"/>
                </a:lnSpc>
              </a:pPr>
            </a:p>
          </p:txBody>
        </p:sp>
      </p:grpSp>
      <p:grpSp>
        <p:nvGrpSpPr>
          <p:cNvPr name="Group 9" id="9"/>
          <p:cNvGrpSpPr/>
          <p:nvPr/>
        </p:nvGrpSpPr>
        <p:grpSpPr>
          <a:xfrm rot="0">
            <a:off x="12741170" y="2303759"/>
            <a:ext cx="4792303" cy="668124"/>
            <a:chOff x="0" y="0"/>
            <a:chExt cx="1220438" cy="170149"/>
          </a:xfrm>
        </p:grpSpPr>
        <p:sp>
          <p:nvSpPr>
            <p:cNvPr name="Freeform 10" id="10"/>
            <p:cNvSpPr/>
            <p:nvPr/>
          </p:nvSpPr>
          <p:spPr>
            <a:xfrm flipH="false" flipV="false" rot="0">
              <a:off x="0" y="0"/>
              <a:ext cx="1220438" cy="170149"/>
            </a:xfrm>
            <a:custGeom>
              <a:avLst/>
              <a:gdLst/>
              <a:ahLst/>
              <a:cxnLst/>
              <a:rect r="r" b="b" t="t" l="l"/>
              <a:pathLst>
                <a:path h="170149" w="1220438">
                  <a:moveTo>
                    <a:pt x="82390" y="0"/>
                  </a:moveTo>
                  <a:lnTo>
                    <a:pt x="1138048" y="0"/>
                  </a:lnTo>
                  <a:cubicBezTo>
                    <a:pt x="1183551" y="0"/>
                    <a:pt x="1220438" y="36887"/>
                    <a:pt x="1220438" y="82390"/>
                  </a:cubicBezTo>
                  <a:lnTo>
                    <a:pt x="1220438" y="87759"/>
                  </a:lnTo>
                  <a:cubicBezTo>
                    <a:pt x="1220438" y="109610"/>
                    <a:pt x="1211758" y="130566"/>
                    <a:pt x="1196307" y="146017"/>
                  </a:cubicBezTo>
                  <a:cubicBezTo>
                    <a:pt x="1180856" y="161468"/>
                    <a:pt x="1159900" y="170149"/>
                    <a:pt x="1138048" y="170149"/>
                  </a:cubicBezTo>
                  <a:lnTo>
                    <a:pt x="82390" y="170149"/>
                  </a:lnTo>
                  <a:cubicBezTo>
                    <a:pt x="36887" y="170149"/>
                    <a:pt x="0" y="133261"/>
                    <a:pt x="0" y="87759"/>
                  </a:cubicBezTo>
                  <a:lnTo>
                    <a:pt x="0" y="82390"/>
                  </a:lnTo>
                  <a:cubicBezTo>
                    <a:pt x="0" y="36887"/>
                    <a:pt x="36887" y="0"/>
                    <a:pt x="82390" y="0"/>
                  </a:cubicBezTo>
                  <a:close/>
                </a:path>
              </a:pathLst>
            </a:custGeom>
            <a:solidFill>
              <a:srgbClr val="F6F4F1"/>
            </a:solidFill>
          </p:spPr>
        </p:sp>
        <p:sp>
          <p:nvSpPr>
            <p:cNvPr name="TextBox 11" id="11"/>
            <p:cNvSpPr txBox="true"/>
            <p:nvPr/>
          </p:nvSpPr>
          <p:spPr>
            <a:xfrm>
              <a:off x="0" y="76200"/>
              <a:ext cx="1220438"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(Netral)</a:t>
              </a:r>
            </a:p>
          </p:txBody>
        </p:sp>
      </p:grpSp>
      <p:grpSp>
        <p:nvGrpSpPr>
          <p:cNvPr name="Group 12" id="12"/>
          <p:cNvGrpSpPr/>
          <p:nvPr/>
        </p:nvGrpSpPr>
        <p:grpSpPr>
          <a:xfrm rot="0">
            <a:off x="-2528728" y="-617183"/>
            <a:ext cx="7859468" cy="6608522"/>
            <a:chOff x="0" y="0"/>
            <a:chExt cx="10479291" cy="8811363"/>
          </a:xfrm>
        </p:grpSpPr>
        <p:sp>
          <p:nvSpPr>
            <p:cNvPr name="Freeform 13" id="13"/>
            <p:cNvSpPr/>
            <p:nvPr/>
          </p:nvSpPr>
          <p:spPr>
            <a:xfrm flipH="false" flipV="false" rot="0">
              <a:off x="0"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14" id="14"/>
            <p:cNvSpPr/>
            <p:nvPr/>
          </p:nvSpPr>
          <p:spPr>
            <a:xfrm flipH="false" flipV="false" rot="0">
              <a:off x="241006" y="39833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0">
              <a:off x="444206" y="4186538"/>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725691" y="421497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true" flipV="false" rot="0">
              <a:off x="2192016" y="679102"/>
              <a:ext cx="5781586" cy="5858870"/>
            </a:xfrm>
            <a:custGeom>
              <a:avLst/>
              <a:gdLst/>
              <a:ahLst/>
              <a:cxnLst/>
              <a:rect r="r" b="b" t="t" l="l"/>
              <a:pathLst>
                <a:path h="5858870" w="5781586">
                  <a:moveTo>
                    <a:pt x="5781586" y="0"/>
                  </a:moveTo>
                  <a:lnTo>
                    <a:pt x="0" y="0"/>
                  </a:lnTo>
                  <a:lnTo>
                    <a:pt x="0" y="5858870"/>
                  </a:lnTo>
                  <a:lnTo>
                    <a:pt x="5781586" y="5858870"/>
                  </a:lnTo>
                  <a:lnTo>
                    <a:pt x="5781586" y="0"/>
                  </a:lnTo>
                  <a:close/>
                </a:path>
              </a:pathLst>
            </a:custGeom>
            <a:blipFill>
              <a:blip r:embed="rId6"/>
              <a:stretch>
                <a:fillRect l="-38255" t="0" r="-13844" b="0"/>
              </a:stretch>
            </a:blipFill>
          </p:spPr>
        </p:sp>
      </p:grpSp>
      <p:grpSp>
        <p:nvGrpSpPr>
          <p:cNvPr name="Group 18" id="18"/>
          <p:cNvGrpSpPr/>
          <p:nvPr/>
        </p:nvGrpSpPr>
        <p:grpSpPr>
          <a:xfrm rot="0">
            <a:off x="631097" y="2303759"/>
            <a:ext cx="4947678" cy="668124"/>
            <a:chOff x="0" y="0"/>
            <a:chExt cx="1260007" cy="170149"/>
          </a:xfrm>
        </p:grpSpPr>
        <p:sp>
          <p:nvSpPr>
            <p:cNvPr name="Freeform 19" id="19"/>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20" id="20"/>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(Positif)</a:t>
              </a:r>
            </a:p>
          </p:txBody>
        </p:sp>
      </p:grpSp>
      <p:grpSp>
        <p:nvGrpSpPr>
          <p:cNvPr name="Group 21" id="21"/>
          <p:cNvGrpSpPr/>
          <p:nvPr/>
        </p:nvGrpSpPr>
        <p:grpSpPr>
          <a:xfrm rot="0">
            <a:off x="6606751" y="2303759"/>
            <a:ext cx="4995828" cy="668124"/>
            <a:chOff x="0" y="0"/>
            <a:chExt cx="1272269" cy="170149"/>
          </a:xfrm>
        </p:grpSpPr>
        <p:sp>
          <p:nvSpPr>
            <p:cNvPr name="Freeform 22" id="22"/>
            <p:cNvSpPr/>
            <p:nvPr/>
          </p:nvSpPr>
          <p:spPr>
            <a:xfrm flipH="false" flipV="false" rot="0">
              <a:off x="0" y="0"/>
              <a:ext cx="1272269" cy="170149"/>
            </a:xfrm>
            <a:custGeom>
              <a:avLst/>
              <a:gdLst/>
              <a:ahLst/>
              <a:cxnLst/>
              <a:rect r="r" b="b" t="t" l="l"/>
              <a:pathLst>
                <a:path h="170149" w="1272269">
                  <a:moveTo>
                    <a:pt x="79034" y="0"/>
                  </a:moveTo>
                  <a:lnTo>
                    <a:pt x="1193236" y="0"/>
                  </a:lnTo>
                  <a:cubicBezTo>
                    <a:pt x="1236885" y="0"/>
                    <a:pt x="1272269" y="35385"/>
                    <a:pt x="1272269" y="79034"/>
                  </a:cubicBezTo>
                  <a:lnTo>
                    <a:pt x="1272269" y="91115"/>
                  </a:lnTo>
                  <a:cubicBezTo>
                    <a:pt x="1272269" y="134764"/>
                    <a:pt x="1236885" y="170149"/>
                    <a:pt x="1193236" y="170149"/>
                  </a:cubicBezTo>
                  <a:lnTo>
                    <a:pt x="79034" y="170149"/>
                  </a:lnTo>
                  <a:cubicBezTo>
                    <a:pt x="35385" y="170149"/>
                    <a:pt x="0" y="134764"/>
                    <a:pt x="0" y="91115"/>
                  </a:cubicBezTo>
                  <a:lnTo>
                    <a:pt x="0" y="79034"/>
                  </a:lnTo>
                  <a:cubicBezTo>
                    <a:pt x="0" y="35385"/>
                    <a:pt x="35385" y="0"/>
                    <a:pt x="79034" y="0"/>
                  </a:cubicBezTo>
                  <a:close/>
                </a:path>
              </a:pathLst>
            </a:custGeom>
            <a:solidFill>
              <a:srgbClr val="F6F4F1"/>
            </a:solidFill>
          </p:spPr>
        </p:sp>
        <p:sp>
          <p:nvSpPr>
            <p:cNvPr name="TextBox 23" id="23"/>
            <p:cNvSpPr txBox="true"/>
            <p:nvPr/>
          </p:nvSpPr>
          <p:spPr>
            <a:xfrm>
              <a:off x="0" y="76200"/>
              <a:ext cx="1272269"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(Negatif)</a:t>
              </a:r>
            </a:p>
          </p:txBody>
        </p:sp>
      </p:grpSp>
      <p:grpSp>
        <p:nvGrpSpPr>
          <p:cNvPr name="Group 24" id="24"/>
          <p:cNvGrpSpPr/>
          <p:nvPr/>
        </p:nvGrpSpPr>
        <p:grpSpPr>
          <a:xfrm rot="0">
            <a:off x="6449570" y="6375242"/>
            <a:ext cx="5539230" cy="3633980"/>
            <a:chOff x="0" y="0"/>
            <a:chExt cx="2113249" cy="1386384"/>
          </a:xfrm>
        </p:grpSpPr>
        <p:sp>
          <p:nvSpPr>
            <p:cNvPr name="Freeform 25" id="25"/>
            <p:cNvSpPr/>
            <p:nvPr/>
          </p:nvSpPr>
          <p:spPr>
            <a:xfrm flipH="false" flipV="false" rot="0">
              <a:off x="0" y="0"/>
              <a:ext cx="2113249" cy="1386384"/>
            </a:xfrm>
            <a:custGeom>
              <a:avLst/>
              <a:gdLst/>
              <a:ahLst/>
              <a:cxnLst/>
              <a:rect r="r" b="b" t="t" l="l"/>
              <a:pathLst>
                <a:path h="1386384" w="2113249">
                  <a:moveTo>
                    <a:pt x="20965" y="0"/>
                  </a:moveTo>
                  <a:lnTo>
                    <a:pt x="2092284" y="0"/>
                  </a:lnTo>
                  <a:cubicBezTo>
                    <a:pt x="2103862" y="0"/>
                    <a:pt x="2113249" y="9386"/>
                    <a:pt x="2113249" y="20965"/>
                  </a:cubicBezTo>
                  <a:lnTo>
                    <a:pt x="2113249" y="1365420"/>
                  </a:lnTo>
                  <a:cubicBezTo>
                    <a:pt x="2113249" y="1376998"/>
                    <a:pt x="2103862" y="1386384"/>
                    <a:pt x="2092284" y="1386384"/>
                  </a:cubicBezTo>
                  <a:lnTo>
                    <a:pt x="20965" y="1386384"/>
                  </a:lnTo>
                  <a:cubicBezTo>
                    <a:pt x="9386" y="1386384"/>
                    <a:pt x="0" y="1376998"/>
                    <a:pt x="0" y="1365420"/>
                  </a:cubicBezTo>
                  <a:lnTo>
                    <a:pt x="0" y="20965"/>
                  </a:lnTo>
                  <a:cubicBezTo>
                    <a:pt x="0" y="9386"/>
                    <a:pt x="9386" y="0"/>
                    <a:pt x="20965" y="0"/>
                  </a:cubicBezTo>
                  <a:close/>
                </a:path>
              </a:pathLst>
            </a:custGeom>
            <a:solidFill>
              <a:srgbClr val="8F1EAE"/>
            </a:solidFill>
          </p:spPr>
        </p:sp>
        <p:sp>
          <p:nvSpPr>
            <p:cNvPr name="TextBox 26" id="26"/>
            <p:cNvSpPr txBox="true"/>
            <p:nvPr/>
          </p:nvSpPr>
          <p:spPr>
            <a:xfrm>
              <a:off x="0" y="76200"/>
              <a:ext cx="2113249" cy="1310184"/>
            </a:xfrm>
            <a:prstGeom prst="rect">
              <a:avLst/>
            </a:prstGeom>
          </p:spPr>
          <p:txBody>
            <a:bodyPr anchor="ctr" rtlCol="false" tIns="50800" lIns="50800" bIns="50800" rIns="50800"/>
            <a:lstStyle/>
            <a:p>
              <a:pPr algn="ctr">
                <a:lnSpc>
                  <a:spcPts val="1925"/>
                </a:lnSpc>
              </a:pPr>
            </a:p>
          </p:txBody>
        </p:sp>
      </p:grpSp>
      <p:grpSp>
        <p:nvGrpSpPr>
          <p:cNvPr name="Group 27" id="27"/>
          <p:cNvGrpSpPr/>
          <p:nvPr/>
        </p:nvGrpSpPr>
        <p:grpSpPr>
          <a:xfrm rot="0">
            <a:off x="12626870" y="6375242"/>
            <a:ext cx="5317424" cy="3633980"/>
            <a:chOff x="0" y="0"/>
            <a:chExt cx="2028628" cy="1386384"/>
          </a:xfrm>
        </p:grpSpPr>
        <p:sp>
          <p:nvSpPr>
            <p:cNvPr name="Freeform 28" id="28"/>
            <p:cNvSpPr/>
            <p:nvPr/>
          </p:nvSpPr>
          <p:spPr>
            <a:xfrm flipH="false" flipV="false" rot="0">
              <a:off x="0" y="0"/>
              <a:ext cx="2028628" cy="1386384"/>
            </a:xfrm>
            <a:custGeom>
              <a:avLst/>
              <a:gdLst/>
              <a:ahLst/>
              <a:cxnLst/>
              <a:rect r="r" b="b" t="t" l="l"/>
              <a:pathLst>
                <a:path h="1386384" w="2028628">
                  <a:moveTo>
                    <a:pt x="21839" y="0"/>
                  </a:moveTo>
                  <a:lnTo>
                    <a:pt x="2006789" y="0"/>
                  </a:lnTo>
                  <a:cubicBezTo>
                    <a:pt x="2012581" y="0"/>
                    <a:pt x="2018136" y="2301"/>
                    <a:pt x="2022232" y="6397"/>
                  </a:cubicBezTo>
                  <a:cubicBezTo>
                    <a:pt x="2026327" y="10492"/>
                    <a:pt x="2028628" y="16047"/>
                    <a:pt x="2028628" y="21839"/>
                  </a:cubicBezTo>
                  <a:lnTo>
                    <a:pt x="2028628" y="1364545"/>
                  </a:lnTo>
                  <a:cubicBezTo>
                    <a:pt x="2028628" y="1376607"/>
                    <a:pt x="2018851" y="1386384"/>
                    <a:pt x="2006789" y="1386384"/>
                  </a:cubicBezTo>
                  <a:lnTo>
                    <a:pt x="21839" y="1386384"/>
                  </a:lnTo>
                  <a:cubicBezTo>
                    <a:pt x="16047" y="1386384"/>
                    <a:pt x="10492" y="1384084"/>
                    <a:pt x="6397" y="1379988"/>
                  </a:cubicBezTo>
                  <a:cubicBezTo>
                    <a:pt x="2301" y="1375892"/>
                    <a:pt x="0" y="1370337"/>
                    <a:pt x="0" y="1364545"/>
                  </a:cubicBezTo>
                  <a:lnTo>
                    <a:pt x="0" y="21839"/>
                  </a:lnTo>
                  <a:cubicBezTo>
                    <a:pt x="0" y="16047"/>
                    <a:pt x="2301" y="10492"/>
                    <a:pt x="6397" y="6397"/>
                  </a:cubicBezTo>
                  <a:cubicBezTo>
                    <a:pt x="10492" y="2301"/>
                    <a:pt x="16047" y="0"/>
                    <a:pt x="21839" y="0"/>
                  </a:cubicBezTo>
                  <a:close/>
                </a:path>
              </a:pathLst>
            </a:custGeom>
            <a:solidFill>
              <a:srgbClr val="8F1EAE"/>
            </a:solidFill>
          </p:spPr>
        </p:sp>
        <p:sp>
          <p:nvSpPr>
            <p:cNvPr name="TextBox 29" id="29"/>
            <p:cNvSpPr txBox="true"/>
            <p:nvPr/>
          </p:nvSpPr>
          <p:spPr>
            <a:xfrm>
              <a:off x="0" y="76200"/>
              <a:ext cx="2028628" cy="1310184"/>
            </a:xfrm>
            <a:prstGeom prst="rect">
              <a:avLst/>
            </a:prstGeom>
          </p:spPr>
          <p:txBody>
            <a:bodyPr anchor="ctr" rtlCol="false" tIns="50800" lIns="50800" bIns="50800" rIns="50800"/>
            <a:lstStyle/>
            <a:p>
              <a:pPr algn="ctr">
                <a:lnSpc>
                  <a:spcPts val="1925"/>
                </a:lnSpc>
              </a:pPr>
            </a:p>
          </p:txBody>
        </p:sp>
      </p:grpSp>
      <p:sp>
        <p:nvSpPr>
          <p:cNvPr name="Freeform 30" id="30"/>
          <p:cNvSpPr/>
          <p:nvPr/>
        </p:nvSpPr>
        <p:spPr>
          <a:xfrm flipH="false" flipV="false" rot="0">
            <a:off x="502730" y="3136550"/>
            <a:ext cx="5353514" cy="2907161"/>
          </a:xfrm>
          <a:custGeom>
            <a:avLst/>
            <a:gdLst/>
            <a:ahLst/>
            <a:cxnLst/>
            <a:rect r="r" b="b" t="t" l="l"/>
            <a:pathLst>
              <a:path h="2907161" w="5353514">
                <a:moveTo>
                  <a:pt x="0" y="0"/>
                </a:moveTo>
                <a:lnTo>
                  <a:pt x="5353513" y="0"/>
                </a:lnTo>
                <a:lnTo>
                  <a:pt x="5353513" y="2907161"/>
                </a:lnTo>
                <a:lnTo>
                  <a:pt x="0" y="2907161"/>
                </a:lnTo>
                <a:lnTo>
                  <a:pt x="0" y="0"/>
                </a:lnTo>
                <a:close/>
              </a:path>
            </a:pathLst>
          </a:custGeom>
          <a:blipFill>
            <a:blip r:embed="rId7"/>
            <a:stretch>
              <a:fillRect l="0" t="0" r="0" b="0"/>
            </a:stretch>
          </a:blipFill>
        </p:spPr>
      </p:sp>
      <p:sp>
        <p:nvSpPr>
          <p:cNvPr name="Freeform 31" id="31"/>
          <p:cNvSpPr/>
          <p:nvPr/>
        </p:nvSpPr>
        <p:spPr>
          <a:xfrm flipH="false" flipV="false" rot="0">
            <a:off x="12495815" y="3136550"/>
            <a:ext cx="5448480" cy="2958731"/>
          </a:xfrm>
          <a:custGeom>
            <a:avLst/>
            <a:gdLst/>
            <a:ahLst/>
            <a:cxnLst/>
            <a:rect r="r" b="b" t="t" l="l"/>
            <a:pathLst>
              <a:path h="2958731" w="5448480">
                <a:moveTo>
                  <a:pt x="0" y="0"/>
                </a:moveTo>
                <a:lnTo>
                  <a:pt x="5448480" y="0"/>
                </a:lnTo>
                <a:lnTo>
                  <a:pt x="5448480" y="2958731"/>
                </a:lnTo>
                <a:lnTo>
                  <a:pt x="0" y="2958731"/>
                </a:lnTo>
                <a:lnTo>
                  <a:pt x="0" y="0"/>
                </a:lnTo>
                <a:close/>
              </a:path>
            </a:pathLst>
          </a:custGeom>
          <a:blipFill>
            <a:blip r:embed="rId8"/>
            <a:stretch>
              <a:fillRect l="0" t="0" r="0" b="0"/>
            </a:stretch>
          </a:blipFill>
        </p:spPr>
      </p:sp>
      <p:sp>
        <p:nvSpPr>
          <p:cNvPr name="Freeform 32" id="32"/>
          <p:cNvSpPr/>
          <p:nvPr/>
        </p:nvSpPr>
        <p:spPr>
          <a:xfrm flipH="false" flipV="false" rot="0">
            <a:off x="6509090" y="3136550"/>
            <a:ext cx="5353514" cy="2907161"/>
          </a:xfrm>
          <a:custGeom>
            <a:avLst/>
            <a:gdLst/>
            <a:ahLst/>
            <a:cxnLst/>
            <a:rect r="r" b="b" t="t" l="l"/>
            <a:pathLst>
              <a:path h="2907161" w="5353514">
                <a:moveTo>
                  <a:pt x="0" y="0"/>
                </a:moveTo>
                <a:lnTo>
                  <a:pt x="5353514" y="0"/>
                </a:lnTo>
                <a:lnTo>
                  <a:pt x="5353514" y="2907161"/>
                </a:lnTo>
                <a:lnTo>
                  <a:pt x="0" y="2907161"/>
                </a:lnTo>
                <a:lnTo>
                  <a:pt x="0" y="0"/>
                </a:lnTo>
                <a:close/>
              </a:path>
            </a:pathLst>
          </a:custGeom>
          <a:blipFill>
            <a:blip r:embed="rId9"/>
            <a:stretch>
              <a:fillRect l="0" t="0" r="0" b="0"/>
            </a:stretch>
          </a:blipFill>
        </p:spPr>
      </p:sp>
      <p:sp>
        <p:nvSpPr>
          <p:cNvPr name="TextBox 33" id="33"/>
          <p:cNvSpPr txBox="true"/>
          <p:nvPr/>
        </p:nvSpPr>
        <p:spPr>
          <a:xfrm rot="0">
            <a:off x="451588" y="6441917"/>
            <a:ext cx="5325746" cy="179565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Kata </a:t>
            </a:r>
            <a:r>
              <a:rPr lang="en-US" sz="2054" b="true">
                <a:solidFill>
                  <a:srgbClr val="FFFFFF"/>
                </a:solidFill>
                <a:latin typeface="Montserrat Bold"/>
                <a:ea typeface="Montserrat Bold"/>
                <a:cs typeface="Montserrat Bold"/>
                <a:sym typeface="Montserrat Bold"/>
              </a:rPr>
              <a:t>ALLAH, MOGA,  PERCAYA</a:t>
            </a:r>
            <a:r>
              <a:rPr lang="en-US" sz="2054">
                <a:solidFill>
                  <a:srgbClr val="FFFFFF"/>
                </a:solidFill>
                <a:latin typeface="Montserrat"/>
                <a:ea typeface="Montserrat"/>
                <a:cs typeface="Montserrat"/>
                <a:sym typeface="Montserrat"/>
              </a:rPr>
              <a:t> adalah kata yang banyak muncul. hal ini sebagai balasan dari pernyataan pak zulhas yang mengatakan bahwa dia siap bertanggung jawab dunia akhirat. </a:t>
            </a:r>
          </a:p>
        </p:txBody>
      </p:sp>
      <p:sp>
        <p:nvSpPr>
          <p:cNvPr name="TextBox 34" id="34"/>
          <p:cNvSpPr txBox="true"/>
          <p:nvPr/>
        </p:nvSpPr>
        <p:spPr>
          <a:xfrm rot="0">
            <a:off x="6559126" y="6375242"/>
            <a:ext cx="5303478" cy="432930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Kata </a:t>
            </a:r>
            <a:r>
              <a:rPr lang="en-US" sz="2054" b="true">
                <a:solidFill>
                  <a:srgbClr val="FFFFFF"/>
                </a:solidFill>
                <a:latin typeface="Montserrat Bold"/>
                <a:ea typeface="Montserrat Bold"/>
                <a:cs typeface="Montserrat Bold"/>
                <a:sym typeface="Montserrat Bold"/>
              </a:rPr>
              <a:t>TANGGUNG, RAKYAT, SALAH, JABAT</a:t>
            </a:r>
            <a:r>
              <a:rPr lang="en-US" sz="2054">
                <a:solidFill>
                  <a:srgbClr val="FFFFFF"/>
                </a:solidFill>
                <a:latin typeface="Montserrat"/>
                <a:ea typeface="Montserrat"/>
                <a:cs typeface="Montserrat"/>
                <a:sym typeface="Montserrat"/>
              </a:rPr>
              <a:t> mencerminkan frustrasi bahwa Zulhas sebagai ex Menteri Kehutanan harus bertanggung jawab atas deforestasi era 2009-2014. dan ketidakpercayaan publlik muncul dari kata </a:t>
            </a:r>
            <a:r>
              <a:rPr lang="en-US" sz="2054" b="true">
                <a:solidFill>
                  <a:srgbClr val="FFFFFF"/>
                </a:solidFill>
                <a:latin typeface="Montserrat Bold"/>
                <a:ea typeface="Montserrat Bold"/>
                <a:cs typeface="Montserrat Bold"/>
                <a:sym typeface="Montserrat Bold"/>
              </a:rPr>
              <a:t>SALAH, GAK, INDONESIA</a:t>
            </a:r>
            <a:r>
              <a:rPr lang="en-US" sz="2054">
                <a:solidFill>
                  <a:srgbClr val="FFFFFF"/>
                </a:solidFill>
                <a:latin typeface="Montserrat"/>
                <a:ea typeface="Montserrat"/>
                <a:cs typeface="Montserrat"/>
                <a:sym typeface="Montserrat"/>
              </a:rPr>
              <a:t> sebagai sindiran bahwa penjelasan terlalu defensif, tidak akui kesalahan kebijakan izin hutan/sawit.</a:t>
            </a:r>
          </a:p>
          <a:p>
            <a:pPr algn="just">
              <a:lnSpc>
                <a:spcPts val="2876"/>
              </a:lnSpc>
            </a:pPr>
          </a:p>
          <a:p>
            <a:pPr algn="l">
              <a:lnSpc>
                <a:spcPts val="2876"/>
              </a:lnSpc>
            </a:pPr>
          </a:p>
        </p:txBody>
      </p:sp>
      <p:sp>
        <p:nvSpPr>
          <p:cNvPr name="TextBox 35" id="35"/>
          <p:cNvSpPr txBox="true"/>
          <p:nvPr/>
        </p:nvSpPr>
        <p:spPr>
          <a:xfrm rot="0">
            <a:off x="12703175" y="6403817"/>
            <a:ext cx="5138509" cy="2157605"/>
          </a:xfrm>
          <a:prstGeom prst="rect">
            <a:avLst/>
          </a:prstGeom>
        </p:spPr>
        <p:txBody>
          <a:bodyPr anchor="t" rtlCol="false" tIns="0" lIns="0" bIns="0" rIns="0">
            <a:spAutoFit/>
          </a:bodyPr>
          <a:lstStyle/>
          <a:p>
            <a:pPr algn="just">
              <a:lnSpc>
                <a:spcPts val="2876"/>
              </a:lnSpc>
            </a:pPr>
            <a:r>
              <a:rPr lang="en-US" sz="2054">
                <a:solidFill>
                  <a:srgbClr val="F6F4F1"/>
                </a:solidFill>
                <a:latin typeface="Montserrat"/>
                <a:ea typeface="Montserrat"/>
                <a:cs typeface="Montserrat"/>
                <a:sym typeface="Montserrat"/>
              </a:rPr>
              <a:t>Kata </a:t>
            </a:r>
            <a:r>
              <a:rPr lang="en-US" sz="2054" b="true">
                <a:solidFill>
                  <a:srgbClr val="F6F4F1"/>
                </a:solidFill>
                <a:latin typeface="Montserrat Bold"/>
                <a:ea typeface="Montserrat Bold"/>
                <a:cs typeface="Montserrat Bold"/>
                <a:sym typeface="Montserrat Bold"/>
              </a:rPr>
              <a:t>AKHIRAT</a:t>
            </a:r>
            <a:r>
              <a:rPr lang="en-US" sz="2054">
                <a:solidFill>
                  <a:srgbClr val="F6F4F1"/>
                </a:solidFill>
                <a:latin typeface="Montserrat"/>
                <a:ea typeface="Montserrat"/>
                <a:cs typeface="Montserrat"/>
                <a:sym typeface="Montserrat"/>
              </a:rPr>
              <a:t> muncul dalam komentar serius seperti "nanti tanggung jawab di akhirat", </a:t>
            </a:r>
            <a:r>
              <a:rPr lang="en-US" sz="2054" b="true">
                <a:solidFill>
                  <a:srgbClr val="F6F4F1"/>
                </a:solidFill>
                <a:latin typeface="Montserrat Bold"/>
                <a:ea typeface="Montserrat Bold"/>
                <a:cs typeface="Montserrat Bold"/>
                <a:sym typeface="Montserrat Bold"/>
              </a:rPr>
              <a:t>HUTAN &amp; DUNIA </a:t>
            </a:r>
            <a:r>
              <a:rPr lang="en-US" sz="2054">
                <a:solidFill>
                  <a:srgbClr val="F6F4F1"/>
                </a:solidFill>
                <a:latin typeface="Montserrat"/>
                <a:ea typeface="Montserrat"/>
                <a:cs typeface="Montserrat"/>
                <a:sym typeface="Montserrat"/>
              </a:rPr>
              <a:t>dalam ulasan netral tentang isu global deforestasi. Beberapa hanya ringkas isi podcast tanpa emosi kuat</a:t>
            </a:r>
            <a:r>
              <a:rPr lang="en-US" sz="2054">
                <a:solidFill>
                  <a:srgbClr val="191919"/>
                </a:solidFill>
                <a:latin typeface="Montserrat"/>
                <a:ea typeface="Montserrat"/>
                <a:cs typeface="Montserrat"/>
                <a:sym typeface="Montserrat"/>
              </a:rPr>
              <a:t>.</a:t>
            </a:r>
          </a:p>
        </p:txBody>
      </p:sp>
      <p:sp>
        <p:nvSpPr>
          <p:cNvPr name="TextBox 36" id="36"/>
          <p:cNvSpPr txBox="true"/>
          <p:nvPr/>
        </p:nvSpPr>
        <p:spPr>
          <a:xfrm rot="0">
            <a:off x="15781856" y="190143"/>
            <a:ext cx="223581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#03</a:t>
            </a:r>
          </a:p>
        </p:txBody>
      </p:sp>
      <p:sp>
        <p:nvSpPr>
          <p:cNvPr name="TextBox 37" id="37"/>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9525"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772693" y="2703909"/>
            <a:ext cx="5331886" cy="951263"/>
            <a:chOff x="0" y="0"/>
            <a:chExt cx="1357852" cy="242255"/>
          </a:xfrm>
        </p:grpSpPr>
        <p:sp>
          <p:nvSpPr>
            <p:cNvPr name="Freeform 4" id="4"/>
            <p:cNvSpPr/>
            <p:nvPr/>
          </p:nvSpPr>
          <p:spPr>
            <a:xfrm flipH="false" flipV="false" rot="0">
              <a:off x="0" y="0"/>
              <a:ext cx="1357852" cy="242255"/>
            </a:xfrm>
            <a:custGeom>
              <a:avLst/>
              <a:gdLst/>
              <a:ahLst/>
              <a:cxnLst/>
              <a:rect r="r" b="b" t="t" l="l"/>
              <a:pathLst>
                <a:path h="242255" w="1357852">
                  <a:moveTo>
                    <a:pt x="74052" y="0"/>
                  </a:moveTo>
                  <a:lnTo>
                    <a:pt x="1283800" y="0"/>
                  </a:lnTo>
                  <a:cubicBezTo>
                    <a:pt x="1303440" y="0"/>
                    <a:pt x="1322275" y="7802"/>
                    <a:pt x="1336163" y="21689"/>
                  </a:cubicBezTo>
                  <a:cubicBezTo>
                    <a:pt x="1350050" y="35577"/>
                    <a:pt x="1357852" y="54412"/>
                    <a:pt x="1357852" y="74052"/>
                  </a:cubicBezTo>
                  <a:lnTo>
                    <a:pt x="1357852" y="168202"/>
                  </a:lnTo>
                  <a:cubicBezTo>
                    <a:pt x="1357852" y="209100"/>
                    <a:pt x="1324698" y="242255"/>
                    <a:pt x="1283800" y="242255"/>
                  </a:cubicBezTo>
                  <a:lnTo>
                    <a:pt x="74052" y="242255"/>
                  </a:lnTo>
                  <a:cubicBezTo>
                    <a:pt x="54412" y="242255"/>
                    <a:pt x="35577" y="234453"/>
                    <a:pt x="21689" y="220565"/>
                  </a:cubicBezTo>
                  <a:cubicBezTo>
                    <a:pt x="7802" y="206678"/>
                    <a:pt x="0" y="187842"/>
                    <a:pt x="0" y="168202"/>
                  </a:cubicBezTo>
                  <a:lnTo>
                    <a:pt x="0" y="74052"/>
                  </a:lnTo>
                  <a:cubicBezTo>
                    <a:pt x="0" y="54412"/>
                    <a:pt x="7802" y="35577"/>
                    <a:pt x="21689" y="21689"/>
                  </a:cubicBezTo>
                  <a:cubicBezTo>
                    <a:pt x="35577" y="7802"/>
                    <a:pt x="54412" y="0"/>
                    <a:pt x="74052" y="0"/>
                  </a:cubicBezTo>
                  <a:close/>
                </a:path>
              </a:pathLst>
            </a:custGeom>
            <a:solidFill>
              <a:srgbClr val="F6F4F1"/>
            </a:solidFill>
          </p:spPr>
        </p:sp>
        <p:sp>
          <p:nvSpPr>
            <p:cNvPr name="TextBox 5" id="5"/>
            <p:cNvSpPr txBox="true"/>
            <p:nvPr/>
          </p:nvSpPr>
          <p:spPr>
            <a:xfrm>
              <a:off x="0" y="85725"/>
              <a:ext cx="1357852" cy="156530"/>
            </a:xfrm>
            <a:prstGeom prst="rect">
              <a:avLst/>
            </a:prstGeom>
          </p:spPr>
          <p:txBody>
            <a:bodyPr anchor="ctr" rtlCol="false" tIns="50800" lIns="50800" bIns="50800" rIns="50800"/>
            <a:lstStyle/>
            <a:p>
              <a:pPr algn="ctr">
                <a:lnSpc>
                  <a:spcPts val="2156"/>
                </a:lnSpc>
              </a:pPr>
              <a:r>
                <a:rPr lang="en-US" b="true" sz="2800" spc="-103">
                  <a:solidFill>
                    <a:srgbClr val="2D2C2D"/>
                  </a:solidFill>
                  <a:latin typeface="Poppins Bold"/>
                  <a:ea typeface="Poppins Bold"/>
                  <a:cs typeface="Poppins Bold"/>
                  <a:sym typeface="Poppins Bold"/>
                </a:rPr>
                <a:t>Klarifikasi Bapak Zulhas</a:t>
              </a:r>
            </a:p>
          </p:txBody>
        </p:sp>
      </p:grpSp>
      <p:sp>
        <p:nvSpPr>
          <p:cNvPr name="Freeform 6" id="6"/>
          <p:cNvSpPr/>
          <p:nvPr/>
        </p:nvSpPr>
        <p:spPr>
          <a:xfrm flipH="false" flipV="false" rot="0">
            <a:off x="5998584" y="5194713"/>
            <a:ext cx="5558383" cy="3052555"/>
          </a:xfrm>
          <a:custGeom>
            <a:avLst/>
            <a:gdLst/>
            <a:ahLst/>
            <a:cxnLst/>
            <a:rect r="r" b="b" t="t" l="l"/>
            <a:pathLst>
              <a:path h="3052555" w="5558383">
                <a:moveTo>
                  <a:pt x="0" y="0"/>
                </a:moveTo>
                <a:lnTo>
                  <a:pt x="5558384" y="0"/>
                </a:lnTo>
                <a:lnTo>
                  <a:pt x="5558384" y="3052554"/>
                </a:lnTo>
                <a:lnTo>
                  <a:pt x="0" y="3052554"/>
                </a:lnTo>
                <a:lnTo>
                  <a:pt x="0" y="0"/>
                </a:lnTo>
                <a:close/>
              </a:path>
            </a:pathLst>
          </a:custGeom>
          <a:blipFill>
            <a:blip r:embed="rId3"/>
            <a:stretch>
              <a:fillRect l="0" t="0" r="0" b="0"/>
            </a:stretch>
          </a:blipFill>
          <a:ln w="38100" cap="sq">
            <a:solidFill>
              <a:srgbClr val="000000"/>
            </a:solidFill>
            <a:prstDash val="solid"/>
            <a:miter/>
          </a:ln>
        </p:spPr>
      </p:sp>
      <p:sp>
        <p:nvSpPr>
          <p:cNvPr name="TextBox 7" id="7"/>
          <p:cNvSpPr txBox="true"/>
          <p:nvPr/>
        </p:nvSpPr>
        <p:spPr>
          <a:xfrm rot="0">
            <a:off x="3182422" y="341230"/>
            <a:ext cx="12187700" cy="2140873"/>
          </a:xfrm>
          <a:prstGeom prst="rect">
            <a:avLst/>
          </a:prstGeom>
        </p:spPr>
        <p:txBody>
          <a:bodyPr anchor="t" rtlCol="false" tIns="0" lIns="0" bIns="0" rIns="0">
            <a:spAutoFit/>
          </a:bodyPr>
          <a:lstStyle/>
          <a:p>
            <a:pPr algn="ctr">
              <a:lnSpc>
                <a:spcPts val="5577"/>
              </a:lnSpc>
            </a:pPr>
            <a:r>
              <a:rPr lang="en-US" b="true" sz="4498" spc="26">
                <a:solidFill>
                  <a:srgbClr val="F1F0EC"/>
                </a:solidFill>
                <a:latin typeface="Poppins Bold"/>
                <a:ea typeface="Poppins Bold"/>
                <a:cs typeface="Poppins Bold"/>
                <a:sym typeface="Poppins Bold"/>
              </a:rPr>
              <a:t>APAKAH VIDEO DOKUMENTASI HARRISON FORD ITU SESUAI DENGAN NARASI YANG ADA SAAT INI?</a:t>
            </a:r>
          </a:p>
        </p:txBody>
      </p:sp>
      <p:sp>
        <p:nvSpPr>
          <p:cNvPr name="TextBox 8" id="8"/>
          <p:cNvSpPr txBox="true"/>
          <p:nvPr/>
        </p:nvSpPr>
        <p:spPr>
          <a:xfrm rot="0">
            <a:off x="15781856" y="190143"/>
            <a:ext cx="223581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#03</a:t>
            </a:r>
          </a:p>
        </p:txBody>
      </p:sp>
      <p:sp>
        <p:nvSpPr>
          <p:cNvPr name="TextBox 9" id="9"/>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
        <p:nvSpPr>
          <p:cNvPr name="TextBox 10" id="10"/>
          <p:cNvSpPr txBox="true"/>
          <p:nvPr/>
        </p:nvSpPr>
        <p:spPr>
          <a:xfrm rot="0">
            <a:off x="709731" y="4038209"/>
            <a:ext cx="4825935" cy="2519555"/>
          </a:xfrm>
          <a:prstGeom prst="rect">
            <a:avLst/>
          </a:prstGeom>
        </p:spPr>
        <p:txBody>
          <a:bodyPr anchor="t" rtlCol="false" tIns="0" lIns="0" bIns="0" rIns="0">
            <a:spAutoFit/>
          </a:bodyPr>
          <a:lstStyle/>
          <a:p>
            <a:pPr algn="ctr">
              <a:lnSpc>
                <a:spcPts val="2876"/>
              </a:lnSpc>
            </a:pPr>
            <a:r>
              <a:rPr lang="en-US" sz="2054">
                <a:solidFill>
                  <a:srgbClr val="FFFFFF"/>
                </a:solidFill>
                <a:latin typeface="Montserrat"/>
                <a:ea typeface="Montserrat"/>
                <a:cs typeface="Montserrat"/>
                <a:sym typeface="Montserrat"/>
              </a:rPr>
              <a:t>Wawancara dokumenter tersebut dilakukan secara sepihak oleh pihak harrison ford. Zulkifli hasan merasa dikambinghitamkan dalam sesi wawancara tersebut. Dan dia siap apabila ada debat terbuka dengan harrison ford.</a:t>
            </a:r>
          </a:p>
        </p:txBody>
      </p:sp>
      <p:sp>
        <p:nvSpPr>
          <p:cNvPr name="TextBox 11" id="11"/>
          <p:cNvSpPr txBox="true"/>
          <p:nvPr/>
        </p:nvSpPr>
        <p:spPr>
          <a:xfrm rot="0">
            <a:off x="6731032" y="3141441"/>
            <a:ext cx="4825935" cy="1433705"/>
          </a:xfrm>
          <a:prstGeom prst="rect">
            <a:avLst/>
          </a:prstGeom>
        </p:spPr>
        <p:txBody>
          <a:bodyPr anchor="t" rtlCol="false" tIns="0" lIns="0" bIns="0" rIns="0">
            <a:spAutoFit/>
          </a:bodyPr>
          <a:lstStyle/>
          <a:p>
            <a:pPr algn="ctr">
              <a:lnSpc>
                <a:spcPts val="2876"/>
              </a:lnSpc>
            </a:pPr>
            <a:r>
              <a:rPr lang="en-US" sz="2054">
                <a:solidFill>
                  <a:srgbClr val="FFFFFF"/>
                </a:solidFill>
                <a:latin typeface="Montserrat"/>
                <a:ea typeface="Montserrat"/>
                <a:cs typeface="Montserrat"/>
                <a:sym typeface="Montserrat"/>
              </a:rPr>
              <a:t>Menuding tuduhan yang tersebar  hiperbola. Karena dia merasa tidak sekuasa itu hingga menyebabkan terjadinya bencana di sumatra</a:t>
            </a:r>
          </a:p>
        </p:txBody>
      </p:sp>
      <p:sp>
        <p:nvSpPr>
          <p:cNvPr name="TextBox 12" id="12"/>
          <p:cNvSpPr txBox="true"/>
          <p:nvPr/>
        </p:nvSpPr>
        <p:spPr>
          <a:xfrm rot="0">
            <a:off x="12210453" y="3665899"/>
            <a:ext cx="5225891" cy="2519555"/>
          </a:xfrm>
          <a:prstGeom prst="rect">
            <a:avLst/>
          </a:prstGeom>
        </p:spPr>
        <p:txBody>
          <a:bodyPr anchor="t" rtlCol="false" tIns="0" lIns="0" bIns="0" rIns="0">
            <a:spAutoFit/>
          </a:bodyPr>
          <a:lstStyle/>
          <a:p>
            <a:pPr algn="ctr">
              <a:lnSpc>
                <a:spcPts val="2876"/>
              </a:lnSpc>
            </a:pPr>
            <a:r>
              <a:rPr lang="en-US" sz="2054">
                <a:solidFill>
                  <a:srgbClr val="FFFFFF"/>
                </a:solidFill>
                <a:latin typeface="Montserrat"/>
                <a:ea typeface="Montserrat"/>
                <a:cs typeface="Montserrat"/>
                <a:sym typeface="Montserrat"/>
              </a:rPr>
              <a:t>kerusakan hutan di Tesso Nilo dan wilayah lain sebenarnya disebabkan oleh pengusaha besar, bahkan asing, yang berlindung di balik rakyat. Ia merasa menjadi "korban" dari situasi di mana penegakan hukum kalah oleh kekuatan oligarki saat itu</a:t>
            </a:r>
          </a:p>
        </p:txBody>
      </p:sp>
      <p:sp>
        <p:nvSpPr>
          <p:cNvPr name="TextBox 13" id="13"/>
          <p:cNvSpPr txBox="true"/>
          <p:nvPr/>
        </p:nvSpPr>
        <p:spPr>
          <a:xfrm rot="0">
            <a:off x="11934723" y="6738745"/>
            <a:ext cx="4965041" cy="2519555"/>
          </a:xfrm>
          <a:prstGeom prst="rect">
            <a:avLst/>
          </a:prstGeom>
        </p:spPr>
        <p:txBody>
          <a:bodyPr anchor="t" rtlCol="false" tIns="0" lIns="0" bIns="0" rIns="0">
            <a:spAutoFit/>
          </a:bodyPr>
          <a:lstStyle/>
          <a:p>
            <a:pPr algn="ctr">
              <a:lnSpc>
                <a:spcPts val="2876"/>
              </a:lnSpc>
            </a:pPr>
            <a:r>
              <a:rPr lang="en-US" sz="2054">
                <a:solidFill>
                  <a:srgbClr val="FFFFFF"/>
                </a:solidFill>
                <a:latin typeface="Montserrat"/>
                <a:ea typeface="Montserrat"/>
                <a:cs typeface="Montserrat"/>
                <a:sym typeface="Montserrat"/>
              </a:rPr>
              <a:t>akar persoalan kerusakan hutan menurutnya berkaitan dengan kewenangan daerah yang terlalu longar pada awal penerapan otonomi. dan zulkifli hasan berdalih pada saat itu kewenangannya tidak sekuat itu karena sifatnya konkuren </a:t>
            </a:r>
          </a:p>
        </p:txBody>
      </p:sp>
      <p:sp>
        <p:nvSpPr>
          <p:cNvPr name="TextBox 14" id="14"/>
          <p:cNvSpPr txBox="true"/>
          <p:nvPr/>
        </p:nvSpPr>
        <p:spPr>
          <a:xfrm rot="0">
            <a:off x="772693" y="7330390"/>
            <a:ext cx="4916907" cy="1795655"/>
          </a:xfrm>
          <a:prstGeom prst="rect">
            <a:avLst/>
          </a:prstGeom>
        </p:spPr>
        <p:txBody>
          <a:bodyPr anchor="t" rtlCol="false" tIns="0" lIns="0" bIns="0" rIns="0">
            <a:spAutoFit/>
          </a:bodyPr>
          <a:lstStyle/>
          <a:p>
            <a:pPr algn="ctr">
              <a:lnSpc>
                <a:spcPts val="2876"/>
              </a:lnSpc>
            </a:pPr>
            <a:r>
              <a:rPr lang="en-US" sz="2054">
                <a:solidFill>
                  <a:srgbClr val="FFFFFF"/>
                </a:solidFill>
                <a:latin typeface="Montserrat"/>
                <a:ea typeface="Montserrat"/>
                <a:cs typeface="Montserrat"/>
                <a:sym typeface="Montserrat"/>
              </a:rPr>
              <a:t>Zulhas menegaskan kesiapannya untuk bertanggung jawab dunia akhirat atas kebijakan yang diambilnya selama menjabat sebagai Menteri Kehutanan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9525"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AutoShape 3" id="3"/>
          <p:cNvSpPr/>
          <p:nvPr/>
        </p:nvSpPr>
        <p:spPr>
          <a:xfrm rot="0">
            <a:off x="11167597" y="6269455"/>
            <a:ext cx="6793501" cy="3737892"/>
          </a:xfrm>
          <a:prstGeom prst="rect">
            <a:avLst/>
          </a:prstGeom>
          <a:solidFill>
            <a:srgbClr val="8F1EAE"/>
          </a:solidFill>
        </p:spPr>
      </p:sp>
      <p:grpSp>
        <p:nvGrpSpPr>
          <p:cNvPr name="Group 4" id="4"/>
          <p:cNvGrpSpPr/>
          <p:nvPr/>
        </p:nvGrpSpPr>
        <p:grpSpPr>
          <a:xfrm rot="0">
            <a:off x="769455" y="2098715"/>
            <a:ext cx="4326771" cy="766776"/>
            <a:chOff x="0" y="0"/>
            <a:chExt cx="1101883" cy="195272"/>
          </a:xfrm>
        </p:grpSpPr>
        <p:sp>
          <p:nvSpPr>
            <p:cNvPr name="Freeform 5" id="5"/>
            <p:cNvSpPr/>
            <p:nvPr/>
          </p:nvSpPr>
          <p:spPr>
            <a:xfrm flipH="false" flipV="false" rot="0">
              <a:off x="0" y="0"/>
              <a:ext cx="1101883" cy="195272"/>
            </a:xfrm>
            <a:custGeom>
              <a:avLst/>
              <a:gdLst/>
              <a:ahLst/>
              <a:cxnLst/>
              <a:rect r="r" b="b" t="t" l="l"/>
              <a:pathLst>
                <a:path h="195272" w="1101883">
                  <a:moveTo>
                    <a:pt x="91255" y="0"/>
                  </a:moveTo>
                  <a:lnTo>
                    <a:pt x="1010628" y="0"/>
                  </a:lnTo>
                  <a:cubicBezTo>
                    <a:pt x="1061027" y="0"/>
                    <a:pt x="1101883" y="40856"/>
                    <a:pt x="1101883" y="91255"/>
                  </a:cubicBezTo>
                  <a:lnTo>
                    <a:pt x="1101883" y="104017"/>
                  </a:lnTo>
                  <a:cubicBezTo>
                    <a:pt x="1101883" y="128220"/>
                    <a:pt x="1092269" y="151431"/>
                    <a:pt x="1075155" y="168544"/>
                  </a:cubicBezTo>
                  <a:cubicBezTo>
                    <a:pt x="1058042" y="185658"/>
                    <a:pt x="1034831" y="195272"/>
                    <a:pt x="1010628" y="195272"/>
                  </a:cubicBezTo>
                  <a:lnTo>
                    <a:pt x="91255" y="195272"/>
                  </a:lnTo>
                  <a:cubicBezTo>
                    <a:pt x="67052" y="195272"/>
                    <a:pt x="43841" y="185658"/>
                    <a:pt x="26728" y="168544"/>
                  </a:cubicBezTo>
                  <a:cubicBezTo>
                    <a:pt x="9614" y="151431"/>
                    <a:pt x="0" y="128220"/>
                    <a:pt x="0" y="104017"/>
                  </a:cubicBezTo>
                  <a:lnTo>
                    <a:pt x="0" y="91255"/>
                  </a:lnTo>
                  <a:cubicBezTo>
                    <a:pt x="0" y="67052"/>
                    <a:pt x="9614" y="43841"/>
                    <a:pt x="26728" y="26728"/>
                  </a:cubicBezTo>
                  <a:cubicBezTo>
                    <a:pt x="43841" y="9614"/>
                    <a:pt x="67052" y="0"/>
                    <a:pt x="91255" y="0"/>
                  </a:cubicBezTo>
                  <a:close/>
                </a:path>
              </a:pathLst>
            </a:custGeom>
            <a:solidFill>
              <a:srgbClr val="F6F4F1"/>
            </a:solidFill>
          </p:spPr>
        </p:sp>
        <p:sp>
          <p:nvSpPr>
            <p:cNvPr name="TextBox 6" id="6"/>
            <p:cNvSpPr txBox="true"/>
            <p:nvPr/>
          </p:nvSpPr>
          <p:spPr>
            <a:xfrm>
              <a:off x="0" y="85725"/>
              <a:ext cx="1101883" cy="109547"/>
            </a:xfrm>
            <a:prstGeom prst="rect">
              <a:avLst/>
            </a:prstGeom>
          </p:spPr>
          <p:txBody>
            <a:bodyPr anchor="ctr" rtlCol="false" tIns="50800" lIns="50800" bIns="50800" rIns="50800"/>
            <a:lstStyle/>
            <a:p>
              <a:pPr algn="ctr">
                <a:lnSpc>
                  <a:spcPts val="2156"/>
                </a:lnSpc>
              </a:pPr>
              <a:r>
                <a:rPr lang="en-US" b="true" sz="2800" spc="-103">
                  <a:solidFill>
                    <a:srgbClr val="2D2C2D"/>
                  </a:solidFill>
                  <a:latin typeface="Poppins Bold"/>
                  <a:ea typeface="Poppins Bold"/>
                  <a:cs typeface="Poppins Bold"/>
                  <a:sym typeface="Poppins Bold"/>
                </a:rPr>
                <a:t>FAKTA - FAKTA</a:t>
              </a:r>
            </a:p>
          </p:txBody>
        </p:sp>
      </p:grpSp>
      <p:sp>
        <p:nvSpPr>
          <p:cNvPr name="Freeform 7" id="7"/>
          <p:cNvSpPr/>
          <p:nvPr/>
        </p:nvSpPr>
        <p:spPr>
          <a:xfrm flipH="false" flipV="false" rot="0">
            <a:off x="6628982" y="3578972"/>
            <a:ext cx="4329181" cy="2761185"/>
          </a:xfrm>
          <a:custGeom>
            <a:avLst/>
            <a:gdLst/>
            <a:ahLst/>
            <a:cxnLst/>
            <a:rect r="r" b="b" t="t" l="l"/>
            <a:pathLst>
              <a:path h="2761185" w="4329181">
                <a:moveTo>
                  <a:pt x="0" y="0"/>
                </a:moveTo>
                <a:lnTo>
                  <a:pt x="4329182" y="0"/>
                </a:lnTo>
                <a:lnTo>
                  <a:pt x="4329182" y="2761185"/>
                </a:lnTo>
                <a:lnTo>
                  <a:pt x="0" y="2761185"/>
                </a:lnTo>
                <a:lnTo>
                  <a:pt x="0" y="0"/>
                </a:lnTo>
                <a:close/>
              </a:path>
            </a:pathLst>
          </a:custGeom>
          <a:blipFill>
            <a:blip r:embed="rId3"/>
            <a:stretch>
              <a:fillRect l="0" t="0" r="0" b="-13082"/>
            </a:stretch>
          </a:blipFill>
          <a:ln w="38100" cap="sq">
            <a:solidFill>
              <a:srgbClr val="000000"/>
            </a:solidFill>
            <a:prstDash val="solid"/>
            <a:miter/>
          </a:ln>
        </p:spPr>
      </p:sp>
      <p:sp>
        <p:nvSpPr>
          <p:cNvPr name="Freeform 8" id="8"/>
          <p:cNvSpPr/>
          <p:nvPr/>
        </p:nvSpPr>
        <p:spPr>
          <a:xfrm flipH="false" flipV="false" rot="0">
            <a:off x="6681548" y="6527102"/>
            <a:ext cx="4276615" cy="3569691"/>
          </a:xfrm>
          <a:custGeom>
            <a:avLst/>
            <a:gdLst/>
            <a:ahLst/>
            <a:cxnLst/>
            <a:rect r="r" b="b" t="t" l="l"/>
            <a:pathLst>
              <a:path h="3569691" w="4276615">
                <a:moveTo>
                  <a:pt x="0" y="0"/>
                </a:moveTo>
                <a:lnTo>
                  <a:pt x="4276616" y="0"/>
                </a:lnTo>
                <a:lnTo>
                  <a:pt x="4276616" y="3569692"/>
                </a:lnTo>
                <a:lnTo>
                  <a:pt x="0" y="3569692"/>
                </a:lnTo>
                <a:lnTo>
                  <a:pt x="0" y="0"/>
                </a:lnTo>
                <a:close/>
              </a:path>
            </a:pathLst>
          </a:custGeom>
          <a:blipFill>
            <a:blip r:embed="rId4"/>
            <a:stretch>
              <a:fillRect l="-4993" t="0" r="0" b="0"/>
            </a:stretch>
          </a:blipFill>
          <a:ln w="38100" cap="sq">
            <a:solidFill>
              <a:srgbClr val="000000"/>
            </a:solidFill>
            <a:prstDash val="solid"/>
            <a:miter/>
          </a:ln>
        </p:spPr>
      </p:sp>
      <p:sp>
        <p:nvSpPr>
          <p:cNvPr name="TextBox 9" id="9"/>
          <p:cNvSpPr txBox="true"/>
          <p:nvPr/>
        </p:nvSpPr>
        <p:spPr>
          <a:xfrm rot="0">
            <a:off x="3182422" y="341230"/>
            <a:ext cx="12187700" cy="2140873"/>
          </a:xfrm>
          <a:prstGeom prst="rect">
            <a:avLst/>
          </a:prstGeom>
        </p:spPr>
        <p:txBody>
          <a:bodyPr anchor="t" rtlCol="false" tIns="0" lIns="0" bIns="0" rIns="0">
            <a:spAutoFit/>
          </a:bodyPr>
          <a:lstStyle/>
          <a:p>
            <a:pPr algn="ctr">
              <a:lnSpc>
                <a:spcPts val="5577"/>
              </a:lnSpc>
            </a:pPr>
            <a:r>
              <a:rPr lang="en-US" b="true" sz="4498" spc="26">
                <a:solidFill>
                  <a:srgbClr val="F1F0EC"/>
                </a:solidFill>
                <a:latin typeface="Poppins Bold"/>
                <a:ea typeface="Poppins Bold"/>
                <a:cs typeface="Poppins Bold"/>
                <a:sym typeface="Poppins Bold"/>
              </a:rPr>
              <a:t>APAKAH VIDEO DOKUMENTASI HARRISON FORD ITU SESUAI DENGAN NARASI YANG ADA SAAT INI?</a:t>
            </a:r>
          </a:p>
        </p:txBody>
      </p:sp>
      <p:sp>
        <p:nvSpPr>
          <p:cNvPr name="TextBox 10" id="10"/>
          <p:cNvSpPr txBox="true"/>
          <p:nvPr/>
        </p:nvSpPr>
        <p:spPr>
          <a:xfrm rot="0">
            <a:off x="11253439" y="6259930"/>
            <a:ext cx="6564405" cy="3990885"/>
          </a:xfrm>
          <a:prstGeom prst="rect">
            <a:avLst/>
          </a:prstGeom>
        </p:spPr>
        <p:txBody>
          <a:bodyPr anchor="t" rtlCol="false" tIns="0" lIns="0" bIns="0" rIns="0">
            <a:spAutoFit/>
          </a:bodyPr>
          <a:lstStyle/>
          <a:p>
            <a:pPr algn="just">
              <a:lnSpc>
                <a:spcPts val="2629"/>
              </a:lnSpc>
            </a:pPr>
            <a:r>
              <a:rPr lang="en-US" sz="1878">
                <a:solidFill>
                  <a:srgbClr val="F1F0EC"/>
                </a:solidFill>
                <a:latin typeface="Montserrat"/>
                <a:ea typeface="Montserrat"/>
                <a:cs typeface="Montserrat"/>
                <a:sym typeface="Montserrat"/>
              </a:rPr>
              <a:t>Secara keseluruhan, bukti ini mendukung klaim Zulhas bahwa era reformasi awal membuat penegakan hukum sulit karena transisi desentralisasi yang cepat dan tidak siap dan juga deforestasi telah dilakukan sejak lama bahkan pada masa suharto tertinggi sepanjang sejarah. Namun, kritik tetap ada karena pemerintah pusat (termasuk kementeriannya) gagal mengatasi celah ini secara efektif, yang berkontribusi pada deforestasi kumulatif. Ditambah fakta bahwa masa zulhas merupakan masa tertinggi pelepasan kawasan hutan di era setelah reformasi. </a:t>
            </a:r>
          </a:p>
          <a:p>
            <a:pPr algn="just">
              <a:lnSpc>
                <a:spcPts val="2629"/>
              </a:lnSpc>
            </a:pPr>
          </a:p>
        </p:txBody>
      </p:sp>
      <p:sp>
        <p:nvSpPr>
          <p:cNvPr name="TextBox 11" id="11"/>
          <p:cNvSpPr txBox="true"/>
          <p:nvPr/>
        </p:nvSpPr>
        <p:spPr>
          <a:xfrm rot="0">
            <a:off x="15781856" y="190143"/>
            <a:ext cx="223581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#03</a:t>
            </a:r>
          </a:p>
        </p:txBody>
      </p:sp>
      <p:sp>
        <p:nvSpPr>
          <p:cNvPr name="TextBox 12" id="12"/>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
        <p:nvSpPr>
          <p:cNvPr name="TextBox 13" id="13"/>
          <p:cNvSpPr txBox="true"/>
          <p:nvPr/>
        </p:nvSpPr>
        <p:spPr>
          <a:xfrm rot="0">
            <a:off x="415592" y="4396648"/>
            <a:ext cx="5775240" cy="324345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Reformasi 1998 membawa desentralisasi melalui UU No. 22/1999 yang memindahkan kewenangan kehutanan ke tingkat kabupaten/provinsi. Ini menciptakan kontradiksi antara undang-undang pusat (seperti UU No. 41/1999 tentang Kehutanan) dan regulasi daerah, sehingga sulit menegakkan aturan secara konsisten.</a:t>
            </a:r>
          </a:p>
          <a:p>
            <a:pPr algn="just">
              <a:lnSpc>
                <a:spcPts val="2876"/>
              </a:lnSpc>
            </a:pPr>
            <a:r>
              <a:rPr lang="en-US" sz="2054">
                <a:solidFill>
                  <a:srgbClr val="FFFFFF"/>
                </a:solidFill>
                <a:latin typeface="Montserrat"/>
                <a:ea typeface="Montserrat"/>
                <a:cs typeface="Montserrat"/>
                <a:sym typeface="Montserrat"/>
              </a:rPr>
              <a:t> </a:t>
            </a:r>
          </a:p>
        </p:txBody>
      </p:sp>
      <p:sp>
        <p:nvSpPr>
          <p:cNvPr name="TextBox 14" id="14"/>
          <p:cNvSpPr txBox="true"/>
          <p:nvPr/>
        </p:nvSpPr>
        <p:spPr>
          <a:xfrm rot="0">
            <a:off x="523960" y="3096293"/>
            <a:ext cx="5184690" cy="107175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Bold"/>
                <a:ea typeface="Montserrat Bold"/>
                <a:cs typeface="Montserrat Bold"/>
                <a:sym typeface="Montserrat Bold"/>
              </a:rPr>
              <a:t>Penegakan Hukum Daerah </a:t>
            </a:r>
          </a:p>
          <a:p>
            <a:pPr algn="ctr">
              <a:lnSpc>
                <a:spcPts val="2876"/>
              </a:lnSpc>
            </a:pPr>
            <a:r>
              <a:rPr lang="en-US" sz="2054" b="true">
                <a:solidFill>
                  <a:srgbClr val="FFFFFF"/>
                </a:solidFill>
                <a:latin typeface="Montserrat Bold"/>
                <a:ea typeface="Montserrat Bold"/>
                <a:cs typeface="Montserrat Bold"/>
                <a:sym typeface="Montserrat Bold"/>
              </a:rPr>
              <a:t>Sulit Terlaksana Melalui Pemerintah Pusat</a:t>
            </a:r>
          </a:p>
        </p:txBody>
      </p:sp>
      <p:sp>
        <p:nvSpPr>
          <p:cNvPr name="TextBox 15" id="15"/>
          <p:cNvSpPr txBox="true"/>
          <p:nvPr/>
        </p:nvSpPr>
        <p:spPr>
          <a:xfrm rot="0">
            <a:off x="7431799" y="3141441"/>
            <a:ext cx="2983010" cy="34785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Bold"/>
                <a:ea typeface="Montserrat Bold"/>
                <a:cs typeface="Montserrat Bold"/>
                <a:sym typeface="Montserrat Bold"/>
              </a:rPr>
              <a:t>Deforisasi tertinggi </a:t>
            </a:r>
          </a:p>
        </p:txBody>
      </p:sp>
      <p:sp>
        <p:nvSpPr>
          <p:cNvPr name="TextBox 16" id="16"/>
          <p:cNvSpPr txBox="true"/>
          <p:nvPr/>
        </p:nvSpPr>
        <p:spPr>
          <a:xfrm rot="0">
            <a:off x="12836946" y="3141441"/>
            <a:ext cx="3485568" cy="34785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Bold"/>
                <a:ea typeface="Montserrat Bold"/>
                <a:cs typeface="Montserrat Bold"/>
                <a:sym typeface="Montserrat Bold"/>
              </a:rPr>
              <a:t>Pemberian Izin Tertinggi</a:t>
            </a:r>
          </a:p>
        </p:txBody>
      </p:sp>
      <p:pic>
        <p:nvPicPr>
          <p:cNvPr name="Picture 17" id="17"/>
          <p:cNvPicPr>
            <a:picLocks noChangeAspect="true"/>
          </p:cNvPicPr>
          <p:nvPr/>
        </p:nvPicPr>
        <p:blipFill>
          <a:blip r:embed="rId5"/>
          <a:stretch>
            <a:fillRect/>
          </a:stretch>
        </p:blipFill>
        <p:spPr>
          <a:xfrm rot="0">
            <a:off x="11034934" y="3004484"/>
            <a:ext cx="7399538" cy="3656939"/>
          </a:xfrm>
          <a:prstGeom prst="rect">
            <a:avLst/>
          </a:prstGeom>
        </p:spPr>
      </p:pic>
      <p:sp>
        <p:nvSpPr>
          <p:cNvPr name="TextBox 18" id="18"/>
          <p:cNvSpPr txBox="true"/>
          <p:nvPr/>
        </p:nvSpPr>
        <p:spPr>
          <a:xfrm rot="0">
            <a:off x="6581357" y="6330632"/>
            <a:ext cx="1954443" cy="134972"/>
          </a:xfrm>
          <a:prstGeom prst="rect">
            <a:avLst/>
          </a:prstGeom>
        </p:spPr>
        <p:txBody>
          <a:bodyPr anchor="t" rtlCol="false" tIns="0" lIns="0" bIns="0" rIns="0">
            <a:spAutoFit/>
          </a:bodyPr>
          <a:lstStyle/>
          <a:p>
            <a:pPr algn="ctr">
              <a:lnSpc>
                <a:spcPts val="1165"/>
              </a:lnSpc>
            </a:pPr>
            <a:r>
              <a:rPr lang="en-US" sz="832">
                <a:solidFill>
                  <a:srgbClr val="FFFFFF"/>
                </a:solidFill>
                <a:latin typeface="Montserrat"/>
                <a:ea typeface="Montserrat"/>
                <a:cs typeface="Montserrat"/>
                <a:sym typeface="Montserrat"/>
              </a:rPr>
              <a:t>*Source: World Resources Institute</a:t>
            </a:r>
          </a:p>
        </p:txBody>
      </p:sp>
      <p:sp>
        <p:nvSpPr>
          <p:cNvPr name="TextBox 19" id="19"/>
          <p:cNvSpPr txBox="true"/>
          <p:nvPr/>
        </p:nvSpPr>
        <p:spPr>
          <a:xfrm rot="0">
            <a:off x="6681548" y="10087269"/>
            <a:ext cx="1087668" cy="134972"/>
          </a:xfrm>
          <a:prstGeom prst="rect">
            <a:avLst/>
          </a:prstGeom>
        </p:spPr>
        <p:txBody>
          <a:bodyPr anchor="t" rtlCol="false" tIns="0" lIns="0" bIns="0" rIns="0">
            <a:spAutoFit/>
          </a:bodyPr>
          <a:lstStyle/>
          <a:p>
            <a:pPr algn="ctr">
              <a:lnSpc>
                <a:spcPts val="1165"/>
              </a:lnSpc>
            </a:pPr>
            <a:r>
              <a:rPr lang="en-US" sz="832">
                <a:solidFill>
                  <a:srgbClr val="FFFFFF"/>
                </a:solidFill>
                <a:latin typeface="Montserrat"/>
                <a:ea typeface="Montserrat"/>
                <a:cs typeface="Montserrat"/>
                <a:sym typeface="Montserrat"/>
              </a:rPr>
              <a:t>*Source: databoks</a:t>
            </a:r>
          </a:p>
        </p:txBody>
      </p:sp>
      <p:sp>
        <p:nvSpPr>
          <p:cNvPr name="TextBox 20" id="20"/>
          <p:cNvSpPr txBox="true"/>
          <p:nvPr/>
        </p:nvSpPr>
        <p:spPr>
          <a:xfrm rot="0">
            <a:off x="11603937" y="6046777"/>
            <a:ext cx="1630593" cy="134972"/>
          </a:xfrm>
          <a:prstGeom prst="rect">
            <a:avLst/>
          </a:prstGeom>
        </p:spPr>
        <p:txBody>
          <a:bodyPr anchor="t" rtlCol="false" tIns="0" lIns="0" bIns="0" rIns="0">
            <a:spAutoFit/>
          </a:bodyPr>
          <a:lstStyle/>
          <a:p>
            <a:pPr algn="ctr">
              <a:lnSpc>
                <a:spcPts val="1165"/>
              </a:lnSpc>
            </a:pPr>
            <a:r>
              <a:rPr lang="en-US" sz="832">
                <a:solidFill>
                  <a:srgbClr val="FFFFFF"/>
                </a:solidFill>
                <a:latin typeface="Montserrat"/>
                <a:ea typeface="Montserrat"/>
                <a:cs typeface="Montserrat"/>
                <a:sym typeface="Montserrat"/>
              </a:rPr>
              <a:t>*Source: Greenomics &amp; KLHK</a:t>
            </a:r>
          </a:p>
        </p:txBody>
      </p:sp>
      <p:sp>
        <p:nvSpPr>
          <p:cNvPr name="TextBox 21" id="21"/>
          <p:cNvSpPr txBox="true"/>
          <p:nvPr/>
        </p:nvSpPr>
        <p:spPr>
          <a:xfrm rot="0">
            <a:off x="415592" y="7430215"/>
            <a:ext cx="5915823" cy="1934085"/>
          </a:xfrm>
          <a:prstGeom prst="rect">
            <a:avLst/>
          </a:prstGeom>
        </p:spPr>
        <p:txBody>
          <a:bodyPr anchor="t" rtlCol="false" tIns="0" lIns="0" bIns="0" rIns="0">
            <a:spAutoFit/>
          </a:bodyPr>
          <a:lstStyle/>
          <a:p>
            <a:pPr algn="just">
              <a:lnSpc>
                <a:spcPts val="2596"/>
              </a:lnSpc>
            </a:pPr>
            <a:r>
              <a:rPr lang="en-US" sz="1854">
                <a:solidFill>
                  <a:srgbClr val="FFFFFF"/>
                </a:solidFill>
                <a:latin typeface="Montserrat"/>
                <a:ea typeface="Montserrat"/>
                <a:cs typeface="Montserrat"/>
                <a:sym typeface="Montserrat"/>
              </a:rPr>
              <a:t>Source:</a:t>
            </a:r>
          </a:p>
          <a:p>
            <a:pPr algn="just" marL="400479" indent="-200240" lvl="1">
              <a:lnSpc>
                <a:spcPts val="2596"/>
              </a:lnSpc>
              <a:buFont typeface="Arial"/>
              <a:buChar char="•"/>
            </a:pPr>
            <a:r>
              <a:rPr lang="en-US" sz="1854">
                <a:solidFill>
                  <a:srgbClr val="FFFFFF"/>
                </a:solidFill>
                <a:latin typeface="Montserrat"/>
                <a:ea typeface="Montserrat"/>
                <a:cs typeface="Montserrat"/>
                <a:sym typeface="Montserrat"/>
              </a:rPr>
              <a:t>Decentralization of government and forestry in Indonesia by Paul Hasan Thung (web cifor-icraf.org)</a:t>
            </a:r>
          </a:p>
          <a:p>
            <a:pPr algn="just" marL="400479" indent="-200240" lvl="1">
              <a:lnSpc>
                <a:spcPts val="2596"/>
              </a:lnSpc>
              <a:buFont typeface="Arial"/>
              <a:buChar char="•"/>
            </a:pPr>
            <a:r>
              <a:rPr lang="en-US" sz="1854">
                <a:solidFill>
                  <a:srgbClr val="FFFFFF"/>
                </a:solidFill>
                <a:latin typeface="Montserrat"/>
                <a:ea typeface="Montserrat"/>
                <a:cs typeface="Montserrat"/>
                <a:sym typeface="Montserrat"/>
              </a:rPr>
              <a:t>Law enforcement and deforestation: Lessons for Indonesia from Brazil  (Paper Elsevier)</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3213452" y="2418606"/>
            <a:ext cx="11172067" cy="10704872"/>
          </a:xfrm>
          <a:custGeom>
            <a:avLst/>
            <a:gdLst/>
            <a:ahLst/>
            <a:cxnLst/>
            <a:rect r="r" b="b" t="t" l="l"/>
            <a:pathLst>
              <a:path h="10704872" w="11172067">
                <a:moveTo>
                  <a:pt x="0" y="0"/>
                </a:moveTo>
                <a:lnTo>
                  <a:pt x="11172067" y="0"/>
                </a:lnTo>
                <a:lnTo>
                  <a:pt x="11172067" y="10704871"/>
                </a:lnTo>
                <a:lnTo>
                  <a:pt x="0" y="1070487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2345265" y="3149918"/>
            <a:ext cx="11172067" cy="10704872"/>
          </a:xfrm>
          <a:custGeom>
            <a:avLst/>
            <a:gdLst/>
            <a:ahLst/>
            <a:cxnLst/>
            <a:rect r="r" b="b" t="t" l="l"/>
            <a:pathLst>
              <a:path h="10704872" w="11172067">
                <a:moveTo>
                  <a:pt x="0" y="0"/>
                </a:moveTo>
                <a:lnTo>
                  <a:pt x="11172068" y="0"/>
                </a:lnTo>
                <a:lnTo>
                  <a:pt x="11172068" y="10704872"/>
                </a:lnTo>
                <a:lnTo>
                  <a:pt x="0" y="107048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1430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4">
              <a:alphaModFix amt="15000"/>
            </a:blip>
            <a:stretch>
              <a:fillRect l="0" t="0" r="0" b="0"/>
            </a:stretch>
          </a:blipFill>
        </p:spPr>
      </p:sp>
      <p:sp>
        <p:nvSpPr>
          <p:cNvPr name="Freeform 5" id="5"/>
          <p:cNvSpPr/>
          <p:nvPr/>
        </p:nvSpPr>
        <p:spPr>
          <a:xfrm flipH="false" flipV="false" rot="0">
            <a:off x="2967743" y="5351586"/>
            <a:ext cx="13304630" cy="7273412"/>
          </a:xfrm>
          <a:custGeom>
            <a:avLst/>
            <a:gdLst/>
            <a:ahLst/>
            <a:cxnLst/>
            <a:rect r="r" b="b" t="t" l="l"/>
            <a:pathLst>
              <a:path h="7273412" w="13304630">
                <a:moveTo>
                  <a:pt x="0" y="0"/>
                </a:moveTo>
                <a:lnTo>
                  <a:pt x="13304630" y="0"/>
                </a:lnTo>
                <a:lnTo>
                  <a:pt x="13304630" y="7273412"/>
                </a:lnTo>
                <a:lnTo>
                  <a:pt x="0" y="7273412"/>
                </a:lnTo>
                <a:lnTo>
                  <a:pt x="0" y="0"/>
                </a:lnTo>
                <a:close/>
              </a:path>
            </a:pathLst>
          </a:custGeom>
          <a:blipFill>
            <a:blip r:embed="rId5">
              <a:alphaModFix amt="69000"/>
            </a:blip>
            <a:stretch>
              <a:fillRect l="0" t="-22058" r="0" b="0"/>
            </a:stretch>
          </a:blipFill>
        </p:spPr>
      </p:sp>
      <p:sp>
        <p:nvSpPr>
          <p:cNvPr name="TextBox 6" id="6"/>
          <p:cNvSpPr txBox="true"/>
          <p:nvPr/>
        </p:nvSpPr>
        <p:spPr>
          <a:xfrm rot="0">
            <a:off x="4733282" y="639085"/>
            <a:ext cx="12526018" cy="3774829"/>
          </a:xfrm>
          <a:prstGeom prst="rect">
            <a:avLst/>
          </a:prstGeom>
        </p:spPr>
        <p:txBody>
          <a:bodyPr anchor="t" rtlCol="false" tIns="0" lIns="0" bIns="0" rIns="0">
            <a:spAutoFit/>
          </a:bodyPr>
          <a:lstStyle/>
          <a:p>
            <a:pPr algn="ctr">
              <a:lnSpc>
                <a:spcPts val="9492"/>
              </a:lnSpc>
            </a:pPr>
            <a:r>
              <a:rPr lang="en-US" b="true" sz="9992">
                <a:solidFill>
                  <a:srgbClr val="F6F4F1"/>
                </a:solidFill>
                <a:latin typeface="Poppins Ultra-Bold"/>
                <a:ea typeface="Poppins Ultra-Bold"/>
                <a:cs typeface="Poppins Ultra-Bold"/>
                <a:sym typeface="Poppins Ultra-Bold"/>
              </a:rPr>
              <a:t>SENTIMEN PUBLIK TERHADAP INFLUENCER</a:t>
            </a:r>
          </a:p>
        </p:txBody>
      </p:sp>
      <p:grpSp>
        <p:nvGrpSpPr>
          <p:cNvPr name="Group 7" id="7"/>
          <p:cNvGrpSpPr/>
          <p:nvPr/>
        </p:nvGrpSpPr>
        <p:grpSpPr>
          <a:xfrm rot="0">
            <a:off x="-1069069" y="-1233428"/>
            <a:ext cx="4424138" cy="3086100"/>
            <a:chOff x="0" y="0"/>
            <a:chExt cx="1165205" cy="812800"/>
          </a:xfrm>
        </p:grpSpPr>
        <p:sp>
          <p:nvSpPr>
            <p:cNvPr name="Freeform 8" id="8"/>
            <p:cNvSpPr/>
            <p:nvPr/>
          </p:nvSpPr>
          <p:spPr>
            <a:xfrm flipH="false" flipV="false" rot="0">
              <a:off x="0" y="0"/>
              <a:ext cx="1165205" cy="812800"/>
            </a:xfrm>
            <a:custGeom>
              <a:avLst/>
              <a:gdLst/>
              <a:ahLst/>
              <a:cxnLst/>
              <a:rect r="r" b="b" t="t" l="l"/>
              <a:pathLst>
                <a:path h="812800" w="1165205">
                  <a:moveTo>
                    <a:pt x="89246" y="0"/>
                  </a:moveTo>
                  <a:lnTo>
                    <a:pt x="1075959" y="0"/>
                  </a:lnTo>
                  <a:cubicBezTo>
                    <a:pt x="1125248" y="0"/>
                    <a:pt x="1165205" y="39957"/>
                    <a:pt x="1165205" y="89246"/>
                  </a:cubicBezTo>
                  <a:lnTo>
                    <a:pt x="1165205" y="723554"/>
                  </a:lnTo>
                  <a:cubicBezTo>
                    <a:pt x="1165205" y="747223"/>
                    <a:pt x="1155802" y="769923"/>
                    <a:pt x="1139066" y="786660"/>
                  </a:cubicBezTo>
                  <a:cubicBezTo>
                    <a:pt x="1122329" y="803397"/>
                    <a:pt x="1099628" y="812800"/>
                    <a:pt x="1075959" y="812800"/>
                  </a:cubicBezTo>
                  <a:lnTo>
                    <a:pt x="89246" y="812800"/>
                  </a:lnTo>
                  <a:cubicBezTo>
                    <a:pt x="65577" y="812800"/>
                    <a:pt x="42877" y="803397"/>
                    <a:pt x="26140" y="786660"/>
                  </a:cubicBezTo>
                  <a:cubicBezTo>
                    <a:pt x="9403" y="769923"/>
                    <a:pt x="0" y="747223"/>
                    <a:pt x="0" y="723554"/>
                  </a:cubicBezTo>
                  <a:lnTo>
                    <a:pt x="0" y="89246"/>
                  </a:lnTo>
                  <a:cubicBezTo>
                    <a:pt x="0" y="65577"/>
                    <a:pt x="9403" y="42877"/>
                    <a:pt x="26140" y="26140"/>
                  </a:cubicBezTo>
                  <a:cubicBezTo>
                    <a:pt x="42877" y="9403"/>
                    <a:pt x="65577" y="0"/>
                    <a:pt x="89246" y="0"/>
                  </a:cubicBezTo>
                  <a:close/>
                </a:path>
              </a:pathLst>
            </a:custGeom>
            <a:solidFill>
              <a:srgbClr val="9A9995"/>
            </a:solidFill>
            <a:ln w="85725" cap="rnd">
              <a:solidFill>
                <a:srgbClr val="435565"/>
              </a:solidFill>
              <a:prstDash val="solid"/>
              <a:round/>
            </a:ln>
          </p:spPr>
        </p:sp>
        <p:sp>
          <p:nvSpPr>
            <p:cNvPr name="TextBox 9" id="9"/>
            <p:cNvSpPr txBox="true"/>
            <p:nvPr/>
          </p:nvSpPr>
          <p:spPr>
            <a:xfrm>
              <a:off x="0" y="-38100"/>
              <a:ext cx="1165205" cy="850900"/>
            </a:xfrm>
            <a:prstGeom prst="rect">
              <a:avLst/>
            </a:prstGeom>
          </p:spPr>
          <p:txBody>
            <a:bodyPr anchor="ctr" rtlCol="false" tIns="50800" lIns="50800" bIns="50800" rIns="50800"/>
            <a:lstStyle/>
            <a:p>
              <a:pPr algn="ctr">
                <a:lnSpc>
                  <a:spcPts val="2629"/>
                </a:lnSpc>
              </a:pPr>
            </a:p>
          </p:txBody>
        </p:sp>
      </p:grpSp>
      <p:grpSp>
        <p:nvGrpSpPr>
          <p:cNvPr name="Group 10" id="10"/>
          <p:cNvGrpSpPr/>
          <p:nvPr/>
        </p:nvGrpSpPr>
        <p:grpSpPr>
          <a:xfrm rot="0">
            <a:off x="9076458" y="4487588"/>
            <a:ext cx="3839666" cy="771274"/>
            <a:chOff x="0" y="0"/>
            <a:chExt cx="1011270" cy="203134"/>
          </a:xfrm>
        </p:grpSpPr>
        <p:sp>
          <p:nvSpPr>
            <p:cNvPr name="Freeform 11" id="11"/>
            <p:cNvSpPr/>
            <p:nvPr/>
          </p:nvSpPr>
          <p:spPr>
            <a:xfrm flipH="false" flipV="false" rot="0">
              <a:off x="0" y="0"/>
              <a:ext cx="1011270" cy="203134"/>
            </a:xfrm>
            <a:custGeom>
              <a:avLst/>
              <a:gdLst/>
              <a:ahLst/>
              <a:cxnLst/>
              <a:rect r="r" b="b" t="t" l="l"/>
              <a:pathLst>
                <a:path h="203134" w="1011270">
                  <a:moveTo>
                    <a:pt x="101567" y="0"/>
                  </a:moveTo>
                  <a:lnTo>
                    <a:pt x="909703" y="0"/>
                  </a:lnTo>
                  <a:cubicBezTo>
                    <a:pt x="936640" y="0"/>
                    <a:pt x="962474" y="10701"/>
                    <a:pt x="981522" y="29748"/>
                  </a:cubicBezTo>
                  <a:cubicBezTo>
                    <a:pt x="1000569" y="48796"/>
                    <a:pt x="1011270" y="74630"/>
                    <a:pt x="1011270" y="101567"/>
                  </a:cubicBezTo>
                  <a:lnTo>
                    <a:pt x="1011270" y="101567"/>
                  </a:lnTo>
                  <a:cubicBezTo>
                    <a:pt x="1011270" y="128504"/>
                    <a:pt x="1000569" y="154338"/>
                    <a:pt x="981522" y="173386"/>
                  </a:cubicBezTo>
                  <a:cubicBezTo>
                    <a:pt x="962474" y="192433"/>
                    <a:pt x="936640" y="203134"/>
                    <a:pt x="909703" y="203134"/>
                  </a:cubicBezTo>
                  <a:lnTo>
                    <a:pt x="101567" y="203134"/>
                  </a:lnTo>
                  <a:cubicBezTo>
                    <a:pt x="74630" y="203134"/>
                    <a:pt x="48796" y="192433"/>
                    <a:pt x="29748" y="173386"/>
                  </a:cubicBezTo>
                  <a:cubicBezTo>
                    <a:pt x="10701" y="154338"/>
                    <a:pt x="0" y="128504"/>
                    <a:pt x="0" y="101567"/>
                  </a:cubicBezTo>
                  <a:lnTo>
                    <a:pt x="0" y="101567"/>
                  </a:lnTo>
                  <a:cubicBezTo>
                    <a:pt x="0" y="74630"/>
                    <a:pt x="10701" y="48796"/>
                    <a:pt x="29748" y="29748"/>
                  </a:cubicBezTo>
                  <a:cubicBezTo>
                    <a:pt x="48796" y="10701"/>
                    <a:pt x="74630" y="0"/>
                    <a:pt x="101567" y="0"/>
                  </a:cubicBezTo>
                  <a:close/>
                </a:path>
              </a:pathLst>
            </a:custGeom>
            <a:solidFill>
              <a:srgbClr val="F1F0EC"/>
            </a:solidFill>
          </p:spPr>
        </p:sp>
        <p:sp>
          <p:nvSpPr>
            <p:cNvPr name="TextBox 12" id="12"/>
            <p:cNvSpPr txBox="true"/>
            <p:nvPr/>
          </p:nvSpPr>
          <p:spPr>
            <a:xfrm>
              <a:off x="0" y="0"/>
              <a:ext cx="1011270" cy="203134"/>
            </a:xfrm>
            <a:prstGeom prst="rect">
              <a:avLst/>
            </a:prstGeom>
          </p:spPr>
          <p:txBody>
            <a:bodyPr anchor="ctr" rtlCol="false" tIns="63500" lIns="63500" bIns="63500" rIns="63500"/>
            <a:lstStyle/>
            <a:p>
              <a:pPr algn="ctr">
                <a:lnSpc>
                  <a:spcPts val="2640"/>
                </a:lnSpc>
              </a:pPr>
              <a:r>
                <a:rPr lang="en-US" b="true" sz="2400" spc="38">
                  <a:solidFill>
                    <a:srgbClr val="2D2C2D"/>
                  </a:solidFill>
                  <a:latin typeface="Poppins Bold"/>
                  <a:ea typeface="Poppins Bold"/>
                  <a:cs typeface="Poppins Bold"/>
                  <a:sym typeface="Poppins Bold"/>
                </a:rPr>
                <a:t>FERRY IRWANDI</a:t>
              </a:r>
            </a:p>
          </p:txBody>
        </p:sp>
      </p:grpSp>
      <p:sp>
        <p:nvSpPr>
          <p:cNvPr name="TextBox 13" id="13"/>
          <p:cNvSpPr txBox="true"/>
          <p:nvPr/>
        </p:nvSpPr>
        <p:spPr>
          <a:xfrm rot="0">
            <a:off x="114300" y="-247650"/>
            <a:ext cx="2853443" cy="1944441"/>
          </a:xfrm>
          <a:prstGeom prst="rect">
            <a:avLst/>
          </a:prstGeom>
        </p:spPr>
        <p:txBody>
          <a:bodyPr anchor="t" rtlCol="false" tIns="0" lIns="0" bIns="0" rIns="0">
            <a:spAutoFit/>
          </a:bodyPr>
          <a:lstStyle/>
          <a:p>
            <a:pPr algn="ctr">
              <a:lnSpc>
                <a:spcPts val="15862"/>
              </a:lnSpc>
            </a:pPr>
            <a:r>
              <a:rPr lang="en-US" sz="11330" b="true">
                <a:solidFill>
                  <a:srgbClr val="F6F4F1"/>
                </a:solidFill>
                <a:latin typeface="Montserrat Bold"/>
                <a:ea typeface="Montserrat Bold"/>
                <a:cs typeface="Montserrat Bold"/>
                <a:sym typeface="Montserrat Bold"/>
              </a:rPr>
              <a:t>#02</a:t>
            </a:r>
          </a:p>
        </p:txBody>
      </p:sp>
      <p:sp>
        <p:nvSpPr>
          <p:cNvPr name="Freeform 14" id="14"/>
          <p:cNvSpPr/>
          <p:nvPr/>
        </p:nvSpPr>
        <p:spPr>
          <a:xfrm flipH="false" flipV="false" rot="0">
            <a:off x="-2535051" y="1696791"/>
            <a:ext cx="11005589" cy="13118588"/>
          </a:xfrm>
          <a:custGeom>
            <a:avLst/>
            <a:gdLst/>
            <a:ahLst/>
            <a:cxnLst/>
            <a:rect r="r" b="b" t="t" l="l"/>
            <a:pathLst>
              <a:path h="13118588" w="11005589">
                <a:moveTo>
                  <a:pt x="0" y="0"/>
                </a:moveTo>
                <a:lnTo>
                  <a:pt x="11005589" y="0"/>
                </a:lnTo>
                <a:lnTo>
                  <a:pt x="11005589" y="13118588"/>
                </a:lnTo>
                <a:lnTo>
                  <a:pt x="0" y="13118588"/>
                </a:lnTo>
                <a:lnTo>
                  <a:pt x="0" y="0"/>
                </a:lnTo>
                <a:close/>
              </a:path>
            </a:pathLst>
          </a:custGeom>
          <a:blipFill>
            <a:blip r:embed="rId6"/>
            <a:stretch>
              <a:fillRect l="-17479" t="-20542" r="-137961" b="0"/>
            </a:stretch>
          </a:blipFill>
        </p:spPr>
      </p:sp>
      <p:sp>
        <p:nvSpPr>
          <p:cNvPr name="Freeform 15" id="15"/>
          <p:cNvSpPr/>
          <p:nvPr/>
        </p:nvSpPr>
        <p:spPr>
          <a:xfrm flipH="false" flipV="false" rot="0">
            <a:off x="11835682" y="2537993"/>
            <a:ext cx="7871941" cy="11436185"/>
          </a:xfrm>
          <a:custGeom>
            <a:avLst/>
            <a:gdLst/>
            <a:ahLst/>
            <a:cxnLst/>
            <a:rect r="r" b="b" t="t" l="l"/>
            <a:pathLst>
              <a:path h="11436185" w="7871941">
                <a:moveTo>
                  <a:pt x="0" y="0"/>
                </a:moveTo>
                <a:lnTo>
                  <a:pt x="7871941" y="0"/>
                </a:lnTo>
                <a:lnTo>
                  <a:pt x="7871941" y="11436185"/>
                </a:lnTo>
                <a:lnTo>
                  <a:pt x="0" y="11436185"/>
                </a:lnTo>
                <a:lnTo>
                  <a:pt x="0" y="0"/>
                </a:lnTo>
                <a:close/>
              </a:path>
            </a:pathLst>
          </a:custGeom>
          <a:blipFill>
            <a:blip r:embed="rId7">
              <a:alphaModFix amt="88000"/>
            </a:blip>
            <a:stretch>
              <a:fillRect l="-59973" t="0" r="-58724" b="0"/>
            </a:stretch>
          </a:blipFill>
        </p:spPr>
      </p:sp>
      <p:sp>
        <p:nvSpPr>
          <p:cNvPr name="Freeform 16" id="16"/>
          <p:cNvSpPr/>
          <p:nvPr/>
        </p:nvSpPr>
        <p:spPr>
          <a:xfrm flipH="false" flipV="false" rot="0">
            <a:off x="-250120" y="1120365"/>
            <a:ext cx="18538120" cy="9269060"/>
          </a:xfrm>
          <a:custGeom>
            <a:avLst/>
            <a:gdLst/>
            <a:ahLst/>
            <a:cxnLst/>
            <a:rect r="r" b="b" t="t" l="l"/>
            <a:pathLst>
              <a:path h="9269060" w="18538120">
                <a:moveTo>
                  <a:pt x="0" y="0"/>
                </a:moveTo>
                <a:lnTo>
                  <a:pt x="18538120" y="0"/>
                </a:lnTo>
                <a:lnTo>
                  <a:pt x="18538120" y="9269060"/>
                </a:lnTo>
                <a:lnTo>
                  <a:pt x="0" y="92690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2612119" y="-273277"/>
            <a:ext cx="7467600" cy="6170451"/>
            <a:chOff x="0" y="0"/>
            <a:chExt cx="9956800" cy="8227268"/>
          </a:xfrm>
        </p:grpSpPr>
        <p:sp>
          <p:nvSpPr>
            <p:cNvPr name="Freeform 4" id="4"/>
            <p:cNvSpPr/>
            <p:nvPr/>
          </p:nvSpPr>
          <p:spPr>
            <a:xfrm flipH="false" flipV="false" rot="0">
              <a:off x="893462"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5" id="5"/>
            <p:cNvSpPr/>
            <p:nvPr/>
          </p:nvSpPr>
          <p:spPr>
            <a:xfrm flipH="false" flipV="false" rot="0">
              <a:off x="3096053" y="772123"/>
              <a:ext cx="4887387" cy="4725465"/>
            </a:xfrm>
            <a:custGeom>
              <a:avLst/>
              <a:gdLst/>
              <a:ahLst/>
              <a:cxnLst/>
              <a:rect r="r" b="b" t="t" l="l"/>
              <a:pathLst>
                <a:path h="4725465" w="4887387">
                  <a:moveTo>
                    <a:pt x="0" y="0"/>
                  </a:moveTo>
                  <a:lnTo>
                    <a:pt x="4887386" y="0"/>
                  </a:lnTo>
                  <a:lnTo>
                    <a:pt x="4887386" y="4725465"/>
                  </a:lnTo>
                  <a:lnTo>
                    <a:pt x="0" y="4725465"/>
                  </a:lnTo>
                  <a:lnTo>
                    <a:pt x="0" y="0"/>
                  </a:lnTo>
                  <a:close/>
                </a:path>
              </a:pathLst>
            </a:custGeom>
            <a:blipFill>
              <a:blip r:embed="rId4"/>
              <a:stretch>
                <a:fillRect l="-53389" t="0" r="-47229" b="-21417"/>
              </a:stretch>
            </a:blipFill>
          </p:spPr>
        </p:sp>
        <p:sp>
          <p:nvSpPr>
            <p:cNvPr name="Freeform 6" id="6"/>
            <p:cNvSpPr/>
            <p:nvPr/>
          </p:nvSpPr>
          <p:spPr>
            <a:xfrm flipH="false" flipV="false" rot="0">
              <a:off x="0" y="30611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03200" y="32643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3630884"/>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9" id="9"/>
          <p:cNvGrpSpPr/>
          <p:nvPr/>
        </p:nvGrpSpPr>
        <p:grpSpPr>
          <a:xfrm rot="0">
            <a:off x="12049737" y="3040549"/>
            <a:ext cx="5997629" cy="7034103"/>
            <a:chOff x="0" y="0"/>
            <a:chExt cx="2288130" cy="2683551"/>
          </a:xfrm>
        </p:grpSpPr>
        <p:sp>
          <p:nvSpPr>
            <p:cNvPr name="Freeform 10" id="10"/>
            <p:cNvSpPr/>
            <p:nvPr/>
          </p:nvSpPr>
          <p:spPr>
            <a:xfrm flipH="false" flipV="false" rot="0">
              <a:off x="0" y="0"/>
              <a:ext cx="2288130" cy="2683551"/>
            </a:xfrm>
            <a:custGeom>
              <a:avLst/>
              <a:gdLst/>
              <a:ahLst/>
              <a:cxnLst/>
              <a:rect r="r" b="b" t="t" l="l"/>
              <a:pathLst>
                <a:path h="2683551" w="2288130">
                  <a:moveTo>
                    <a:pt x="19362" y="0"/>
                  </a:moveTo>
                  <a:lnTo>
                    <a:pt x="2268768" y="0"/>
                  </a:lnTo>
                  <a:cubicBezTo>
                    <a:pt x="2273903" y="0"/>
                    <a:pt x="2278828" y="2040"/>
                    <a:pt x="2282459" y="5671"/>
                  </a:cubicBezTo>
                  <a:cubicBezTo>
                    <a:pt x="2286090" y="9302"/>
                    <a:pt x="2288130" y="14227"/>
                    <a:pt x="2288130" y="19362"/>
                  </a:cubicBezTo>
                  <a:lnTo>
                    <a:pt x="2288130" y="2664189"/>
                  </a:lnTo>
                  <a:cubicBezTo>
                    <a:pt x="2288130" y="2669324"/>
                    <a:pt x="2286090" y="2674249"/>
                    <a:pt x="2282459" y="2677880"/>
                  </a:cubicBezTo>
                  <a:cubicBezTo>
                    <a:pt x="2278828" y="2681511"/>
                    <a:pt x="2273903" y="2683551"/>
                    <a:pt x="2268768" y="2683551"/>
                  </a:cubicBezTo>
                  <a:lnTo>
                    <a:pt x="19362" y="2683551"/>
                  </a:lnTo>
                  <a:cubicBezTo>
                    <a:pt x="8669" y="2683551"/>
                    <a:pt x="0" y="2674882"/>
                    <a:pt x="0" y="2664189"/>
                  </a:cubicBezTo>
                  <a:lnTo>
                    <a:pt x="0" y="19362"/>
                  </a:lnTo>
                  <a:cubicBezTo>
                    <a:pt x="0" y="8669"/>
                    <a:pt x="8669" y="0"/>
                    <a:pt x="19362" y="0"/>
                  </a:cubicBezTo>
                  <a:close/>
                </a:path>
              </a:pathLst>
            </a:custGeom>
            <a:solidFill>
              <a:srgbClr val="8F1EAE"/>
            </a:solidFill>
          </p:spPr>
        </p:sp>
        <p:sp>
          <p:nvSpPr>
            <p:cNvPr name="TextBox 11" id="11"/>
            <p:cNvSpPr txBox="true"/>
            <p:nvPr/>
          </p:nvSpPr>
          <p:spPr>
            <a:xfrm>
              <a:off x="0" y="76200"/>
              <a:ext cx="2288130" cy="2607351"/>
            </a:xfrm>
            <a:prstGeom prst="rect">
              <a:avLst/>
            </a:prstGeom>
          </p:spPr>
          <p:txBody>
            <a:bodyPr anchor="ctr" rtlCol="false" tIns="50800" lIns="50800" bIns="50800" rIns="50800"/>
            <a:lstStyle/>
            <a:p>
              <a:pPr algn="ctr">
                <a:lnSpc>
                  <a:spcPts val="1925"/>
                </a:lnSpc>
              </a:pPr>
            </a:p>
          </p:txBody>
        </p:sp>
      </p:grpSp>
      <p:pic>
        <p:nvPicPr>
          <p:cNvPr name="Picture 12" id="12"/>
          <p:cNvPicPr>
            <a:picLocks noChangeAspect="true"/>
          </p:cNvPicPr>
          <p:nvPr/>
        </p:nvPicPr>
        <p:blipFill>
          <a:blip r:embed="rId7"/>
          <a:stretch>
            <a:fillRect/>
          </a:stretch>
        </p:blipFill>
        <p:spPr>
          <a:xfrm rot="0">
            <a:off x="188758" y="4567607"/>
            <a:ext cx="5568478" cy="5466258"/>
          </a:xfrm>
          <a:prstGeom prst="rect">
            <a:avLst/>
          </a:prstGeom>
        </p:spPr>
      </p:pic>
      <p:pic>
        <p:nvPicPr>
          <p:cNvPr name="Picture 13" id="13"/>
          <p:cNvPicPr>
            <a:picLocks noChangeAspect="true"/>
          </p:cNvPicPr>
          <p:nvPr/>
        </p:nvPicPr>
        <p:blipFill>
          <a:blip r:embed="rId8"/>
          <a:stretch>
            <a:fillRect/>
          </a:stretch>
        </p:blipFill>
        <p:spPr>
          <a:xfrm rot="0">
            <a:off x="4928763" y="5737946"/>
            <a:ext cx="7595414" cy="4969656"/>
          </a:xfrm>
          <a:prstGeom prst="rect">
            <a:avLst/>
          </a:prstGeom>
        </p:spPr>
      </p:pic>
      <p:sp>
        <p:nvSpPr>
          <p:cNvPr name="Freeform 14" id="14"/>
          <p:cNvSpPr/>
          <p:nvPr/>
        </p:nvSpPr>
        <p:spPr>
          <a:xfrm flipH="false" flipV="false" rot="0">
            <a:off x="5585958" y="3053598"/>
            <a:ext cx="6305268" cy="3232447"/>
          </a:xfrm>
          <a:custGeom>
            <a:avLst/>
            <a:gdLst/>
            <a:ahLst/>
            <a:cxnLst/>
            <a:rect r="r" b="b" t="t" l="l"/>
            <a:pathLst>
              <a:path h="3232447" w="6305268">
                <a:moveTo>
                  <a:pt x="0" y="0"/>
                </a:moveTo>
                <a:lnTo>
                  <a:pt x="6305268" y="0"/>
                </a:lnTo>
                <a:lnTo>
                  <a:pt x="6305268" y="3232447"/>
                </a:lnTo>
                <a:lnTo>
                  <a:pt x="0" y="3232447"/>
                </a:lnTo>
                <a:lnTo>
                  <a:pt x="0" y="0"/>
                </a:lnTo>
                <a:close/>
              </a:path>
            </a:pathLst>
          </a:custGeom>
          <a:blipFill>
            <a:blip r:embed="rId9"/>
            <a:stretch>
              <a:fillRect l="0" t="0" r="0" b="0"/>
            </a:stretch>
          </a:blipFill>
        </p:spPr>
      </p:sp>
      <p:grpSp>
        <p:nvGrpSpPr>
          <p:cNvPr name="Group 15" id="15"/>
          <p:cNvGrpSpPr/>
          <p:nvPr/>
        </p:nvGrpSpPr>
        <p:grpSpPr>
          <a:xfrm rot="0">
            <a:off x="317056" y="3085686"/>
            <a:ext cx="4976420" cy="1334829"/>
            <a:chOff x="0" y="0"/>
            <a:chExt cx="1564608" cy="419676"/>
          </a:xfrm>
        </p:grpSpPr>
        <p:sp>
          <p:nvSpPr>
            <p:cNvPr name="Freeform 16" id="16"/>
            <p:cNvSpPr/>
            <p:nvPr/>
          </p:nvSpPr>
          <p:spPr>
            <a:xfrm flipH="false" flipV="false" rot="0">
              <a:off x="0" y="0"/>
              <a:ext cx="1564608" cy="419676"/>
            </a:xfrm>
            <a:custGeom>
              <a:avLst/>
              <a:gdLst/>
              <a:ahLst/>
              <a:cxnLst/>
              <a:rect r="r" b="b" t="t" l="l"/>
              <a:pathLst>
                <a:path h="419676" w="1564608">
                  <a:moveTo>
                    <a:pt x="0" y="0"/>
                  </a:moveTo>
                  <a:lnTo>
                    <a:pt x="1564608" y="0"/>
                  </a:lnTo>
                  <a:lnTo>
                    <a:pt x="1564608" y="419676"/>
                  </a:lnTo>
                  <a:lnTo>
                    <a:pt x="0" y="419676"/>
                  </a:lnTo>
                  <a:close/>
                </a:path>
              </a:pathLst>
            </a:custGeom>
            <a:solidFill>
              <a:srgbClr val="107FAA"/>
            </a:solidFill>
          </p:spPr>
        </p:sp>
        <p:sp>
          <p:nvSpPr>
            <p:cNvPr name="TextBox 17" id="17"/>
            <p:cNvSpPr txBox="true"/>
            <p:nvPr/>
          </p:nvSpPr>
          <p:spPr>
            <a:xfrm>
              <a:off x="0" y="76200"/>
              <a:ext cx="1564608" cy="343476"/>
            </a:xfrm>
            <a:prstGeom prst="rect">
              <a:avLst/>
            </a:prstGeom>
          </p:spPr>
          <p:txBody>
            <a:bodyPr anchor="ctr" rtlCol="false" tIns="50800" lIns="50800" bIns="50800" rIns="50800"/>
            <a:lstStyle/>
            <a:p>
              <a:pPr algn="ctr">
                <a:lnSpc>
                  <a:spcPts val="1925"/>
                </a:lnSpc>
              </a:pPr>
            </a:p>
          </p:txBody>
        </p:sp>
      </p:grpSp>
      <p:sp>
        <p:nvSpPr>
          <p:cNvPr name="Freeform 18" id="18"/>
          <p:cNvSpPr/>
          <p:nvPr/>
        </p:nvSpPr>
        <p:spPr>
          <a:xfrm flipH="false" flipV="false" rot="0">
            <a:off x="3071766" y="3716774"/>
            <a:ext cx="573826" cy="207295"/>
          </a:xfrm>
          <a:custGeom>
            <a:avLst/>
            <a:gdLst/>
            <a:ahLst/>
            <a:cxnLst/>
            <a:rect r="r" b="b" t="t" l="l"/>
            <a:pathLst>
              <a:path h="207295" w="573826">
                <a:moveTo>
                  <a:pt x="0" y="0"/>
                </a:moveTo>
                <a:lnTo>
                  <a:pt x="573827" y="0"/>
                </a:lnTo>
                <a:lnTo>
                  <a:pt x="573827" y="207294"/>
                </a:lnTo>
                <a:lnTo>
                  <a:pt x="0" y="2072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9" id="19"/>
          <p:cNvSpPr txBox="true"/>
          <p:nvPr/>
        </p:nvSpPr>
        <p:spPr>
          <a:xfrm rot="0">
            <a:off x="1891517" y="568097"/>
            <a:ext cx="10426820" cy="2116637"/>
          </a:xfrm>
          <a:prstGeom prst="rect">
            <a:avLst/>
          </a:prstGeom>
        </p:spPr>
        <p:txBody>
          <a:bodyPr anchor="t" rtlCol="false" tIns="0" lIns="0" bIns="0" rIns="0">
            <a:spAutoFit/>
          </a:bodyPr>
          <a:lstStyle/>
          <a:p>
            <a:pPr algn="l">
              <a:lnSpc>
                <a:spcPts val="8147"/>
              </a:lnSpc>
            </a:pPr>
            <a:r>
              <a:rPr lang="en-US" sz="6678" b="true">
                <a:solidFill>
                  <a:srgbClr val="F6F4F1"/>
                </a:solidFill>
                <a:latin typeface="Poppins Bold"/>
                <a:ea typeface="Poppins Bold"/>
                <a:cs typeface="Poppins Bold"/>
                <a:sym typeface="Poppins Bold"/>
              </a:rPr>
              <a:t>SENTIMEN PUBLIK TERHADAP INFLUENCER</a:t>
            </a:r>
          </a:p>
        </p:txBody>
      </p:sp>
      <p:sp>
        <p:nvSpPr>
          <p:cNvPr name="TextBox 20" id="20"/>
          <p:cNvSpPr txBox="true"/>
          <p:nvPr/>
        </p:nvSpPr>
        <p:spPr>
          <a:xfrm rot="0">
            <a:off x="545745" y="3820421"/>
            <a:ext cx="1151872"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Instagram</a:t>
            </a:r>
          </a:p>
        </p:txBody>
      </p:sp>
      <p:sp>
        <p:nvSpPr>
          <p:cNvPr name="TextBox 21" id="21"/>
          <p:cNvSpPr txBox="true"/>
          <p:nvPr/>
        </p:nvSpPr>
        <p:spPr>
          <a:xfrm rot="0">
            <a:off x="1992892" y="3604288"/>
            <a:ext cx="931433"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4256</a:t>
            </a:r>
          </a:p>
        </p:txBody>
      </p:sp>
      <p:sp>
        <p:nvSpPr>
          <p:cNvPr name="TextBox 22" id="22"/>
          <p:cNvSpPr txBox="true"/>
          <p:nvPr/>
        </p:nvSpPr>
        <p:spPr>
          <a:xfrm rot="0">
            <a:off x="3835339" y="3604288"/>
            <a:ext cx="980172"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3904</a:t>
            </a:r>
          </a:p>
        </p:txBody>
      </p:sp>
      <p:sp>
        <p:nvSpPr>
          <p:cNvPr name="TextBox 23" id="23"/>
          <p:cNvSpPr txBox="true"/>
          <p:nvPr/>
        </p:nvSpPr>
        <p:spPr>
          <a:xfrm rot="0">
            <a:off x="1891517" y="3345822"/>
            <a:ext cx="1153234"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Awal</a:t>
            </a:r>
          </a:p>
        </p:txBody>
      </p:sp>
      <p:sp>
        <p:nvSpPr>
          <p:cNvPr name="TextBox 24" id="24"/>
          <p:cNvSpPr txBox="true"/>
          <p:nvPr/>
        </p:nvSpPr>
        <p:spPr>
          <a:xfrm rot="0">
            <a:off x="3738188" y="3324064"/>
            <a:ext cx="1193525"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Akhir</a:t>
            </a:r>
          </a:p>
        </p:txBody>
      </p:sp>
      <p:sp>
        <p:nvSpPr>
          <p:cNvPr name="TextBox 25" id="25"/>
          <p:cNvSpPr txBox="true"/>
          <p:nvPr/>
        </p:nvSpPr>
        <p:spPr>
          <a:xfrm rot="0">
            <a:off x="10051244" y="107950"/>
            <a:ext cx="5545131" cy="1765300"/>
          </a:xfrm>
          <a:prstGeom prst="rect">
            <a:avLst/>
          </a:prstGeom>
        </p:spPr>
        <p:txBody>
          <a:bodyPr anchor="t" rtlCol="false" tIns="0" lIns="0" bIns="0" rIns="0">
            <a:spAutoFit/>
          </a:bodyPr>
          <a:lstStyle/>
          <a:p>
            <a:pPr algn="ctr">
              <a:lnSpc>
                <a:spcPts val="3500"/>
              </a:lnSpc>
              <a:spcBef>
                <a:spcPct val="0"/>
              </a:spcBef>
            </a:pPr>
            <a:r>
              <a:rPr lang="en-US" sz="2500" spc="12">
                <a:solidFill>
                  <a:srgbClr val="F6F4F1"/>
                </a:solidFill>
                <a:latin typeface="Poppins"/>
                <a:ea typeface="Poppins"/>
                <a:cs typeface="Poppins"/>
                <a:sym typeface="Poppins"/>
              </a:rPr>
              <a:t>(1-2 Des 2025) : </a:t>
            </a:r>
          </a:p>
          <a:p>
            <a:pPr algn="ctr">
              <a:lnSpc>
                <a:spcPts val="3500"/>
              </a:lnSpc>
              <a:spcBef>
                <a:spcPct val="0"/>
              </a:spcBef>
            </a:pPr>
            <a:r>
              <a:rPr lang="en-US" sz="2500" spc="12">
                <a:solidFill>
                  <a:srgbClr val="F6F4F1"/>
                </a:solidFill>
                <a:latin typeface="Poppins"/>
                <a:ea typeface="Poppins"/>
                <a:cs typeface="Poppins"/>
                <a:sym typeface="Poppins"/>
              </a:rPr>
              <a:t>Ferry Irwandi open donasi untuk bencana banjir sumatra </a:t>
            </a:r>
          </a:p>
          <a:p>
            <a:pPr algn="ctr">
              <a:lnSpc>
                <a:spcPts val="3500"/>
              </a:lnSpc>
              <a:spcBef>
                <a:spcPct val="0"/>
              </a:spcBef>
            </a:pPr>
          </a:p>
        </p:txBody>
      </p:sp>
      <p:sp>
        <p:nvSpPr>
          <p:cNvPr name="TextBox 26" id="26"/>
          <p:cNvSpPr txBox="true"/>
          <p:nvPr/>
        </p:nvSpPr>
        <p:spPr>
          <a:xfrm rot="0">
            <a:off x="15892446" y="190143"/>
            <a:ext cx="201463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#01</a:t>
            </a:r>
          </a:p>
        </p:txBody>
      </p:sp>
      <p:sp>
        <p:nvSpPr>
          <p:cNvPr name="TextBox 27" id="27"/>
          <p:cNvSpPr txBox="true"/>
          <p:nvPr/>
        </p:nvSpPr>
        <p:spPr>
          <a:xfrm rot="0">
            <a:off x="16433133"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
        <p:nvSpPr>
          <p:cNvPr name="TextBox 28" id="28"/>
          <p:cNvSpPr txBox="true"/>
          <p:nvPr/>
        </p:nvSpPr>
        <p:spPr>
          <a:xfrm rot="0">
            <a:off x="12091251" y="3206617"/>
            <a:ext cx="5697171" cy="6323965"/>
          </a:xfrm>
          <a:prstGeom prst="rect">
            <a:avLst/>
          </a:prstGeom>
        </p:spPr>
        <p:txBody>
          <a:bodyPr anchor="t" rtlCol="false" tIns="0" lIns="0" bIns="0" rIns="0">
            <a:spAutoFit/>
          </a:bodyPr>
          <a:lstStyle/>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Data sentimen publik ini saya ambil dari postingan open donasi yang dilakukan oleh ferry irwandi di akun resmi instagramnya.</a:t>
            </a:r>
          </a:p>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Frekuensi kata yang sering muncul adalah kata </a:t>
            </a:r>
            <a:r>
              <a:rPr lang="en-US" b="true" sz="1899">
                <a:solidFill>
                  <a:srgbClr val="FFFFFF"/>
                </a:solidFill>
                <a:latin typeface="Montserrat Bold"/>
                <a:ea typeface="Montserrat Bold"/>
                <a:cs typeface="Montserrat Bold"/>
                <a:sym typeface="Montserrat Bold"/>
              </a:rPr>
              <a:t>BANG</a:t>
            </a:r>
            <a:r>
              <a:rPr lang="en-US" sz="1899">
                <a:solidFill>
                  <a:srgbClr val="FFFFFF"/>
                </a:solidFill>
                <a:latin typeface="Montserrat"/>
                <a:ea typeface="Montserrat"/>
                <a:cs typeface="Montserrat"/>
                <a:sym typeface="Montserrat"/>
              </a:rPr>
              <a:t> dan </a:t>
            </a:r>
            <a:r>
              <a:rPr lang="en-US" b="true" sz="1899">
                <a:solidFill>
                  <a:srgbClr val="FFFFFF"/>
                </a:solidFill>
                <a:latin typeface="Montserrat Bold"/>
                <a:ea typeface="Montserrat Bold"/>
                <a:cs typeface="Montserrat Bold"/>
                <a:sym typeface="Montserrat Bold"/>
              </a:rPr>
              <a:t>BG</a:t>
            </a:r>
            <a:r>
              <a:rPr lang="en-US" sz="1899">
                <a:solidFill>
                  <a:srgbClr val="FFFFFF"/>
                </a:solidFill>
                <a:latin typeface="Montserrat"/>
                <a:ea typeface="Montserrat"/>
                <a:cs typeface="Montserrat"/>
                <a:sym typeface="Montserrat"/>
              </a:rPr>
              <a:t> yg dapat diartikan sebagai sikap penghormatan publik terhadap aksi yang dilakukan ferry irwandi. kata </a:t>
            </a:r>
            <a:r>
              <a:rPr lang="en-US" b="true" sz="1899">
                <a:solidFill>
                  <a:srgbClr val="FFFFFF"/>
                </a:solidFill>
                <a:latin typeface="Montserrat Bold"/>
                <a:ea typeface="Montserrat Bold"/>
                <a:cs typeface="Montserrat Bold"/>
                <a:sym typeface="Montserrat Bold"/>
              </a:rPr>
              <a:t>RAKYAT</a:t>
            </a:r>
            <a:r>
              <a:rPr lang="en-US" sz="1899">
                <a:solidFill>
                  <a:srgbClr val="FFFFFF"/>
                </a:solidFill>
                <a:latin typeface="Montserrat"/>
                <a:ea typeface="Montserrat"/>
                <a:cs typeface="Montserrat"/>
                <a:sym typeface="Montserrat"/>
              </a:rPr>
              <a:t> dan </a:t>
            </a:r>
            <a:r>
              <a:rPr lang="en-US" b="true" sz="1899">
                <a:solidFill>
                  <a:srgbClr val="FFFFFF"/>
                </a:solidFill>
                <a:latin typeface="Montserrat Bold"/>
                <a:ea typeface="Montserrat Bold"/>
                <a:cs typeface="Montserrat Bold"/>
                <a:sym typeface="Montserrat Bold"/>
              </a:rPr>
              <a:t>PEMERINTAH</a:t>
            </a:r>
            <a:r>
              <a:rPr lang="en-US" sz="1899">
                <a:solidFill>
                  <a:srgbClr val="FFFFFF"/>
                </a:solidFill>
                <a:latin typeface="Montserrat"/>
                <a:ea typeface="Montserrat"/>
                <a:cs typeface="Montserrat"/>
                <a:sym typeface="Montserrat"/>
              </a:rPr>
              <a:t> juga banyak muncul yang diartikan publik mulai membandingkan antara rakyat dan pejabat, baik kondisi, perilaku, dll. kata </a:t>
            </a:r>
            <a:r>
              <a:rPr lang="en-US" b="true" sz="1899">
                <a:solidFill>
                  <a:srgbClr val="FFFFFF"/>
                </a:solidFill>
                <a:latin typeface="Montserrat Bold"/>
                <a:ea typeface="Montserrat Bold"/>
                <a:cs typeface="Montserrat Bold"/>
                <a:sym typeface="Montserrat Bold"/>
              </a:rPr>
              <a:t>ALLAH, SEHAT</a:t>
            </a:r>
            <a:r>
              <a:rPr lang="en-US" sz="1899">
                <a:solidFill>
                  <a:srgbClr val="FFFFFF"/>
                </a:solidFill>
                <a:latin typeface="Montserrat"/>
                <a:ea typeface="Montserrat"/>
                <a:cs typeface="Montserrat"/>
                <a:sym typeface="Montserrat"/>
              </a:rPr>
              <a:t>, &amp; </a:t>
            </a:r>
            <a:r>
              <a:rPr lang="en-US" b="true" sz="1899">
                <a:solidFill>
                  <a:srgbClr val="FFFFFF"/>
                </a:solidFill>
                <a:latin typeface="Montserrat Bold"/>
                <a:ea typeface="Montserrat Bold"/>
                <a:cs typeface="Montserrat Bold"/>
                <a:sym typeface="Montserrat Bold"/>
              </a:rPr>
              <a:t>SEMOGA</a:t>
            </a:r>
            <a:r>
              <a:rPr lang="en-US" sz="1899">
                <a:solidFill>
                  <a:srgbClr val="FFFFFF"/>
                </a:solidFill>
                <a:latin typeface="Montserrat"/>
                <a:ea typeface="Montserrat"/>
                <a:cs typeface="Montserrat"/>
                <a:sym typeface="Montserrat"/>
              </a:rPr>
              <a:t> menunjukan sikap apresiasi publik terhadap aksi yang dilakukan ferry irwandi.</a:t>
            </a:r>
          </a:p>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Sentimen publik didominasi sikap netral dibandingkan sikap negatif dan positif. akan tetapi sentimen negatif lebih tinggi dibandingkan sentimen positif</a:t>
            </a:r>
          </a:p>
        </p:txBody>
      </p:sp>
      <p:sp>
        <p:nvSpPr>
          <p:cNvPr name="Freeform 29" id="29"/>
          <p:cNvSpPr/>
          <p:nvPr/>
        </p:nvSpPr>
        <p:spPr>
          <a:xfrm flipH="false" flipV="false" rot="0">
            <a:off x="808231" y="3210419"/>
            <a:ext cx="617360" cy="617360"/>
          </a:xfrm>
          <a:custGeom>
            <a:avLst/>
            <a:gdLst/>
            <a:ahLst/>
            <a:cxnLst/>
            <a:rect r="r" b="b" t="t" l="l"/>
            <a:pathLst>
              <a:path h="617360" w="617360">
                <a:moveTo>
                  <a:pt x="0" y="0"/>
                </a:moveTo>
                <a:lnTo>
                  <a:pt x="617360" y="0"/>
                </a:lnTo>
                <a:lnTo>
                  <a:pt x="617360" y="617360"/>
                </a:lnTo>
                <a:lnTo>
                  <a:pt x="0" y="61736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3549483" y="759722"/>
            <a:ext cx="10815050" cy="743937"/>
            <a:chOff x="0" y="0"/>
            <a:chExt cx="2848408" cy="195934"/>
          </a:xfrm>
        </p:grpSpPr>
        <p:sp>
          <p:nvSpPr>
            <p:cNvPr name="Freeform 4" id="4"/>
            <p:cNvSpPr/>
            <p:nvPr/>
          </p:nvSpPr>
          <p:spPr>
            <a:xfrm flipH="false" flipV="false" rot="0">
              <a:off x="0" y="0"/>
              <a:ext cx="2848408" cy="195934"/>
            </a:xfrm>
            <a:custGeom>
              <a:avLst/>
              <a:gdLst/>
              <a:ahLst/>
              <a:cxnLst/>
              <a:rect r="r" b="b" t="t" l="l"/>
              <a:pathLst>
                <a:path h="195934" w="2848408">
                  <a:moveTo>
                    <a:pt x="36508" y="0"/>
                  </a:moveTo>
                  <a:lnTo>
                    <a:pt x="2811900" y="0"/>
                  </a:lnTo>
                  <a:cubicBezTo>
                    <a:pt x="2821583" y="0"/>
                    <a:pt x="2830869" y="3846"/>
                    <a:pt x="2837715" y="10693"/>
                  </a:cubicBezTo>
                  <a:cubicBezTo>
                    <a:pt x="2844562" y="17540"/>
                    <a:pt x="2848408" y="26826"/>
                    <a:pt x="2848408" y="36508"/>
                  </a:cubicBezTo>
                  <a:lnTo>
                    <a:pt x="2848408" y="159426"/>
                  </a:lnTo>
                  <a:cubicBezTo>
                    <a:pt x="2848408" y="169108"/>
                    <a:pt x="2844562" y="178394"/>
                    <a:pt x="2837715" y="185241"/>
                  </a:cubicBezTo>
                  <a:cubicBezTo>
                    <a:pt x="2830869" y="192088"/>
                    <a:pt x="2821583" y="195934"/>
                    <a:pt x="2811900" y="195934"/>
                  </a:cubicBezTo>
                  <a:lnTo>
                    <a:pt x="36508" y="195934"/>
                  </a:lnTo>
                  <a:cubicBezTo>
                    <a:pt x="26826" y="195934"/>
                    <a:pt x="17540" y="192088"/>
                    <a:pt x="10693" y="185241"/>
                  </a:cubicBezTo>
                  <a:cubicBezTo>
                    <a:pt x="3846" y="178394"/>
                    <a:pt x="0" y="169108"/>
                    <a:pt x="0" y="159426"/>
                  </a:cubicBezTo>
                  <a:lnTo>
                    <a:pt x="0" y="36508"/>
                  </a:lnTo>
                  <a:cubicBezTo>
                    <a:pt x="0" y="26826"/>
                    <a:pt x="3846" y="17540"/>
                    <a:pt x="10693" y="10693"/>
                  </a:cubicBezTo>
                  <a:cubicBezTo>
                    <a:pt x="17540" y="3846"/>
                    <a:pt x="26826" y="0"/>
                    <a:pt x="36508" y="0"/>
                  </a:cubicBezTo>
                  <a:close/>
                </a:path>
              </a:pathLst>
            </a:custGeom>
            <a:solidFill>
              <a:srgbClr val="F1F0EC"/>
            </a:solidFill>
          </p:spPr>
        </p:sp>
        <p:sp>
          <p:nvSpPr>
            <p:cNvPr name="TextBox 5" id="5"/>
            <p:cNvSpPr txBox="true"/>
            <p:nvPr/>
          </p:nvSpPr>
          <p:spPr>
            <a:xfrm>
              <a:off x="0" y="76200"/>
              <a:ext cx="2848408" cy="119734"/>
            </a:xfrm>
            <a:prstGeom prst="rect">
              <a:avLst/>
            </a:prstGeom>
          </p:spPr>
          <p:txBody>
            <a:bodyPr anchor="ctr" rtlCol="false" tIns="50800" lIns="50800" bIns="50800" rIns="50800"/>
            <a:lstStyle/>
            <a:p>
              <a:pPr algn="ctr">
                <a:lnSpc>
                  <a:spcPts val="1848"/>
                </a:lnSpc>
              </a:pPr>
              <a:r>
                <a:rPr lang="en-US" b="true" sz="2400" spc="-12">
                  <a:solidFill>
                    <a:srgbClr val="191919"/>
                  </a:solidFill>
                  <a:latin typeface="Poppins Semi-Bold"/>
                  <a:ea typeface="Poppins Semi-Bold"/>
                  <a:cs typeface="Poppins Semi-Bold"/>
                  <a:sym typeface="Poppins Semi-Bold"/>
                </a:rPr>
                <a:t>Sentimen Publik Terhadap Ferry Irwandi  Dalam Bentuk World Cloud</a:t>
              </a:r>
            </a:p>
          </p:txBody>
        </p:sp>
      </p:grpSp>
      <p:grpSp>
        <p:nvGrpSpPr>
          <p:cNvPr name="Group 6" id="6"/>
          <p:cNvGrpSpPr/>
          <p:nvPr/>
        </p:nvGrpSpPr>
        <p:grpSpPr>
          <a:xfrm rot="0">
            <a:off x="380978" y="6375242"/>
            <a:ext cx="5482717" cy="3454558"/>
            <a:chOff x="0" y="0"/>
            <a:chExt cx="2091688" cy="1317934"/>
          </a:xfrm>
        </p:grpSpPr>
        <p:sp>
          <p:nvSpPr>
            <p:cNvPr name="Freeform 7" id="7"/>
            <p:cNvSpPr/>
            <p:nvPr/>
          </p:nvSpPr>
          <p:spPr>
            <a:xfrm flipH="false" flipV="false" rot="0">
              <a:off x="0" y="0"/>
              <a:ext cx="2091688" cy="1317934"/>
            </a:xfrm>
            <a:custGeom>
              <a:avLst/>
              <a:gdLst/>
              <a:ahLst/>
              <a:cxnLst/>
              <a:rect r="r" b="b" t="t" l="l"/>
              <a:pathLst>
                <a:path h="1317934" w="2091688">
                  <a:moveTo>
                    <a:pt x="21181" y="0"/>
                  </a:moveTo>
                  <a:lnTo>
                    <a:pt x="2070508" y="0"/>
                  </a:lnTo>
                  <a:cubicBezTo>
                    <a:pt x="2076125" y="0"/>
                    <a:pt x="2081512" y="2232"/>
                    <a:pt x="2085485" y="6204"/>
                  </a:cubicBezTo>
                  <a:cubicBezTo>
                    <a:pt x="2089457" y="10176"/>
                    <a:pt x="2091688" y="15563"/>
                    <a:pt x="2091688" y="21181"/>
                  </a:cubicBezTo>
                  <a:lnTo>
                    <a:pt x="2091688" y="1296753"/>
                  </a:lnTo>
                  <a:cubicBezTo>
                    <a:pt x="2091688" y="1302371"/>
                    <a:pt x="2089457" y="1307758"/>
                    <a:pt x="2085485" y="1311730"/>
                  </a:cubicBezTo>
                  <a:cubicBezTo>
                    <a:pt x="2081512" y="1315703"/>
                    <a:pt x="2076125" y="1317934"/>
                    <a:pt x="2070508" y="1317934"/>
                  </a:cubicBezTo>
                  <a:lnTo>
                    <a:pt x="21181" y="1317934"/>
                  </a:lnTo>
                  <a:cubicBezTo>
                    <a:pt x="15563" y="1317934"/>
                    <a:pt x="10176" y="1315703"/>
                    <a:pt x="6204" y="1311730"/>
                  </a:cubicBezTo>
                  <a:cubicBezTo>
                    <a:pt x="2232" y="1307758"/>
                    <a:pt x="0" y="1302371"/>
                    <a:pt x="0" y="1296753"/>
                  </a:cubicBezTo>
                  <a:lnTo>
                    <a:pt x="0" y="21181"/>
                  </a:lnTo>
                  <a:cubicBezTo>
                    <a:pt x="0" y="15563"/>
                    <a:pt x="2232" y="10176"/>
                    <a:pt x="6204" y="6204"/>
                  </a:cubicBezTo>
                  <a:cubicBezTo>
                    <a:pt x="10176" y="2232"/>
                    <a:pt x="15563" y="0"/>
                    <a:pt x="21181" y="0"/>
                  </a:cubicBezTo>
                  <a:close/>
                </a:path>
              </a:pathLst>
            </a:custGeom>
            <a:solidFill>
              <a:srgbClr val="8F1EAE"/>
            </a:solidFill>
          </p:spPr>
        </p:sp>
        <p:sp>
          <p:nvSpPr>
            <p:cNvPr name="TextBox 8" id="8"/>
            <p:cNvSpPr txBox="true"/>
            <p:nvPr/>
          </p:nvSpPr>
          <p:spPr>
            <a:xfrm>
              <a:off x="0" y="76200"/>
              <a:ext cx="2091688" cy="1241734"/>
            </a:xfrm>
            <a:prstGeom prst="rect">
              <a:avLst/>
            </a:prstGeom>
          </p:spPr>
          <p:txBody>
            <a:bodyPr anchor="ctr" rtlCol="false" tIns="50800" lIns="50800" bIns="50800" rIns="50800"/>
            <a:lstStyle/>
            <a:p>
              <a:pPr algn="ctr">
                <a:lnSpc>
                  <a:spcPts val="1925"/>
                </a:lnSpc>
              </a:pPr>
            </a:p>
          </p:txBody>
        </p:sp>
      </p:grpSp>
      <p:grpSp>
        <p:nvGrpSpPr>
          <p:cNvPr name="Group 9" id="9"/>
          <p:cNvGrpSpPr/>
          <p:nvPr/>
        </p:nvGrpSpPr>
        <p:grpSpPr>
          <a:xfrm rot="0">
            <a:off x="12741170" y="2303759"/>
            <a:ext cx="4792303" cy="668124"/>
            <a:chOff x="0" y="0"/>
            <a:chExt cx="1220438" cy="170149"/>
          </a:xfrm>
        </p:grpSpPr>
        <p:sp>
          <p:nvSpPr>
            <p:cNvPr name="Freeform 10" id="10"/>
            <p:cNvSpPr/>
            <p:nvPr/>
          </p:nvSpPr>
          <p:spPr>
            <a:xfrm flipH="false" flipV="false" rot="0">
              <a:off x="0" y="0"/>
              <a:ext cx="1220438" cy="170149"/>
            </a:xfrm>
            <a:custGeom>
              <a:avLst/>
              <a:gdLst/>
              <a:ahLst/>
              <a:cxnLst/>
              <a:rect r="r" b="b" t="t" l="l"/>
              <a:pathLst>
                <a:path h="170149" w="1220438">
                  <a:moveTo>
                    <a:pt x="82390" y="0"/>
                  </a:moveTo>
                  <a:lnTo>
                    <a:pt x="1138048" y="0"/>
                  </a:lnTo>
                  <a:cubicBezTo>
                    <a:pt x="1183551" y="0"/>
                    <a:pt x="1220438" y="36887"/>
                    <a:pt x="1220438" y="82390"/>
                  </a:cubicBezTo>
                  <a:lnTo>
                    <a:pt x="1220438" y="87759"/>
                  </a:lnTo>
                  <a:cubicBezTo>
                    <a:pt x="1220438" y="109610"/>
                    <a:pt x="1211758" y="130566"/>
                    <a:pt x="1196307" y="146017"/>
                  </a:cubicBezTo>
                  <a:cubicBezTo>
                    <a:pt x="1180856" y="161468"/>
                    <a:pt x="1159900" y="170149"/>
                    <a:pt x="1138048" y="170149"/>
                  </a:cubicBezTo>
                  <a:lnTo>
                    <a:pt x="82390" y="170149"/>
                  </a:lnTo>
                  <a:cubicBezTo>
                    <a:pt x="36887" y="170149"/>
                    <a:pt x="0" y="133261"/>
                    <a:pt x="0" y="87759"/>
                  </a:cubicBezTo>
                  <a:lnTo>
                    <a:pt x="0" y="82390"/>
                  </a:lnTo>
                  <a:cubicBezTo>
                    <a:pt x="0" y="36887"/>
                    <a:pt x="36887" y="0"/>
                    <a:pt x="82390" y="0"/>
                  </a:cubicBezTo>
                  <a:close/>
                </a:path>
              </a:pathLst>
            </a:custGeom>
            <a:solidFill>
              <a:srgbClr val="F6F4F1"/>
            </a:solidFill>
          </p:spPr>
        </p:sp>
        <p:sp>
          <p:nvSpPr>
            <p:cNvPr name="TextBox 11" id="11"/>
            <p:cNvSpPr txBox="true"/>
            <p:nvPr/>
          </p:nvSpPr>
          <p:spPr>
            <a:xfrm>
              <a:off x="0" y="76200"/>
              <a:ext cx="1220438"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(Netral)</a:t>
              </a:r>
            </a:p>
          </p:txBody>
        </p:sp>
      </p:grpSp>
      <p:grpSp>
        <p:nvGrpSpPr>
          <p:cNvPr name="Group 12" id="12"/>
          <p:cNvGrpSpPr/>
          <p:nvPr/>
        </p:nvGrpSpPr>
        <p:grpSpPr>
          <a:xfrm rot="0">
            <a:off x="-2612119" y="-273277"/>
            <a:ext cx="7467600" cy="6170451"/>
            <a:chOff x="0" y="0"/>
            <a:chExt cx="9956800" cy="8227268"/>
          </a:xfrm>
        </p:grpSpPr>
        <p:sp>
          <p:nvSpPr>
            <p:cNvPr name="Freeform 13" id="13"/>
            <p:cNvSpPr/>
            <p:nvPr/>
          </p:nvSpPr>
          <p:spPr>
            <a:xfrm flipH="false" flipV="false" rot="0">
              <a:off x="893462"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14" id="14"/>
            <p:cNvSpPr/>
            <p:nvPr/>
          </p:nvSpPr>
          <p:spPr>
            <a:xfrm flipH="false" flipV="false" rot="0">
              <a:off x="3096053" y="772123"/>
              <a:ext cx="4887387" cy="4725465"/>
            </a:xfrm>
            <a:custGeom>
              <a:avLst/>
              <a:gdLst/>
              <a:ahLst/>
              <a:cxnLst/>
              <a:rect r="r" b="b" t="t" l="l"/>
              <a:pathLst>
                <a:path h="4725465" w="4887387">
                  <a:moveTo>
                    <a:pt x="0" y="0"/>
                  </a:moveTo>
                  <a:lnTo>
                    <a:pt x="4887386" y="0"/>
                  </a:lnTo>
                  <a:lnTo>
                    <a:pt x="4887386" y="4725465"/>
                  </a:lnTo>
                  <a:lnTo>
                    <a:pt x="0" y="4725465"/>
                  </a:lnTo>
                  <a:lnTo>
                    <a:pt x="0" y="0"/>
                  </a:lnTo>
                  <a:close/>
                </a:path>
              </a:pathLst>
            </a:custGeom>
            <a:blipFill>
              <a:blip r:embed="rId4"/>
              <a:stretch>
                <a:fillRect l="-53389" t="0" r="-47229" b="-21417"/>
              </a:stretch>
            </a:blipFill>
          </p:spPr>
        </p:sp>
        <p:sp>
          <p:nvSpPr>
            <p:cNvPr name="Freeform 15" id="15"/>
            <p:cNvSpPr/>
            <p:nvPr/>
          </p:nvSpPr>
          <p:spPr>
            <a:xfrm flipH="false" flipV="false" rot="0">
              <a:off x="0" y="30611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203200" y="32643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0" y="3630884"/>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8" id="18"/>
          <p:cNvGrpSpPr/>
          <p:nvPr/>
        </p:nvGrpSpPr>
        <p:grpSpPr>
          <a:xfrm rot="0">
            <a:off x="631097" y="2303759"/>
            <a:ext cx="4947678" cy="668124"/>
            <a:chOff x="0" y="0"/>
            <a:chExt cx="1260007" cy="170149"/>
          </a:xfrm>
        </p:grpSpPr>
        <p:sp>
          <p:nvSpPr>
            <p:cNvPr name="Freeform 19" id="19"/>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20" id="20"/>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(Positif)</a:t>
              </a:r>
            </a:p>
          </p:txBody>
        </p:sp>
      </p:grpSp>
      <p:grpSp>
        <p:nvGrpSpPr>
          <p:cNvPr name="Group 21" id="21"/>
          <p:cNvGrpSpPr/>
          <p:nvPr/>
        </p:nvGrpSpPr>
        <p:grpSpPr>
          <a:xfrm rot="0">
            <a:off x="6606751" y="2303759"/>
            <a:ext cx="4995828" cy="668124"/>
            <a:chOff x="0" y="0"/>
            <a:chExt cx="1272269" cy="170149"/>
          </a:xfrm>
        </p:grpSpPr>
        <p:sp>
          <p:nvSpPr>
            <p:cNvPr name="Freeform 22" id="22"/>
            <p:cNvSpPr/>
            <p:nvPr/>
          </p:nvSpPr>
          <p:spPr>
            <a:xfrm flipH="false" flipV="false" rot="0">
              <a:off x="0" y="0"/>
              <a:ext cx="1272269" cy="170149"/>
            </a:xfrm>
            <a:custGeom>
              <a:avLst/>
              <a:gdLst/>
              <a:ahLst/>
              <a:cxnLst/>
              <a:rect r="r" b="b" t="t" l="l"/>
              <a:pathLst>
                <a:path h="170149" w="1272269">
                  <a:moveTo>
                    <a:pt x="79034" y="0"/>
                  </a:moveTo>
                  <a:lnTo>
                    <a:pt x="1193236" y="0"/>
                  </a:lnTo>
                  <a:cubicBezTo>
                    <a:pt x="1236885" y="0"/>
                    <a:pt x="1272269" y="35385"/>
                    <a:pt x="1272269" y="79034"/>
                  </a:cubicBezTo>
                  <a:lnTo>
                    <a:pt x="1272269" y="91115"/>
                  </a:lnTo>
                  <a:cubicBezTo>
                    <a:pt x="1272269" y="134764"/>
                    <a:pt x="1236885" y="170149"/>
                    <a:pt x="1193236" y="170149"/>
                  </a:cubicBezTo>
                  <a:lnTo>
                    <a:pt x="79034" y="170149"/>
                  </a:lnTo>
                  <a:cubicBezTo>
                    <a:pt x="35385" y="170149"/>
                    <a:pt x="0" y="134764"/>
                    <a:pt x="0" y="91115"/>
                  </a:cubicBezTo>
                  <a:lnTo>
                    <a:pt x="0" y="79034"/>
                  </a:lnTo>
                  <a:cubicBezTo>
                    <a:pt x="0" y="35385"/>
                    <a:pt x="35385" y="0"/>
                    <a:pt x="79034" y="0"/>
                  </a:cubicBezTo>
                  <a:close/>
                </a:path>
              </a:pathLst>
            </a:custGeom>
            <a:solidFill>
              <a:srgbClr val="F6F4F1"/>
            </a:solidFill>
          </p:spPr>
        </p:sp>
        <p:sp>
          <p:nvSpPr>
            <p:cNvPr name="TextBox 23" id="23"/>
            <p:cNvSpPr txBox="true"/>
            <p:nvPr/>
          </p:nvSpPr>
          <p:spPr>
            <a:xfrm>
              <a:off x="0" y="76200"/>
              <a:ext cx="1272269"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(Negatif)</a:t>
              </a:r>
            </a:p>
          </p:txBody>
        </p:sp>
      </p:grpSp>
      <p:grpSp>
        <p:nvGrpSpPr>
          <p:cNvPr name="Group 24" id="24"/>
          <p:cNvGrpSpPr/>
          <p:nvPr/>
        </p:nvGrpSpPr>
        <p:grpSpPr>
          <a:xfrm rot="0">
            <a:off x="6449570" y="6375242"/>
            <a:ext cx="5567805" cy="3454558"/>
            <a:chOff x="0" y="0"/>
            <a:chExt cx="2124150" cy="1317934"/>
          </a:xfrm>
        </p:grpSpPr>
        <p:sp>
          <p:nvSpPr>
            <p:cNvPr name="Freeform 25" id="25"/>
            <p:cNvSpPr/>
            <p:nvPr/>
          </p:nvSpPr>
          <p:spPr>
            <a:xfrm flipH="false" flipV="false" rot="0">
              <a:off x="0" y="0"/>
              <a:ext cx="2124150" cy="1317934"/>
            </a:xfrm>
            <a:custGeom>
              <a:avLst/>
              <a:gdLst/>
              <a:ahLst/>
              <a:cxnLst/>
              <a:rect r="r" b="b" t="t" l="l"/>
              <a:pathLst>
                <a:path h="1317934" w="2124150">
                  <a:moveTo>
                    <a:pt x="20857" y="0"/>
                  </a:moveTo>
                  <a:lnTo>
                    <a:pt x="2103293" y="0"/>
                  </a:lnTo>
                  <a:cubicBezTo>
                    <a:pt x="2114812" y="0"/>
                    <a:pt x="2124150" y="9338"/>
                    <a:pt x="2124150" y="20857"/>
                  </a:cubicBezTo>
                  <a:lnTo>
                    <a:pt x="2124150" y="1297077"/>
                  </a:lnTo>
                  <a:cubicBezTo>
                    <a:pt x="2124150" y="1308596"/>
                    <a:pt x="2114812" y="1317934"/>
                    <a:pt x="2103293" y="1317934"/>
                  </a:cubicBezTo>
                  <a:lnTo>
                    <a:pt x="20857" y="1317934"/>
                  </a:lnTo>
                  <a:cubicBezTo>
                    <a:pt x="9338" y="1317934"/>
                    <a:pt x="0" y="1308596"/>
                    <a:pt x="0" y="1297077"/>
                  </a:cubicBezTo>
                  <a:lnTo>
                    <a:pt x="0" y="20857"/>
                  </a:lnTo>
                  <a:cubicBezTo>
                    <a:pt x="0" y="9338"/>
                    <a:pt x="9338" y="0"/>
                    <a:pt x="20857" y="0"/>
                  </a:cubicBezTo>
                  <a:close/>
                </a:path>
              </a:pathLst>
            </a:custGeom>
            <a:solidFill>
              <a:srgbClr val="8F1EAE"/>
            </a:solidFill>
          </p:spPr>
        </p:sp>
        <p:sp>
          <p:nvSpPr>
            <p:cNvPr name="TextBox 26" id="26"/>
            <p:cNvSpPr txBox="true"/>
            <p:nvPr/>
          </p:nvSpPr>
          <p:spPr>
            <a:xfrm>
              <a:off x="0" y="76200"/>
              <a:ext cx="2124150" cy="1241734"/>
            </a:xfrm>
            <a:prstGeom prst="rect">
              <a:avLst/>
            </a:prstGeom>
          </p:spPr>
          <p:txBody>
            <a:bodyPr anchor="ctr" rtlCol="false" tIns="50800" lIns="50800" bIns="50800" rIns="50800"/>
            <a:lstStyle/>
            <a:p>
              <a:pPr algn="ctr">
                <a:lnSpc>
                  <a:spcPts val="1925"/>
                </a:lnSpc>
              </a:pPr>
            </a:p>
          </p:txBody>
        </p:sp>
      </p:grpSp>
      <p:grpSp>
        <p:nvGrpSpPr>
          <p:cNvPr name="Group 27" id="27"/>
          <p:cNvGrpSpPr/>
          <p:nvPr/>
        </p:nvGrpSpPr>
        <p:grpSpPr>
          <a:xfrm rot="0">
            <a:off x="12626870" y="6375242"/>
            <a:ext cx="5105112" cy="3454558"/>
            <a:chOff x="0" y="0"/>
            <a:chExt cx="1947630" cy="1317934"/>
          </a:xfrm>
        </p:grpSpPr>
        <p:sp>
          <p:nvSpPr>
            <p:cNvPr name="Freeform 28" id="28"/>
            <p:cNvSpPr/>
            <p:nvPr/>
          </p:nvSpPr>
          <p:spPr>
            <a:xfrm flipH="false" flipV="false" rot="0">
              <a:off x="0" y="0"/>
              <a:ext cx="1947630" cy="1317934"/>
            </a:xfrm>
            <a:custGeom>
              <a:avLst/>
              <a:gdLst/>
              <a:ahLst/>
              <a:cxnLst/>
              <a:rect r="r" b="b" t="t" l="l"/>
              <a:pathLst>
                <a:path h="1317934" w="1947630">
                  <a:moveTo>
                    <a:pt x="22748" y="0"/>
                  </a:moveTo>
                  <a:lnTo>
                    <a:pt x="1924882" y="0"/>
                  </a:lnTo>
                  <a:cubicBezTo>
                    <a:pt x="1930915" y="0"/>
                    <a:pt x="1936701" y="2397"/>
                    <a:pt x="1940967" y="6663"/>
                  </a:cubicBezTo>
                  <a:cubicBezTo>
                    <a:pt x="1945233" y="10929"/>
                    <a:pt x="1947630" y="16715"/>
                    <a:pt x="1947630" y="22748"/>
                  </a:cubicBezTo>
                  <a:lnTo>
                    <a:pt x="1947630" y="1295187"/>
                  </a:lnTo>
                  <a:cubicBezTo>
                    <a:pt x="1947630" y="1301220"/>
                    <a:pt x="1945233" y="1307005"/>
                    <a:pt x="1940967" y="1311272"/>
                  </a:cubicBezTo>
                  <a:cubicBezTo>
                    <a:pt x="1936701" y="1315538"/>
                    <a:pt x="1930915" y="1317934"/>
                    <a:pt x="1924882" y="1317934"/>
                  </a:cubicBezTo>
                  <a:lnTo>
                    <a:pt x="22748" y="1317934"/>
                  </a:lnTo>
                  <a:cubicBezTo>
                    <a:pt x="16715" y="1317934"/>
                    <a:pt x="10929" y="1315538"/>
                    <a:pt x="6663" y="1311272"/>
                  </a:cubicBezTo>
                  <a:cubicBezTo>
                    <a:pt x="2397" y="1307005"/>
                    <a:pt x="0" y="1301220"/>
                    <a:pt x="0" y="1295187"/>
                  </a:cubicBezTo>
                  <a:lnTo>
                    <a:pt x="0" y="22748"/>
                  </a:lnTo>
                  <a:cubicBezTo>
                    <a:pt x="0" y="16715"/>
                    <a:pt x="2397" y="10929"/>
                    <a:pt x="6663" y="6663"/>
                  </a:cubicBezTo>
                  <a:cubicBezTo>
                    <a:pt x="10929" y="2397"/>
                    <a:pt x="16715" y="0"/>
                    <a:pt x="22748" y="0"/>
                  </a:cubicBezTo>
                  <a:close/>
                </a:path>
              </a:pathLst>
            </a:custGeom>
            <a:solidFill>
              <a:srgbClr val="8F1EAE"/>
            </a:solidFill>
          </p:spPr>
        </p:sp>
        <p:sp>
          <p:nvSpPr>
            <p:cNvPr name="TextBox 29" id="29"/>
            <p:cNvSpPr txBox="true"/>
            <p:nvPr/>
          </p:nvSpPr>
          <p:spPr>
            <a:xfrm>
              <a:off x="0" y="76200"/>
              <a:ext cx="1947630" cy="1241734"/>
            </a:xfrm>
            <a:prstGeom prst="rect">
              <a:avLst/>
            </a:prstGeom>
          </p:spPr>
          <p:txBody>
            <a:bodyPr anchor="ctr" rtlCol="false" tIns="50800" lIns="50800" bIns="50800" rIns="50800"/>
            <a:lstStyle/>
            <a:p>
              <a:pPr algn="ctr">
                <a:lnSpc>
                  <a:spcPts val="1925"/>
                </a:lnSpc>
              </a:pPr>
            </a:p>
          </p:txBody>
        </p:sp>
      </p:grpSp>
      <p:sp>
        <p:nvSpPr>
          <p:cNvPr name="Freeform 30" id="30"/>
          <p:cNvSpPr/>
          <p:nvPr/>
        </p:nvSpPr>
        <p:spPr>
          <a:xfrm flipH="false" flipV="false" rot="0">
            <a:off x="433245" y="3154129"/>
            <a:ext cx="5378182" cy="2920557"/>
          </a:xfrm>
          <a:custGeom>
            <a:avLst/>
            <a:gdLst/>
            <a:ahLst/>
            <a:cxnLst/>
            <a:rect r="r" b="b" t="t" l="l"/>
            <a:pathLst>
              <a:path h="2920557" w="5378182">
                <a:moveTo>
                  <a:pt x="0" y="0"/>
                </a:moveTo>
                <a:lnTo>
                  <a:pt x="5378183" y="0"/>
                </a:lnTo>
                <a:lnTo>
                  <a:pt x="5378183" y="2920557"/>
                </a:lnTo>
                <a:lnTo>
                  <a:pt x="0" y="2920557"/>
                </a:lnTo>
                <a:lnTo>
                  <a:pt x="0" y="0"/>
                </a:lnTo>
                <a:close/>
              </a:path>
            </a:pathLst>
          </a:custGeom>
          <a:blipFill>
            <a:blip r:embed="rId7"/>
            <a:stretch>
              <a:fillRect l="0" t="0" r="0" b="0"/>
            </a:stretch>
          </a:blipFill>
        </p:spPr>
      </p:sp>
      <p:sp>
        <p:nvSpPr>
          <p:cNvPr name="Freeform 31" id="31"/>
          <p:cNvSpPr/>
          <p:nvPr/>
        </p:nvSpPr>
        <p:spPr>
          <a:xfrm flipH="false" flipV="false" rot="0">
            <a:off x="12413398" y="3086183"/>
            <a:ext cx="5447848" cy="2958388"/>
          </a:xfrm>
          <a:custGeom>
            <a:avLst/>
            <a:gdLst/>
            <a:ahLst/>
            <a:cxnLst/>
            <a:rect r="r" b="b" t="t" l="l"/>
            <a:pathLst>
              <a:path h="2958388" w="5447848">
                <a:moveTo>
                  <a:pt x="0" y="0"/>
                </a:moveTo>
                <a:lnTo>
                  <a:pt x="5447848" y="0"/>
                </a:lnTo>
                <a:lnTo>
                  <a:pt x="5447848" y="2958388"/>
                </a:lnTo>
                <a:lnTo>
                  <a:pt x="0" y="2958388"/>
                </a:lnTo>
                <a:lnTo>
                  <a:pt x="0" y="0"/>
                </a:lnTo>
                <a:close/>
              </a:path>
            </a:pathLst>
          </a:custGeom>
          <a:blipFill>
            <a:blip r:embed="rId8"/>
            <a:stretch>
              <a:fillRect l="0" t="0" r="0" b="0"/>
            </a:stretch>
          </a:blipFill>
        </p:spPr>
      </p:sp>
      <p:sp>
        <p:nvSpPr>
          <p:cNvPr name="Freeform 32" id="32"/>
          <p:cNvSpPr/>
          <p:nvPr/>
        </p:nvSpPr>
        <p:spPr>
          <a:xfrm flipH="false" flipV="false" rot="0">
            <a:off x="6548675" y="3154129"/>
            <a:ext cx="5369595" cy="2915894"/>
          </a:xfrm>
          <a:custGeom>
            <a:avLst/>
            <a:gdLst/>
            <a:ahLst/>
            <a:cxnLst/>
            <a:rect r="r" b="b" t="t" l="l"/>
            <a:pathLst>
              <a:path h="2915894" w="5369595">
                <a:moveTo>
                  <a:pt x="0" y="0"/>
                </a:moveTo>
                <a:lnTo>
                  <a:pt x="5369595" y="0"/>
                </a:lnTo>
                <a:lnTo>
                  <a:pt x="5369595" y="2915894"/>
                </a:lnTo>
                <a:lnTo>
                  <a:pt x="0" y="2915894"/>
                </a:lnTo>
                <a:lnTo>
                  <a:pt x="0" y="0"/>
                </a:lnTo>
                <a:close/>
              </a:path>
            </a:pathLst>
          </a:custGeom>
          <a:blipFill>
            <a:blip r:embed="rId9"/>
            <a:stretch>
              <a:fillRect l="0" t="0" r="0" b="0"/>
            </a:stretch>
          </a:blipFill>
        </p:spPr>
      </p:sp>
      <p:sp>
        <p:nvSpPr>
          <p:cNvPr name="TextBox 33" id="33"/>
          <p:cNvSpPr txBox="true"/>
          <p:nvPr/>
        </p:nvSpPr>
        <p:spPr>
          <a:xfrm rot="0">
            <a:off x="460150" y="6472620"/>
            <a:ext cx="5308622" cy="324345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Frekuensi kata yang sering muncul adalah kata </a:t>
            </a:r>
            <a:r>
              <a:rPr lang="en-US" sz="2054" b="true">
                <a:solidFill>
                  <a:srgbClr val="FFFFFF"/>
                </a:solidFill>
                <a:latin typeface="Montserrat Bold"/>
                <a:ea typeface="Montserrat Bold"/>
                <a:cs typeface="Montserrat Bold"/>
                <a:sym typeface="Montserrat Bold"/>
              </a:rPr>
              <a:t>BANG, BG, SEMOGA</a:t>
            </a:r>
            <a:r>
              <a:rPr lang="en-US" sz="2054">
                <a:solidFill>
                  <a:srgbClr val="FFFFFF"/>
                </a:solidFill>
                <a:latin typeface="Montserrat"/>
                <a:ea typeface="Montserrat"/>
                <a:cs typeface="Montserrat"/>
                <a:sym typeface="Montserrat"/>
              </a:rPr>
              <a:t> yg dapat diartikan sebagai sikap penghormatan publik terhadap aksi yang dilakukan ferry irwandi. kata </a:t>
            </a:r>
            <a:r>
              <a:rPr lang="en-US" sz="2054" b="true">
                <a:solidFill>
                  <a:srgbClr val="FFFFFF"/>
                </a:solidFill>
                <a:latin typeface="Montserrat Bold"/>
                <a:ea typeface="Montserrat Bold"/>
                <a:cs typeface="Montserrat Bold"/>
                <a:sym typeface="Montserrat Bold"/>
              </a:rPr>
              <a:t>ALLAH, ,SEHAT, </a:t>
            </a:r>
            <a:r>
              <a:rPr lang="en-US" sz="2054">
                <a:solidFill>
                  <a:srgbClr val="FFFFFF"/>
                </a:solidFill>
                <a:latin typeface="Montserrat"/>
                <a:ea typeface="Montserrat"/>
                <a:cs typeface="Montserrat"/>
                <a:sym typeface="Montserrat"/>
              </a:rPr>
              <a:t>&amp; </a:t>
            </a:r>
            <a:r>
              <a:rPr lang="en-US" sz="2054" b="true">
                <a:solidFill>
                  <a:srgbClr val="FFFFFF"/>
                </a:solidFill>
                <a:latin typeface="Montserrat Bold"/>
                <a:ea typeface="Montserrat Bold"/>
                <a:cs typeface="Montserrat Bold"/>
                <a:sym typeface="Montserrat Bold"/>
              </a:rPr>
              <a:t>ALHAMDULILLAH</a:t>
            </a:r>
            <a:r>
              <a:rPr lang="en-US" sz="2054">
                <a:solidFill>
                  <a:srgbClr val="FFFFFF"/>
                </a:solidFill>
                <a:latin typeface="Montserrat"/>
                <a:ea typeface="Montserrat"/>
                <a:cs typeface="Montserrat"/>
                <a:sym typeface="Montserrat"/>
              </a:rPr>
              <a:t> mencerminkan doa dan rasa syukur atas solidaritas massal. </a:t>
            </a:r>
          </a:p>
          <a:p>
            <a:pPr algn="just">
              <a:lnSpc>
                <a:spcPts val="2876"/>
              </a:lnSpc>
            </a:pPr>
          </a:p>
        </p:txBody>
      </p:sp>
      <p:sp>
        <p:nvSpPr>
          <p:cNvPr name="TextBox 34" id="34"/>
          <p:cNvSpPr txBox="true"/>
          <p:nvPr/>
        </p:nvSpPr>
        <p:spPr>
          <a:xfrm rot="0">
            <a:off x="6606751" y="6472620"/>
            <a:ext cx="5311518" cy="215760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Kritik tersirat terhadap pemerintah: Beberapa komentar gunakan kata ini untuk sindir </a:t>
            </a:r>
            <a:r>
              <a:rPr lang="en-US" sz="2054" b="true">
                <a:solidFill>
                  <a:srgbClr val="FFFFFF"/>
                </a:solidFill>
                <a:latin typeface="Montserrat Bold"/>
                <a:ea typeface="Montserrat Bold"/>
                <a:cs typeface="Montserrat Bold"/>
                <a:sym typeface="Montserrat Bold"/>
              </a:rPr>
              <a:t>JABAT</a:t>
            </a:r>
            <a:r>
              <a:rPr lang="en-US" sz="2054">
                <a:solidFill>
                  <a:srgbClr val="FFFFFF"/>
                </a:solidFill>
                <a:latin typeface="Montserrat"/>
                <a:ea typeface="Montserrat"/>
                <a:cs typeface="Montserrat"/>
                <a:sym typeface="Montserrat"/>
              </a:rPr>
              <a:t> (pejabat) lambat, atau </a:t>
            </a:r>
            <a:r>
              <a:rPr lang="en-US" sz="2054" b="true">
                <a:solidFill>
                  <a:srgbClr val="FFFFFF"/>
                </a:solidFill>
                <a:latin typeface="Montserrat Bold"/>
                <a:ea typeface="Montserrat Bold"/>
                <a:cs typeface="Montserrat Bold"/>
                <a:sym typeface="Montserrat Bold"/>
              </a:rPr>
              <a:t>BENCANA</a:t>
            </a:r>
            <a:r>
              <a:rPr lang="en-US" sz="2054">
                <a:solidFill>
                  <a:srgbClr val="FFFFFF"/>
                </a:solidFill>
                <a:latin typeface="Montserrat"/>
                <a:ea typeface="Montserrat"/>
                <a:cs typeface="Montserrat"/>
                <a:sym typeface="Montserrat"/>
              </a:rPr>
              <a:t> yang seharusnya ditangani negara.</a:t>
            </a:r>
          </a:p>
          <a:p>
            <a:pPr algn="just">
              <a:lnSpc>
                <a:spcPts val="2876"/>
              </a:lnSpc>
            </a:pPr>
          </a:p>
        </p:txBody>
      </p:sp>
      <p:sp>
        <p:nvSpPr>
          <p:cNvPr name="TextBox 35" id="35"/>
          <p:cNvSpPr txBox="true"/>
          <p:nvPr/>
        </p:nvSpPr>
        <p:spPr>
          <a:xfrm rot="0">
            <a:off x="12750695" y="6472620"/>
            <a:ext cx="4877923" cy="2157605"/>
          </a:xfrm>
          <a:prstGeom prst="rect">
            <a:avLst/>
          </a:prstGeom>
        </p:spPr>
        <p:txBody>
          <a:bodyPr anchor="t" rtlCol="false" tIns="0" lIns="0" bIns="0" rIns="0">
            <a:spAutoFit/>
          </a:bodyPr>
          <a:lstStyle/>
          <a:p>
            <a:pPr algn="just">
              <a:lnSpc>
                <a:spcPts val="2876"/>
              </a:lnSpc>
            </a:pPr>
            <a:r>
              <a:rPr lang="en-US" sz="2054">
                <a:solidFill>
                  <a:srgbClr val="F6F4F1"/>
                </a:solidFill>
                <a:latin typeface="Montserrat"/>
                <a:ea typeface="Montserrat"/>
                <a:cs typeface="Montserrat"/>
                <a:sym typeface="Montserrat"/>
              </a:rPr>
              <a:t>Kata </a:t>
            </a:r>
            <a:r>
              <a:rPr lang="en-US" sz="2054" b="true">
                <a:solidFill>
                  <a:srgbClr val="F6F4F1"/>
                </a:solidFill>
                <a:latin typeface="Montserrat Bold"/>
                <a:ea typeface="Montserrat Bold"/>
                <a:cs typeface="Montserrat Bold"/>
                <a:sym typeface="Montserrat Bold"/>
              </a:rPr>
              <a:t>PEMERINTAH, RAKYAT</a:t>
            </a:r>
            <a:r>
              <a:rPr lang="en-US" sz="2054">
                <a:solidFill>
                  <a:srgbClr val="F6F4F1"/>
                </a:solidFill>
                <a:latin typeface="Montserrat"/>
                <a:ea typeface="Montserrat"/>
                <a:cs typeface="Montserrat"/>
                <a:sym typeface="Montserrat"/>
              </a:rPr>
              <a:t> menanyakan dimana kontribusi negara yang dianggap lambat dan memberikan respon kurang terhadap bencana ini</a:t>
            </a:r>
          </a:p>
          <a:p>
            <a:pPr algn="l">
              <a:lnSpc>
                <a:spcPts val="2876"/>
              </a:lnSpc>
            </a:pPr>
          </a:p>
        </p:txBody>
      </p:sp>
      <p:sp>
        <p:nvSpPr>
          <p:cNvPr name="TextBox 36" id="36"/>
          <p:cNvSpPr txBox="true"/>
          <p:nvPr/>
        </p:nvSpPr>
        <p:spPr>
          <a:xfrm rot="0">
            <a:off x="15982002" y="190143"/>
            <a:ext cx="201463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#01</a:t>
            </a:r>
          </a:p>
        </p:txBody>
      </p:sp>
      <p:sp>
        <p:nvSpPr>
          <p:cNvPr name="TextBox 37" id="37"/>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2612119" y="-273277"/>
            <a:ext cx="7467600" cy="6170451"/>
            <a:chOff x="0" y="0"/>
            <a:chExt cx="9956800" cy="8227268"/>
          </a:xfrm>
        </p:grpSpPr>
        <p:sp>
          <p:nvSpPr>
            <p:cNvPr name="Freeform 4" id="4"/>
            <p:cNvSpPr/>
            <p:nvPr/>
          </p:nvSpPr>
          <p:spPr>
            <a:xfrm flipH="false" flipV="false" rot="0">
              <a:off x="893462"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5" id="5"/>
            <p:cNvSpPr/>
            <p:nvPr/>
          </p:nvSpPr>
          <p:spPr>
            <a:xfrm flipH="false" flipV="false" rot="0">
              <a:off x="3096053" y="772123"/>
              <a:ext cx="4887387" cy="4725465"/>
            </a:xfrm>
            <a:custGeom>
              <a:avLst/>
              <a:gdLst/>
              <a:ahLst/>
              <a:cxnLst/>
              <a:rect r="r" b="b" t="t" l="l"/>
              <a:pathLst>
                <a:path h="4725465" w="4887387">
                  <a:moveTo>
                    <a:pt x="0" y="0"/>
                  </a:moveTo>
                  <a:lnTo>
                    <a:pt x="4887386" y="0"/>
                  </a:lnTo>
                  <a:lnTo>
                    <a:pt x="4887386" y="4725465"/>
                  </a:lnTo>
                  <a:lnTo>
                    <a:pt x="0" y="4725465"/>
                  </a:lnTo>
                  <a:lnTo>
                    <a:pt x="0" y="0"/>
                  </a:lnTo>
                  <a:close/>
                </a:path>
              </a:pathLst>
            </a:custGeom>
            <a:blipFill>
              <a:blip r:embed="rId4"/>
              <a:stretch>
                <a:fillRect l="-53389" t="0" r="-47229" b="-21417"/>
              </a:stretch>
            </a:blipFill>
          </p:spPr>
        </p:sp>
        <p:sp>
          <p:nvSpPr>
            <p:cNvPr name="Freeform 6" id="6"/>
            <p:cNvSpPr/>
            <p:nvPr/>
          </p:nvSpPr>
          <p:spPr>
            <a:xfrm flipH="false" flipV="false" rot="0">
              <a:off x="0" y="30611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03200" y="32643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3630884"/>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9" id="9"/>
          <p:cNvGrpSpPr/>
          <p:nvPr/>
        </p:nvGrpSpPr>
        <p:grpSpPr>
          <a:xfrm rot="0">
            <a:off x="317056" y="3040549"/>
            <a:ext cx="5137510" cy="1334829"/>
            <a:chOff x="0" y="0"/>
            <a:chExt cx="1615256" cy="419676"/>
          </a:xfrm>
        </p:grpSpPr>
        <p:sp>
          <p:nvSpPr>
            <p:cNvPr name="Freeform 10" id="10"/>
            <p:cNvSpPr/>
            <p:nvPr/>
          </p:nvSpPr>
          <p:spPr>
            <a:xfrm flipH="false" flipV="false" rot="0">
              <a:off x="0" y="0"/>
              <a:ext cx="1615256" cy="419676"/>
            </a:xfrm>
            <a:custGeom>
              <a:avLst/>
              <a:gdLst/>
              <a:ahLst/>
              <a:cxnLst/>
              <a:rect r="r" b="b" t="t" l="l"/>
              <a:pathLst>
                <a:path h="419676" w="1615256">
                  <a:moveTo>
                    <a:pt x="0" y="0"/>
                  </a:moveTo>
                  <a:lnTo>
                    <a:pt x="1615256" y="0"/>
                  </a:lnTo>
                  <a:lnTo>
                    <a:pt x="1615256" y="419676"/>
                  </a:lnTo>
                  <a:lnTo>
                    <a:pt x="0" y="419676"/>
                  </a:lnTo>
                  <a:close/>
                </a:path>
              </a:pathLst>
            </a:custGeom>
            <a:solidFill>
              <a:srgbClr val="107FAA"/>
            </a:solidFill>
          </p:spPr>
        </p:sp>
        <p:sp>
          <p:nvSpPr>
            <p:cNvPr name="TextBox 11" id="11"/>
            <p:cNvSpPr txBox="true"/>
            <p:nvPr/>
          </p:nvSpPr>
          <p:spPr>
            <a:xfrm>
              <a:off x="0" y="76200"/>
              <a:ext cx="1615256" cy="343476"/>
            </a:xfrm>
            <a:prstGeom prst="rect">
              <a:avLst/>
            </a:prstGeom>
          </p:spPr>
          <p:txBody>
            <a:bodyPr anchor="ctr" rtlCol="false" tIns="50800" lIns="50800" bIns="50800" rIns="50800"/>
            <a:lstStyle/>
            <a:p>
              <a:pPr algn="ctr">
                <a:lnSpc>
                  <a:spcPts val="1925"/>
                </a:lnSpc>
              </a:pPr>
            </a:p>
          </p:txBody>
        </p:sp>
      </p:grpSp>
      <p:pic>
        <p:nvPicPr>
          <p:cNvPr name="Picture 12" id="12"/>
          <p:cNvPicPr>
            <a:picLocks noChangeAspect="true"/>
          </p:cNvPicPr>
          <p:nvPr/>
        </p:nvPicPr>
        <p:blipFill>
          <a:blip r:embed="rId7"/>
          <a:stretch>
            <a:fillRect/>
          </a:stretch>
        </p:blipFill>
        <p:spPr>
          <a:xfrm rot="0">
            <a:off x="4922219" y="5692639"/>
            <a:ext cx="7602553" cy="5015558"/>
          </a:xfrm>
          <a:prstGeom prst="rect">
            <a:avLst/>
          </a:prstGeom>
        </p:spPr>
      </p:pic>
      <p:pic>
        <p:nvPicPr>
          <p:cNvPr name="Picture 13" id="13"/>
          <p:cNvPicPr>
            <a:picLocks noChangeAspect="true"/>
          </p:cNvPicPr>
          <p:nvPr/>
        </p:nvPicPr>
        <p:blipFill>
          <a:blip r:embed="rId8"/>
          <a:stretch>
            <a:fillRect/>
          </a:stretch>
        </p:blipFill>
        <p:spPr>
          <a:xfrm rot="0">
            <a:off x="-285898" y="3889271"/>
            <a:ext cx="6302771" cy="6747689"/>
          </a:xfrm>
          <a:prstGeom prst="rect">
            <a:avLst/>
          </a:prstGeom>
        </p:spPr>
      </p:pic>
      <p:sp>
        <p:nvSpPr>
          <p:cNvPr name="Freeform 14" id="14"/>
          <p:cNvSpPr/>
          <p:nvPr/>
        </p:nvSpPr>
        <p:spPr>
          <a:xfrm flipH="false" flipV="false" rot="0">
            <a:off x="5555765" y="3049684"/>
            <a:ext cx="6335461" cy="3247926"/>
          </a:xfrm>
          <a:custGeom>
            <a:avLst/>
            <a:gdLst/>
            <a:ahLst/>
            <a:cxnLst/>
            <a:rect r="r" b="b" t="t" l="l"/>
            <a:pathLst>
              <a:path h="3247926" w="6335461">
                <a:moveTo>
                  <a:pt x="0" y="0"/>
                </a:moveTo>
                <a:lnTo>
                  <a:pt x="6335461" y="0"/>
                </a:lnTo>
                <a:lnTo>
                  <a:pt x="6335461" y="3247926"/>
                </a:lnTo>
                <a:lnTo>
                  <a:pt x="0" y="3247926"/>
                </a:lnTo>
                <a:lnTo>
                  <a:pt x="0" y="0"/>
                </a:lnTo>
                <a:close/>
              </a:path>
            </a:pathLst>
          </a:custGeom>
          <a:blipFill>
            <a:blip r:embed="rId9"/>
            <a:stretch>
              <a:fillRect l="0" t="0" r="0" b="0"/>
            </a:stretch>
          </a:blipFill>
        </p:spPr>
      </p:sp>
      <p:sp>
        <p:nvSpPr>
          <p:cNvPr name="TextBox 15" id="15"/>
          <p:cNvSpPr txBox="true"/>
          <p:nvPr/>
        </p:nvSpPr>
        <p:spPr>
          <a:xfrm rot="0">
            <a:off x="1972062" y="552437"/>
            <a:ext cx="10426820" cy="2116637"/>
          </a:xfrm>
          <a:prstGeom prst="rect">
            <a:avLst/>
          </a:prstGeom>
        </p:spPr>
        <p:txBody>
          <a:bodyPr anchor="t" rtlCol="false" tIns="0" lIns="0" bIns="0" rIns="0">
            <a:spAutoFit/>
          </a:bodyPr>
          <a:lstStyle/>
          <a:p>
            <a:pPr algn="l">
              <a:lnSpc>
                <a:spcPts val="8147"/>
              </a:lnSpc>
            </a:pPr>
            <a:r>
              <a:rPr lang="en-US" sz="6678" b="true">
                <a:solidFill>
                  <a:srgbClr val="F6F4F1"/>
                </a:solidFill>
                <a:latin typeface="Poppins Bold"/>
                <a:ea typeface="Poppins Bold"/>
                <a:cs typeface="Poppins Bold"/>
                <a:sym typeface="Poppins Bold"/>
              </a:rPr>
              <a:t>SENTIMEN PUBLIK TERHADAP INFLUENCER</a:t>
            </a:r>
          </a:p>
        </p:txBody>
      </p:sp>
      <p:sp>
        <p:nvSpPr>
          <p:cNvPr name="TextBox 16" id="16"/>
          <p:cNvSpPr txBox="true"/>
          <p:nvPr/>
        </p:nvSpPr>
        <p:spPr>
          <a:xfrm rot="0">
            <a:off x="10051244" y="107950"/>
            <a:ext cx="5545131" cy="1765300"/>
          </a:xfrm>
          <a:prstGeom prst="rect">
            <a:avLst/>
          </a:prstGeom>
        </p:spPr>
        <p:txBody>
          <a:bodyPr anchor="t" rtlCol="false" tIns="0" lIns="0" bIns="0" rIns="0">
            <a:spAutoFit/>
          </a:bodyPr>
          <a:lstStyle/>
          <a:p>
            <a:pPr algn="ctr">
              <a:lnSpc>
                <a:spcPts val="3500"/>
              </a:lnSpc>
              <a:spcBef>
                <a:spcPct val="0"/>
              </a:spcBef>
            </a:pPr>
            <a:r>
              <a:rPr lang="en-US" sz="2500" spc="12">
                <a:solidFill>
                  <a:srgbClr val="F6F4F1"/>
                </a:solidFill>
                <a:latin typeface="Poppins"/>
                <a:ea typeface="Poppins"/>
                <a:cs typeface="Poppins"/>
                <a:sym typeface="Poppins"/>
              </a:rPr>
              <a:t>Fase 2 </a:t>
            </a:r>
            <a:r>
              <a:rPr lang="en-US" sz="2500" spc="12">
                <a:solidFill>
                  <a:srgbClr val="F6F4F1"/>
                </a:solidFill>
                <a:latin typeface="Poppins"/>
                <a:ea typeface="Poppins"/>
                <a:cs typeface="Poppins"/>
                <a:sym typeface="Poppins"/>
              </a:rPr>
              <a:t>(7-8 Des 2025) : </a:t>
            </a:r>
          </a:p>
          <a:p>
            <a:pPr algn="ctr">
              <a:lnSpc>
                <a:spcPts val="3500"/>
              </a:lnSpc>
              <a:spcBef>
                <a:spcPct val="0"/>
              </a:spcBef>
            </a:pPr>
            <a:r>
              <a:rPr lang="en-US" sz="2500" spc="12">
                <a:solidFill>
                  <a:srgbClr val="F6F4F1"/>
                </a:solidFill>
                <a:latin typeface="Poppins"/>
                <a:ea typeface="Poppins"/>
                <a:cs typeface="Poppins"/>
                <a:sym typeface="Poppins"/>
              </a:rPr>
              <a:t>Ferry Irwandi difitnah melanggar etika komunikasi publik</a:t>
            </a:r>
          </a:p>
          <a:p>
            <a:pPr algn="ctr">
              <a:lnSpc>
                <a:spcPts val="3500"/>
              </a:lnSpc>
              <a:spcBef>
                <a:spcPct val="0"/>
              </a:spcBef>
            </a:pPr>
          </a:p>
        </p:txBody>
      </p:sp>
      <p:sp>
        <p:nvSpPr>
          <p:cNvPr name="TextBox 17" id="17"/>
          <p:cNvSpPr txBox="true"/>
          <p:nvPr/>
        </p:nvSpPr>
        <p:spPr>
          <a:xfrm rot="0">
            <a:off x="15780737" y="190143"/>
            <a:ext cx="2238055"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#02</a:t>
            </a:r>
          </a:p>
        </p:txBody>
      </p:sp>
      <p:sp>
        <p:nvSpPr>
          <p:cNvPr name="TextBox 18" id="18"/>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
        <p:nvSpPr>
          <p:cNvPr name="Freeform 19" id="19"/>
          <p:cNvSpPr/>
          <p:nvPr/>
        </p:nvSpPr>
        <p:spPr>
          <a:xfrm flipH="false" flipV="false" rot="0">
            <a:off x="753594" y="3386409"/>
            <a:ext cx="370356" cy="347461"/>
          </a:xfrm>
          <a:custGeom>
            <a:avLst/>
            <a:gdLst/>
            <a:ahLst/>
            <a:cxnLst/>
            <a:rect r="r" b="b" t="t" l="l"/>
            <a:pathLst>
              <a:path h="347461" w="370356">
                <a:moveTo>
                  <a:pt x="0" y="0"/>
                </a:moveTo>
                <a:lnTo>
                  <a:pt x="370356" y="0"/>
                </a:lnTo>
                <a:lnTo>
                  <a:pt x="370356" y="347461"/>
                </a:lnTo>
                <a:lnTo>
                  <a:pt x="0" y="34746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697291" y="3775284"/>
            <a:ext cx="624718"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News</a:t>
            </a:r>
          </a:p>
        </p:txBody>
      </p:sp>
      <p:sp>
        <p:nvSpPr>
          <p:cNvPr name="Freeform 21" id="21"/>
          <p:cNvSpPr/>
          <p:nvPr/>
        </p:nvSpPr>
        <p:spPr>
          <a:xfrm flipH="false" flipV="false" rot="0">
            <a:off x="3152311" y="3671636"/>
            <a:ext cx="573826" cy="207295"/>
          </a:xfrm>
          <a:custGeom>
            <a:avLst/>
            <a:gdLst/>
            <a:ahLst/>
            <a:cxnLst/>
            <a:rect r="r" b="b" t="t" l="l"/>
            <a:pathLst>
              <a:path h="207295" w="573826">
                <a:moveTo>
                  <a:pt x="0" y="0"/>
                </a:moveTo>
                <a:lnTo>
                  <a:pt x="573827" y="0"/>
                </a:lnTo>
                <a:lnTo>
                  <a:pt x="573827" y="207295"/>
                </a:lnTo>
                <a:lnTo>
                  <a:pt x="0" y="207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2" id="22"/>
          <p:cNvSpPr txBox="true"/>
          <p:nvPr/>
        </p:nvSpPr>
        <p:spPr>
          <a:xfrm rot="0">
            <a:off x="2320727" y="3559151"/>
            <a:ext cx="436853"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81</a:t>
            </a:r>
          </a:p>
        </p:txBody>
      </p:sp>
      <p:sp>
        <p:nvSpPr>
          <p:cNvPr name="TextBox 23" id="23"/>
          <p:cNvSpPr txBox="true"/>
          <p:nvPr/>
        </p:nvSpPr>
        <p:spPr>
          <a:xfrm rot="0">
            <a:off x="4173441" y="3559151"/>
            <a:ext cx="465060"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43</a:t>
            </a:r>
          </a:p>
        </p:txBody>
      </p:sp>
      <p:sp>
        <p:nvSpPr>
          <p:cNvPr name="TextBox 24" id="24"/>
          <p:cNvSpPr txBox="true"/>
          <p:nvPr/>
        </p:nvSpPr>
        <p:spPr>
          <a:xfrm rot="0">
            <a:off x="1972062" y="3300684"/>
            <a:ext cx="1153234"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Awal</a:t>
            </a:r>
          </a:p>
        </p:txBody>
      </p:sp>
      <p:sp>
        <p:nvSpPr>
          <p:cNvPr name="TextBox 25" id="25"/>
          <p:cNvSpPr txBox="true"/>
          <p:nvPr/>
        </p:nvSpPr>
        <p:spPr>
          <a:xfrm rot="0">
            <a:off x="3818733" y="3278926"/>
            <a:ext cx="1193525"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Akhir</a:t>
            </a:r>
          </a:p>
        </p:txBody>
      </p:sp>
      <p:grpSp>
        <p:nvGrpSpPr>
          <p:cNvPr name="Group 26" id="26"/>
          <p:cNvGrpSpPr/>
          <p:nvPr/>
        </p:nvGrpSpPr>
        <p:grpSpPr>
          <a:xfrm rot="0">
            <a:off x="12049737" y="3040549"/>
            <a:ext cx="5997629" cy="7034103"/>
            <a:chOff x="0" y="0"/>
            <a:chExt cx="2288130" cy="2683551"/>
          </a:xfrm>
        </p:grpSpPr>
        <p:sp>
          <p:nvSpPr>
            <p:cNvPr name="Freeform 27" id="27"/>
            <p:cNvSpPr/>
            <p:nvPr/>
          </p:nvSpPr>
          <p:spPr>
            <a:xfrm flipH="false" flipV="false" rot="0">
              <a:off x="0" y="0"/>
              <a:ext cx="2288130" cy="2683551"/>
            </a:xfrm>
            <a:custGeom>
              <a:avLst/>
              <a:gdLst/>
              <a:ahLst/>
              <a:cxnLst/>
              <a:rect r="r" b="b" t="t" l="l"/>
              <a:pathLst>
                <a:path h="2683551" w="2288130">
                  <a:moveTo>
                    <a:pt x="19362" y="0"/>
                  </a:moveTo>
                  <a:lnTo>
                    <a:pt x="2268768" y="0"/>
                  </a:lnTo>
                  <a:cubicBezTo>
                    <a:pt x="2273903" y="0"/>
                    <a:pt x="2278828" y="2040"/>
                    <a:pt x="2282459" y="5671"/>
                  </a:cubicBezTo>
                  <a:cubicBezTo>
                    <a:pt x="2286090" y="9302"/>
                    <a:pt x="2288130" y="14227"/>
                    <a:pt x="2288130" y="19362"/>
                  </a:cubicBezTo>
                  <a:lnTo>
                    <a:pt x="2288130" y="2664189"/>
                  </a:lnTo>
                  <a:cubicBezTo>
                    <a:pt x="2288130" y="2669324"/>
                    <a:pt x="2286090" y="2674249"/>
                    <a:pt x="2282459" y="2677880"/>
                  </a:cubicBezTo>
                  <a:cubicBezTo>
                    <a:pt x="2278828" y="2681511"/>
                    <a:pt x="2273903" y="2683551"/>
                    <a:pt x="2268768" y="2683551"/>
                  </a:cubicBezTo>
                  <a:lnTo>
                    <a:pt x="19362" y="2683551"/>
                  </a:lnTo>
                  <a:cubicBezTo>
                    <a:pt x="8669" y="2683551"/>
                    <a:pt x="0" y="2674882"/>
                    <a:pt x="0" y="2664189"/>
                  </a:cubicBezTo>
                  <a:lnTo>
                    <a:pt x="0" y="19362"/>
                  </a:lnTo>
                  <a:cubicBezTo>
                    <a:pt x="0" y="8669"/>
                    <a:pt x="8669" y="0"/>
                    <a:pt x="19362" y="0"/>
                  </a:cubicBezTo>
                  <a:close/>
                </a:path>
              </a:pathLst>
            </a:custGeom>
            <a:solidFill>
              <a:srgbClr val="8F1EAE"/>
            </a:solidFill>
          </p:spPr>
        </p:sp>
        <p:sp>
          <p:nvSpPr>
            <p:cNvPr name="TextBox 28" id="28"/>
            <p:cNvSpPr txBox="true"/>
            <p:nvPr/>
          </p:nvSpPr>
          <p:spPr>
            <a:xfrm>
              <a:off x="0" y="76200"/>
              <a:ext cx="2288130" cy="2607351"/>
            </a:xfrm>
            <a:prstGeom prst="rect">
              <a:avLst/>
            </a:prstGeom>
          </p:spPr>
          <p:txBody>
            <a:bodyPr anchor="ctr" rtlCol="false" tIns="50800" lIns="50800" bIns="50800" rIns="50800"/>
            <a:lstStyle/>
            <a:p>
              <a:pPr algn="ctr">
                <a:lnSpc>
                  <a:spcPts val="1925"/>
                </a:lnSpc>
              </a:pPr>
            </a:p>
          </p:txBody>
        </p:sp>
      </p:grpSp>
      <p:sp>
        <p:nvSpPr>
          <p:cNvPr name="TextBox 29" id="29"/>
          <p:cNvSpPr txBox="true"/>
          <p:nvPr/>
        </p:nvSpPr>
        <p:spPr>
          <a:xfrm rot="0">
            <a:off x="12091251" y="3206617"/>
            <a:ext cx="5697171" cy="6323965"/>
          </a:xfrm>
          <a:prstGeom prst="rect">
            <a:avLst/>
          </a:prstGeom>
        </p:spPr>
        <p:txBody>
          <a:bodyPr anchor="t" rtlCol="false" tIns="0" lIns="0" bIns="0" rIns="0">
            <a:spAutoFit/>
          </a:bodyPr>
          <a:lstStyle/>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Data ini saya ambil dari judul berita yang berkembang pada tanggal 7 Des - 8 Des di google searching dengan fokus kata kunci ‘narasi’, ‘etik’, ‘sesali’, ‘ferry’ dan ‘pelecehan’</a:t>
            </a:r>
          </a:p>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Frekuensi narasi kata judul yang muncul paling banyak adalah kata </a:t>
            </a:r>
            <a:r>
              <a:rPr lang="en-US" b="true" sz="1899">
                <a:solidFill>
                  <a:srgbClr val="FFFFFF"/>
                </a:solidFill>
                <a:latin typeface="Montserrat Bold"/>
                <a:ea typeface="Montserrat Bold"/>
                <a:cs typeface="Montserrat Bold"/>
                <a:sym typeface="Montserrat Bold"/>
              </a:rPr>
              <a:t>FERRY</a:t>
            </a:r>
            <a:r>
              <a:rPr lang="en-US" sz="1899">
                <a:solidFill>
                  <a:srgbClr val="FFFFFF"/>
                </a:solidFill>
                <a:latin typeface="Montserrat"/>
                <a:ea typeface="Montserrat"/>
                <a:cs typeface="Montserrat"/>
                <a:sym typeface="Montserrat"/>
              </a:rPr>
              <a:t> dan </a:t>
            </a:r>
            <a:r>
              <a:rPr lang="en-US" b="true" sz="1899">
                <a:solidFill>
                  <a:srgbClr val="FFFFFF"/>
                </a:solidFill>
                <a:latin typeface="Montserrat Bold"/>
                <a:ea typeface="Montserrat Bold"/>
                <a:cs typeface="Montserrat Bold"/>
                <a:sym typeface="Montserrat Bold"/>
              </a:rPr>
              <a:t>IRWANDI </a:t>
            </a:r>
            <a:r>
              <a:rPr lang="en-US" sz="1899">
                <a:solidFill>
                  <a:srgbClr val="FFFFFF"/>
                </a:solidFill>
                <a:latin typeface="Montserrat"/>
                <a:ea typeface="Montserrat"/>
                <a:cs typeface="Montserrat"/>
                <a:sym typeface="Montserrat"/>
              </a:rPr>
              <a:t>yang menunjukan bahwa narasi yang dibuat bertujuan untuk menyudutkan influencer ferry irwandi. kata </a:t>
            </a:r>
            <a:r>
              <a:rPr lang="en-US" b="true" sz="1899">
                <a:solidFill>
                  <a:srgbClr val="FFFFFF"/>
                </a:solidFill>
                <a:latin typeface="Montserrat Bold"/>
                <a:ea typeface="Montserrat Bold"/>
                <a:cs typeface="Montserrat Bold"/>
                <a:sym typeface="Montserrat Bold"/>
              </a:rPr>
              <a:t>ETIKA, KONTEN, NARASI </a:t>
            </a:r>
            <a:r>
              <a:rPr lang="en-US" sz="1899">
                <a:solidFill>
                  <a:srgbClr val="FFFFFF"/>
                </a:solidFill>
                <a:latin typeface="Montserrat"/>
                <a:ea typeface="Montserrat"/>
                <a:cs typeface="Montserrat"/>
                <a:sym typeface="Montserrat"/>
              </a:rPr>
              <a:t> banyak dinarasikan dalam judul berita yang seolah-olah ferry irwandi telah melakukan agenda tertentu yang dianggap melanggar nilai etik.</a:t>
            </a:r>
          </a:p>
          <a:p>
            <a:pPr algn="just" marL="410209" indent="-205105" lvl="1">
              <a:lnSpc>
                <a:spcPts val="2659"/>
              </a:lnSpc>
              <a:buFont typeface="Arial"/>
              <a:buChar char="•"/>
            </a:pPr>
            <a:r>
              <a:rPr lang="en-US" sz="1899">
                <a:solidFill>
                  <a:srgbClr val="FFFFFF"/>
                </a:solidFill>
                <a:latin typeface="Montserrat"/>
                <a:ea typeface="Montserrat"/>
                <a:cs typeface="Montserrat"/>
                <a:sym typeface="Montserrat"/>
              </a:rPr>
              <a:t>Diketahui sumber yang membuat berita adalah sumber yang tidak terpercaya kredibilitasnya. dan tidak ada satupun yang masuk dalam media indonesia dengan web reputasi terpercaya.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TextBox 3" id="3"/>
          <p:cNvSpPr txBox="true"/>
          <p:nvPr/>
        </p:nvSpPr>
        <p:spPr>
          <a:xfrm rot="0">
            <a:off x="3182422" y="692325"/>
            <a:ext cx="12187700" cy="1438682"/>
          </a:xfrm>
          <a:prstGeom prst="rect">
            <a:avLst/>
          </a:prstGeom>
        </p:spPr>
        <p:txBody>
          <a:bodyPr anchor="t" rtlCol="false" tIns="0" lIns="0" bIns="0" rIns="0">
            <a:spAutoFit/>
          </a:bodyPr>
          <a:lstStyle/>
          <a:p>
            <a:pPr algn="ctr">
              <a:lnSpc>
                <a:spcPts val="5577"/>
              </a:lnSpc>
            </a:pPr>
            <a:r>
              <a:rPr lang="en-US" b="true" sz="4498" spc="26">
                <a:solidFill>
                  <a:srgbClr val="F1F0EC"/>
                </a:solidFill>
                <a:latin typeface="Poppins Bold"/>
                <a:ea typeface="Poppins Bold"/>
                <a:cs typeface="Poppins Bold"/>
                <a:sym typeface="Poppins Bold"/>
              </a:rPr>
              <a:t>APAKAH KONTEN FERRY IRWANDI BENAR MELANGGAR KODE ETIKA?</a:t>
            </a:r>
          </a:p>
        </p:txBody>
      </p:sp>
      <p:sp>
        <p:nvSpPr>
          <p:cNvPr name="TextBox 4" id="4"/>
          <p:cNvSpPr txBox="true"/>
          <p:nvPr/>
        </p:nvSpPr>
        <p:spPr>
          <a:xfrm rot="0">
            <a:off x="15780737" y="190143"/>
            <a:ext cx="2238055"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#02</a:t>
            </a:r>
          </a:p>
        </p:txBody>
      </p:sp>
      <p:sp>
        <p:nvSpPr>
          <p:cNvPr name="TextBox 5" id="5"/>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grpSp>
        <p:nvGrpSpPr>
          <p:cNvPr name="Group 6" id="6"/>
          <p:cNvGrpSpPr/>
          <p:nvPr/>
        </p:nvGrpSpPr>
        <p:grpSpPr>
          <a:xfrm rot="0">
            <a:off x="-2612119" y="-273277"/>
            <a:ext cx="7467600" cy="6170451"/>
            <a:chOff x="0" y="0"/>
            <a:chExt cx="9956800" cy="8227268"/>
          </a:xfrm>
        </p:grpSpPr>
        <p:sp>
          <p:nvSpPr>
            <p:cNvPr name="Freeform 7" id="7"/>
            <p:cNvSpPr/>
            <p:nvPr/>
          </p:nvSpPr>
          <p:spPr>
            <a:xfrm flipH="false" flipV="false" rot="0">
              <a:off x="893462"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8" id="8"/>
            <p:cNvSpPr/>
            <p:nvPr/>
          </p:nvSpPr>
          <p:spPr>
            <a:xfrm flipH="false" flipV="false" rot="0">
              <a:off x="3096053" y="772123"/>
              <a:ext cx="4887387" cy="4725465"/>
            </a:xfrm>
            <a:custGeom>
              <a:avLst/>
              <a:gdLst/>
              <a:ahLst/>
              <a:cxnLst/>
              <a:rect r="r" b="b" t="t" l="l"/>
              <a:pathLst>
                <a:path h="4725465" w="4887387">
                  <a:moveTo>
                    <a:pt x="0" y="0"/>
                  </a:moveTo>
                  <a:lnTo>
                    <a:pt x="4887386" y="0"/>
                  </a:lnTo>
                  <a:lnTo>
                    <a:pt x="4887386" y="4725465"/>
                  </a:lnTo>
                  <a:lnTo>
                    <a:pt x="0" y="4725465"/>
                  </a:lnTo>
                  <a:lnTo>
                    <a:pt x="0" y="0"/>
                  </a:lnTo>
                  <a:close/>
                </a:path>
              </a:pathLst>
            </a:custGeom>
            <a:blipFill>
              <a:blip r:embed="rId4"/>
              <a:stretch>
                <a:fillRect l="-53389" t="0" r="-47229" b="-21417"/>
              </a:stretch>
            </a:blipFill>
          </p:spPr>
        </p:sp>
        <p:sp>
          <p:nvSpPr>
            <p:cNvPr name="Freeform 9" id="9"/>
            <p:cNvSpPr/>
            <p:nvPr/>
          </p:nvSpPr>
          <p:spPr>
            <a:xfrm flipH="false" flipV="false" rot="0">
              <a:off x="0" y="30611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203200" y="32643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0" y="3630884"/>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2" id="12"/>
          <p:cNvGrpSpPr/>
          <p:nvPr/>
        </p:nvGrpSpPr>
        <p:grpSpPr>
          <a:xfrm rot="0">
            <a:off x="708583" y="2878624"/>
            <a:ext cx="4947678" cy="668124"/>
            <a:chOff x="0" y="0"/>
            <a:chExt cx="1260007" cy="170149"/>
          </a:xfrm>
        </p:grpSpPr>
        <p:sp>
          <p:nvSpPr>
            <p:cNvPr name="Freeform 13" id="13"/>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14" id="14"/>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Bantahan Ferry Irwandi</a:t>
              </a:r>
            </a:p>
          </p:txBody>
        </p:sp>
      </p:grpSp>
      <p:sp>
        <p:nvSpPr>
          <p:cNvPr name="TextBox 15" id="15"/>
          <p:cNvSpPr txBox="true"/>
          <p:nvPr/>
        </p:nvSpPr>
        <p:spPr>
          <a:xfrm rot="0">
            <a:off x="708583" y="6809116"/>
            <a:ext cx="16635219" cy="2268770"/>
          </a:xfrm>
          <a:prstGeom prst="rect">
            <a:avLst/>
          </a:prstGeom>
        </p:spPr>
        <p:txBody>
          <a:bodyPr anchor="t" rtlCol="false" tIns="0" lIns="0" bIns="0" rIns="0">
            <a:spAutoFit/>
          </a:bodyPr>
          <a:lstStyle/>
          <a:p>
            <a:pPr algn="just">
              <a:lnSpc>
                <a:spcPts val="3049"/>
              </a:lnSpc>
              <a:spcBef>
                <a:spcPct val="0"/>
              </a:spcBef>
            </a:pPr>
            <a:r>
              <a:rPr lang="en-US" sz="2178">
                <a:solidFill>
                  <a:srgbClr val="FFFFFF"/>
                </a:solidFill>
                <a:latin typeface="Canva Sans"/>
                <a:ea typeface="Canva Sans"/>
                <a:cs typeface="Canva Sans"/>
                <a:sym typeface="Canva Sans"/>
              </a:rPr>
              <a:t>Dalam unggahan instagram ferry irwandi </a:t>
            </a:r>
            <a:r>
              <a:rPr lang="en-US" sz="2178">
                <a:solidFill>
                  <a:srgbClr val="FFFFFF"/>
                </a:solidFill>
                <a:latin typeface="Canva Sans"/>
                <a:ea typeface="Canva Sans"/>
                <a:cs typeface="Canva Sans"/>
                <a:sym typeface="Canva Sans"/>
              </a:rPr>
              <a:t>meluruskan dua poin utama:</a:t>
            </a:r>
          </a:p>
          <a:p>
            <a:pPr algn="just" marL="470301" indent="-235151" lvl="1">
              <a:lnSpc>
                <a:spcPts val="3049"/>
              </a:lnSpc>
              <a:spcBef>
                <a:spcPct val="0"/>
              </a:spcBef>
              <a:buFont typeface="Arial"/>
              <a:buChar char="•"/>
            </a:pPr>
            <a:r>
              <a:rPr lang="en-US" sz="2178">
                <a:solidFill>
                  <a:srgbClr val="FFFFFF"/>
                </a:solidFill>
                <a:latin typeface="Canva Sans"/>
                <a:ea typeface="Canva Sans"/>
                <a:cs typeface="Canva Sans"/>
                <a:sym typeface="Canva Sans"/>
              </a:rPr>
              <a:t>Tidak Menuduh Pemerintah: Ferry menegaskan tidak pernah mengatakan bahwa pemerintah tutup mata terhadap bencana ini.</a:t>
            </a:r>
          </a:p>
          <a:p>
            <a:pPr algn="just" marL="470301" indent="-235151" lvl="1">
              <a:lnSpc>
                <a:spcPts val="3049"/>
              </a:lnSpc>
              <a:spcBef>
                <a:spcPct val="0"/>
              </a:spcBef>
              <a:buFont typeface="Arial"/>
              <a:buChar char="•"/>
            </a:pPr>
            <a:r>
              <a:rPr lang="en-US" sz="2178">
                <a:solidFill>
                  <a:srgbClr val="FFFFFF"/>
                </a:solidFill>
                <a:latin typeface="Canva Sans"/>
                <a:ea typeface="Canva Sans"/>
                <a:cs typeface="Canva Sans"/>
                <a:sym typeface="Canva Sans"/>
              </a:rPr>
              <a:t>Asal Muasal Isu: Isu sensitif tersebut (pelecehan/kasus horor) bukan berasal dari konten khusus yang ia buat. Hal itu muncul spontan dalam sesi live streaming penggalangan dana seminggu lalu, bersumber dari penelepon yang menceritakan situasi lapangan.</a:t>
            </a:r>
          </a:p>
        </p:txBody>
      </p:sp>
      <p:sp>
        <p:nvSpPr>
          <p:cNvPr name="TextBox 16" id="16"/>
          <p:cNvSpPr txBox="true"/>
          <p:nvPr/>
        </p:nvSpPr>
        <p:spPr>
          <a:xfrm rot="0">
            <a:off x="622460" y="3689622"/>
            <a:ext cx="16635219" cy="1887770"/>
          </a:xfrm>
          <a:prstGeom prst="rect">
            <a:avLst/>
          </a:prstGeom>
        </p:spPr>
        <p:txBody>
          <a:bodyPr anchor="t" rtlCol="false" tIns="0" lIns="0" bIns="0" rIns="0">
            <a:spAutoFit/>
          </a:bodyPr>
          <a:lstStyle/>
          <a:p>
            <a:pPr algn="just">
              <a:lnSpc>
                <a:spcPts val="3049"/>
              </a:lnSpc>
              <a:spcBef>
                <a:spcPct val="0"/>
              </a:spcBef>
            </a:pPr>
            <a:r>
              <a:rPr lang="en-US" sz="2178">
                <a:solidFill>
                  <a:srgbClr val="FFFFFF"/>
                </a:solidFill>
                <a:latin typeface="Canva Sans"/>
                <a:ea typeface="Canva Sans"/>
                <a:cs typeface="Canva Sans"/>
                <a:sym typeface="Canva Sans"/>
              </a:rPr>
              <a:t>Framming berita menegaskan pendapat Pakar Komunikasi politik dari </a:t>
            </a:r>
            <a:r>
              <a:rPr lang="en-US" sz="2178" u="sng">
                <a:solidFill>
                  <a:srgbClr val="FFFFFF"/>
                </a:solidFill>
                <a:latin typeface="Canva Sans"/>
                <a:ea typeface="Canva Sans"/>
                <a:cs typeface="Canva Sans"/>
                <a:sym typeface="Canva Sans"/>
                <a:hlinkClick r:id="rId7" tooltip="https://www.jpnn.com/tag/universitas-esa-unggul"/>
              </a:rPr>
              <a:t>Universitas Esa Unggul</a:t>
            </a:r>
            <a:r>
              <a:rPr lang="en-US" sz="2178">
                <a:solidFill>
                  <a:srgbClr val="FFFFFF"/>
                </a:solidFill>
                <a:latin typeface="Canva Sans"/>
                <a:ea typeface="Canva Sans"/>
                <a:cs typeface="Canva Sans"/>
                <a:sym typeface="Canva Sans"/>
              </a:rPr>
              <a:t> Indonesia Syurya Muhammad Nurbah bahwa ferry irwandi menyebarkan propaganda pelecehan seksual di lokasi bencana alam di Sumatra. Hal ini dinilai sebagai pelanggaran etika komunikasi publik. Karena dalam situasi darurat bencana, ruang publik seharusnya diisi oleh pesan empati, edukasi, dan penguatan solidaritas, bukan eksploitasi isu sensitif untuk kepentingan konten. Dia juga mengkritik cara Ferry membingkai gerakan donasi yang seolah-olah menempatkan negara dalam posisi tidak hadir.</a:t>
            </a:r>
          </a:p>
        </p:txBody>
      </p:sp>
      <p:grpSp>
        <p:nvGrpSpPr>
          <p:cNvPr name="Group 17" id="17"/>
          <p:cNvGrpSpPr/>
          <p:nvPr/>
        </p:nvGrpSpPr>
        <p:grpSpPr>
          <a:xfrm rot="0">
            <a:off x="708583" y="5982899"/>
            <a:ext cx="4947678" cy="668124"/>
            <a:chOff x="0" y="0"/>
            <a:chExt cx="1260007" cy="170149"/>
          </a:xfrm>
        </p:grpSpPr>
        <p:sp>
          <p:nvSpPr>
            <p:cNvPr name="Freeform 18" id="18"/>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19" id="19"/>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Bantahan Ferry Irwandi</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2612119" y="-273277"/>
            <a:ext cx="7467600" cy="6170451"/>
            <a:chOff x="0" y="0"/>
            <a:chExt cx="9956800" cy="8227268"/>
          </a:xfrm>
        </p:grpSpPr>
        <p:sp>
          <p:nvSpPr>
            <p:cNvPr name="Freeform 4" id="4"/>
            <p:cNvSpPr/>
            <p:nvPr/>
          </p:nvSpPr>
          <p:spPr>
            <a:xfrm flipH="false" flipV="false" rot="0">
              <a:off x="893462"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5" id="5"/>
            <p:cNvSpPr/>
            <p:nvPr/>
          </p:nvSpPr>
          <p:spPr>
            <a:xfrm flipH="false" flipV="false" rot="0">
              <a:off x="3096053" y="772123"/>
              <a:ext cx="4887387" cy="4725465"/>
            </a:xfrm>
            <a:custGeom>
              <a:avLst/>
              <a:gdLst/>
              <a:ahLst/>
              <a:cxnLst/>
              <a:rect r="r" b="b" t="t" l="l"/>
              <a:pathLst>
                <a:path h="4725465" w="4887387">
                  <a:moveTo>
                    <a:pt x="0" y="0"/>
                  </a:moveTo>
                  <a:lnTo>
                    <a:pt x="4887386" y="0"/>
                  </a:lnTo>
                  <a:lnTo>
                    <a:pt x="4887386" y="4725465"/>
                  </a:lnTo>
                  <a:lnTo>
                    <a:pt x="0" y="4725465"/>
                  </a:lnTo>
                  <a:lnTo>
                    <a:pt x="0" y="0"/>
                  </a:lnTo>
                  <a:close/>
                </a:path>
              </a:pathLst>
            </a:custGeom>
            <a:blipFill>
              <a:blip r:embed="rId4"/>
              <a:stretch>
                <a:fillRect l="-53389" t="0" r="-47229" b="-21417"/>
              </a:stretch>
            </a:blipFill>
          </p:spPr>
        </p:sp>
        <p:sp>
          <p:nvSpPr>
            <p:cNvPr name="Freeform 6" id="6"/>
            <p:cNvSpPr/>
            <p:nvPr/>
          </p:nvSpPr>
          <p:spPr>
            <a:xfrm flipH="false" flipV="false" rot="0">
              <a:off x="0" y="30611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03200" y="32643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3630884"/>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9" id="9"/>
          <p:cNvGrpSpPr/>
          <p:nvPr/>
        </p:nvGrpSpPr>
        <p:grpSpPr>
          <a:xfrm rot="0">
            <a:off x="317056" y="3040549"/>
            <a:ext cx="5137510" cy="1334829"/>
            <a:chOff x="0" y="0"/>
            <a:chExt cx="1615256" cy="419676"/>
          </a:xfrm>
        </p:grpSpPr>
        <p:sp>
          <p:nvSpPr>
            <p:cNvPr name="Freeform 10" id="10"/>
            <p:cNvSpPr/>
            <p:nvPr/>
          </p:nvSpPr>
          <p:spPr>
            <a:xfrm flipH="false" flipV="false" rot="0">
              <a:off x="0" y="0"/>
              <a:ext cx="1615256" cy="419676"/>
            </a:xfrm>
            <a:custGeom>
              <a:avLst/>
              <a:gdLst/>
              <a:ahLst/>
              <a:cxnLst/>
              <a:rect r="r" b="b" t="t" l="l"/>
              <a:pathLst>
                <a:path h="419676" w="1615256">
                  <a:moveTo>
                    <a:pt x="0" y="0"/>
                  </a:moveTo>
                  <a:lnTo>
                    <a:pt x="1615256" y="0"/>
                  </a:lnTo>
                  <a:lnTo>
                    <a:pt x="1615256" y="419676"/>
                  </a:lnTo>
                  <a:lnTo>
                    <a:pt x="0" y="419676"/>
                  </a:lnTo>
                  <a:close/>
                </a:path>
              </a:pathLst>
            </a:custGeom>
            <a:solidFill>
              <a:srgbClr val="107FAA"/>
            </a:solidFill>
          </p:spPr>
        </p:sp>
        <p:sp>
          <p:nvSpPr>
            <p:cNvPr name="TextBox 11" id="11"/>
            <p:cNvSpPr txBox="true"/>
            <p:nvPr/>
          </p:nvSpPr>
          <p:spPr>
            <a:xfrm>
              <a:off x="0" y="76200"/>
              <a:ext cx="1615256" cy="343476"/>
            </a:xfrm>
            <a:prstGeom prst="rect">
              <a:avLst/>
            </a:prstGeom>
          </p:spPr>
          <p:txBody>
            <a:bodyPr anchor="ctr" rtlCol="false" tIns="50800" lIns="50800" bIns="50800" rIns="50800"/>
            <a:lstStyle/>
            <a:p>
              <a:pPr algn="ctr">
                <a:lnSpc>
                  <a:spcPts val="1925"/>
                </a:lnSpc>
              </a:pPr>
            </a:p>
          </p:txBody>
        </p:sp>
      </p:grpSp>
      <p:pic>
        <p:nvPicPr>
          <p:cNvPr name="Picture 12" id="12"/>
          <p:cNvPicPr>
            <a:picLocks noChangeAspect="true"/>
          </p:cNvPicPr>
          <p:nvPr/>
        </p:nvPicPr>
        <p:blipFill>
          <a:blip r:embed="rId7"/>
          <a:stretch>
            <a:fillRect/>
          </a:stretch>
        </p:blipFill>
        <p:spPr>
          <a:xfrm rot="0">
            <a:off x="-57647" y="4683164"/>
            <a:ext cx="5662199" cy="5358512"/>
          </a:xfrm>
          <a:prstGeom prst="rect">
            <a:avLst/>
          </a:prstGeom>
        </p:spPr>
      </p:pic>
      <p:pic>
        <p:nvPicPr>
          <p:cNvPr name="Picture 13" id="13"/>
          <p:cNvPicPr>
            <a:picLocks noChangeAspect="true"/>
          </p:cNvPicPr>
          <p:nvPr/>
        </p:nvPicPr>
        <p:blipFill>
          <a:blip r:embed="rId8"/>
          <a:stretch>
            <a:fillRect/>
          </a:stretch>
        </p:blipFill>
        <p:spPr>
          <a:xfrm rot="0">
            <a:off x="4922219" y="5692639"/>
            <a:ext cx="7602553" cy="5015558"/>
          </a:xfrm>
          <a:prstGeom prst="rect">
            <a:avLst/>
          </a:prstGeom>
        </p:spPr>
      </p:pic>
      <p:grpSp>
        <p:nvGrpSpPr>
          <p:cNvPr name="Group 14" id="14"/>
          <p:cNvGrpSpPr/>
          <p:nvPr/>
        </p:nvGrpSpPr>
        <p:grpSpPr>
          <a:xfrm rot="0">
            <a:off x="12049737" y="3040549"/>
            <a:ext cx="5997629" cy="7034103"/>
            <a:chOff x="0" y="0"/>
            <a:chExt cx="2288130" cy="2683551"/>
          </a:xfrm>
        </p:grpSpPr>
        <p:sp>
          <p:nvSpPr>
            <p:cNvPr name="Freeform 15" id="15"/>
            <p:cNvSpPr/>
            <p:nvPr/>
          </p:nvSpPr>
          <p:spPr>
            <a:xfrm flipH="false" flipV="false" rot="0">
              <a:off x="0" y="0"/>
              <a:ext cx="2288130" cy="2683551"/>
            </a:xfrm>
            <a:custGeom>
              <a:avLst/>
              <a:gdLst/>
              <a:ahLst/>
              <a:cxnLst/>
              <a:rect r="r" b="b" t="t" l="l"/>
              <a:pathLst>
                <a:path h="2683551" w="2288130">
                  <a:moveTo>
                    <a:pt x="19362" y="0"/>
                  </a:moveTo>
                  <a:lnTo>
                    <a:pt x="2268768" y="0"/>
                  </a:lnTo>
                  <a:cubicBezTo>
                    <a:pt x="2273903" y="0"/>
                    <a:pt x="2278828" y="2040"/>
                    <a:pt x="2282459" y="5671"/>
                  </a:cubicBezTo>
                  <a:cubicBezTo>
                    <a:pt x="2286090" y="9302"/>
                    <a:pt x="2288130" y="14227"/>
                    <a:pt x="2288130" y="19362"/>
                  </a:cubicBezTo>
                  <a:lnTo>
                    <a:pt x="2288130" y="2664189"/>
                  </a:lnTo>
                  <a:cubicBezTo>
                    <a:pt x="2288130" y="2669324"/>
                    <a:pt x="2286090" y="2674249"/>
                    <a:pt x="2282459" y="2677880"/>
                  </a:cubicBezTo>
                  <a:cubicBezTo>
                    <a:pt x="2278828" y="2681511"/>
                    <a:pt x="2273903" y="2683551"/>
                    <a:pt x="2268768" y="2683551"/>
                  </a:cubicBezTo>
                  <a:lnTo>
                    <a:pt x="19362" y="2683551"/>
                  </a:lnTo>
                  <a:cubicBezTo>
                    <a:pt x="8669" y="2683551"/>
                    <a:pt x="0" y="2674882"/>
                    <a:pt x="0" y="2664189"/>
                  </a:cubicBezTo>
                  <a:lnTo>
                    <a:pt x="0" y="19362"/>
                  </a:lnTo>
                  <a:cubicBezTo>
                    <a:pt x="0" y="8669"/>
                    <a:pt x="8669" y="0"/>
                    <a:pt x="19362" y="0"/>
                  </a:cubicBezTo>
                  <a:close/>
                </a:path>
              </a:pathLst>
            </a:custGeom>
            <a:solidFill>
              <a:srgbClr val="8F1EAE"/>
            </a:solidFill>
          </p:spPr>
        </p:sp>
        <p:sp>
          <p:nvSpPr>
            <p:cNvPr name="TextBox 16" id="16"/>
            <p:cNvSpPr txBox="true"/>
            <p:nvPr/>
          </p:nvSpPr>
          <p:spPr>
            <a:xfrm>
              <a:off x="0" y="76200"/>
              <a:ext cx="2288130" cy="2607351"/>
            </a:xfrm>
            <a:prstGeom prst="rect">
              <a:avLst/>
            </a:prstGeom>
          </p:spPr>
          <p:txBody>
            <a:bodyPr anchor="ctr" rtlCol="false" tIns="50800" lIns="50800" bIns="50800" rIns="50800"/>
            <a:lstStyle/>
            <a:p>
              <a:pPr algn="ctr">
                <a:lnSpc>
                  <a:spcPts val="1925"/>
                </a:lnSpc>
              </a:pPr>
            </a:p>
          </p:txBody>
        </p:sp>
      </p:grpSp>
      <p:sp>
        <p:nvSpPr>
          <p:cNvPr name="Freeform 17" id="17"/>
          <p:cNvSpPr/>
          <p:nvPr/>
        </p:nvSpPr>
        <p:spPr>
          <a:xfrm flipH="false" flipV="false" rot="0">
            <a:off x="5547634" y="3031024"/>
            <a:ext cx="6351723" cy="3256263"/>
          </a:xfrm>
          <a:custGeom>
            <a:avLst/>
            <a:gdLst/>
            <a:ahLst/>
            <a:cxnLst/>
            <a:rect r="r" b="b" t="t" l="l"/>
            <a:pathLst>
              <a:path h="3256263" w="6351723">
                <a:moveTo>
                  <a:pt x="0" y="0"/>
                </a:moveTo>
                <a:lnTo>
                  <a:pt x="6351723" y="0"/>
                </a:lnTo>
                <a:lnTo>
                  <a:pt x="6351723" y="3256263"/>
                </a:lnTo>
                <a:lnTo>
                  <a:pt x="0" y="3256263"/>
                </a:lnTo>
                <a:lnTo>
                  <a:pt x="0" y="0"/>
                </a:lnTo>
                <a:close/>
              </a:path>
            </a:pathLst>
          </a:custGeom>
          <a:blipFill>
            <a:blip r:embed="rId9"/>
            <a:stretch>
              <a:fillRect l="0" t="0" r="0" b="0"/>
            </a:stretch>
          </a:blipFill>
        </p:spPr>
      </p:sp>
      <p:sp>
        <p:nvSpPr>
          <p:cNvPr name="TextBox 18" id="18"/>
          <p:cNvSpPr txBox="true"/>
          <p:nvPr/>
        </p:nvSpPr>
        <p:spPr>
          <a:xfrm rot="0">
            <a:off x="1948666" y="568097"/>
            <a:ext cx="10426820" cy="2116637"/>
          </a:xfrm>
          <a:prstGeom prst="rect">
            <a:avLst/>
          </a:prstGeom>
        </p:spPr>
        <p:txBody>
          <a:bodyPr anchor="t" rtlCol="false" tIns="0" lIns="0" bIns="0" rIns="0">
            <a:spAutoFit/>
          </a:bodyPr>
          <a:lstStyle/>
          <a:p>
            <a:pPr algn="l">
              <a:lnSpc>
                <a:spcPts val="8147"/>
              </a:lnSpc>
            </a:pPr>
            <a:r>
              <a:rPr lang="en-US" sz="6678" b="true">
                <a:solidFill>
                  <a:srgbClr val="F6F4F1"/>
                </a:solidFill>
                <a:latin typeface="Poppins Bold"/>
                <a:ea typeface="Poppins Bold"/>
                <a:cs typeface="Poppins Bold"/>
                <a:sym typeface="Poppins Bold"/>
              </a:rPr>
              <a:t>SENTIMEN PUBLIK TERHADAP INFLUENCER</a:t>
            </a:r>
          </a:p>
        </p:txBody>
      </p:sp>
      <p:sp>
        <p:nvSpPr>
          <p:cNvPr name="TextBox 19" id="19"/>
          <p:cNvSpPr txBox="true"/>
          <p:nvPr/>
        </p:nvSpPr>
        <p:spPr>
          <a:xfrm rot="0">
            <a:off x="9686951" y="107950"/>
            <a:ext cx="5545131" cy="1327150"/>
          </a:xfrm>
          <a:prstGeom prst="rect">
            <a:avLst/>
          </a:prstGeom>
        </p:spPr>
        <p:txBody>
          <a:bodyPr anchor="t" rtlCol="false" tIns="0" lIns="0" bIns="0" rIns="0">
            <a:spAutoFit/>
          </a:bodyPr>
          <a:lstStyle/>
          <a:p>
            <a:pPr algn="ctr">
              <a:lnSpc>
                <a:spcPts val="3500"/>
              </a:lnSpc>
              <a:spcBef>
                <a:spcPct val="0"/>
              </a:spcBef>
            </a:pPr>
            <a:r>
              <a:rPr lang="en-US" sz="2500" spc="12">
                <a:solidFill>
                  <a:srgbClr val="F6F4F1"/>
                </a:solidFill>
                <a:latin typeface="Poppins"/>
                <a:ea typeface="Poppins"/>
                <a:cs typeface="Poppins"/>
                <a:sym typeface="Poppins"/>
              </a:rPr>
              <a:t>Fase 3 </a:t>
            </a:r>
            <a:r>
              <a:rPr lang="en-US" sz="2500" spc="12">
                <a:solidFill>
                  <a:srgbClr val="F6F4F1"/>
                </a:solidFill>
                <a:latin typeface="Poppins"/>
                <a:ea typeface="Poppins"/>
                <a:cs typeface="Poppins"/>
                <a:sym typeface="Poppins"/>
              </a:rPr>
              <a:t>(8 Des 2025) : </a:t>
            </a:r>
          </a:p>
          <a:p>
            <a:pPr algn="ctr">
              <a:lnSpc>
                <a:spcPts val="3500"/>
              </a:lnSpc>
              <a:spcBef>
                <a:spcPct val="0"/>
              </a:spcBef>
            </a:pPr>
            <a:r>
              <a:rPr lang="en-US" sz="2500" spc="12">
                <a:solidFill>
                  <a:srgbClr val="F6F4F1"/>
                </a:solidFill>
                <a:latin typeface="Poppins"/>
                <a:ea typeface="Poppins"/>
                <a:cs typeface="Poppins"/>
                <a:sym typeface="Poppins"/>
              </a:rPr>
              <a:t>Ferry Irwandi dikatain si paling kerja oleh endipati wijaya</a:t>
            </a:r>
          </a:p>
        </p:txBody>
      </p:sp>
      <p:sp>
        <p:nvSpPr>
          <p:cNvPr name="TextBox 20" id="20"/>
          <p:cNvSpPr txBox="true"/>
          <p:nvPr/>
        </p:nvSpPr>
        <p:spPr>
          <a:xfrm rot="0">
            <a:off x="15781856" y="190143"/>
            <a:ext cx="223581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#03</a:t>
            </a:r>
          </a:p>
        </p:txBody>
      </p:sp>
      <p:sp>
        <p:nvSpPr>
          <p:cNvPr name="TextBox 21" id="21"/>
          <p:cNvSpPr txBox="true"/>
          <p:nvPr/>
        </p:nvSpPr>
        <p:spPr>
          <a:xfrm rot="0">
            <a:off x="16499808" y="-6836"/>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
        <p:nvSpPr>
          <p:cNvPr name="TextBox 22" id="22"/>
          <p:cNvSpPr txBox="true"/>
          <p:nvPr/>
        </p:nvSpPr>
        <p:spPr>
          <a:xfrm rot="0">
            <a:off x="624434" y="3818061"/>
            <a:ext cx="687118"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Tiktok</a:t>
            </a:r>
          </a:p>
        </p:txBody>
      </p:sp>
      <p:sp>
        <p:nvSpPr>
          <p:cNvPr name="TextBox 23" id="23"/>
          <p:cNvSpPr txBox="true"/>
          <p:nvPr/>
        </p:nvSpPr>
        <p:spPr>
          <a:xfrm rot="0">
            <a:off x="2019795" y="3569119"/>
            <a:ext cx="972083"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4994</a:t>
            </a:r>
          </a:p>
        </p:txBody>
      </p:sp>
      <p:sp>
        <p:nvSpPr>
          <p:cNvPr name="TextBox 24" id="24"/>
          <p:cNvSpPr txBox="true"/>
          <p:nvPr/>
        </p:nvSpPr>
        <p:spPr>
          <a:xfrm rot="0">
            <a:off x="1948666" y="3313532"/>
            <a:ext cx="1153234"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Awal</a:t>
            </a:r>
          </a:p>
        </p:txBody>
      </p:sp>
      <p:sp>
        <p:nvSpPr>
          <p:cNvPr name="TextBox 25" id="25"/>
          <p:cNvSpPr txBox="true"/>
          <p:nvPr/>
        </p:nvSpPr>
        <p:spPr>
          <a:xfrm rot="0">
            <a:off x="3795337" y="3291774"/>
            <a:ext cx="1193525" cy="323616"/>
          </a:xfrm>
          <a:prstGeom prst="rect">
            <a:avLst/>
          </a:prstGeom>
        </p:spPr>
        <p:txBody>
          <a:bodyPr anchor="t" rtlCol="false" tIns="0" lIns="0" bIns="0" rIns="0">
            <a:spAutoFit/>
          </a:bodyPr>
          <a:lstStyle/>
          <a:p>
            <a:pPr algn="ctr">
              <a:lnSpc>
                <a:spcPts val="2629"/>
              </a:lnSpc>
            </a:pPr>
            <a:r>
              <a:rPr lang="en-US" sz="1878">
                <a:solidFill>
                  <a:srgbClr val="F6F4F1"/>
                </a:solidFill>
                <a:latin typeface="Canva Sans"/>
                <a:ea typeface="Canva Sans"/>
                <a:cs typeface="Canva Sans"/>
                <a:sym typeface="Canva Sans"/>
              </a:rPr>
              <a:t>Data Akhir</a:t>
            </a:r>
          </a:p>
        </p:txBody>
      </p:sp>
      <p:sp>
        <p:nvSpPr>
          <p:cNvPr name="TextBox 26" id="26"/>
          <p:cNvSpPr txBox="true"/>
          <p:nvPr/>
        </p:nvSpPr>
        <p:spPr>
          <a:xfrm rot="0">
            <a:off x="3913874" y="3540544"/>
            <a:ext cx="951136" cy="516933"/>
          </a:xfrm>
          <a:prstGeom prst="rect">
            <a:avLst/>
          </a:prstGeom>
        </p:spPr>
        <p:txBody>
          <a:bodyPr anchor="t" rtlCol="false" tIns="0" lIns="0" bIns="0" rIns="0">
            <a:spAutoFit/>
          </a:bodyPr>
          <a:lstStyle/>
          <a:p>
            <a:pPr algn="ctr">
              <a:lnSpc>
                <a:spcPts val="4227"/>
              </a:lnSpc>
            </a:pPr>
            <a:r>
              <a:rPr lang="en-US" sz="3019" b="true">
                <a:solidFill>
                  <a:srgbClr val="F6F4F1"/>
                </a:solidFill>
                <a:latin typeface="Canva Sans Bold"/>
                <a:ea typeface="Canva Sans Bold"/>
                <a:cs typeface="Canva Sans Bold"/>
                <a:sym typeface="Canva Sans Bold"/>
              </a:rPr>
              <a:t>4943</a:t>
            </a:r>
          </a:p>
        </p:txBody>
      </p:sp>
      <p:sp>
        <p:nvSpPr>
          <p:cNvPr name="Freeform 27" id="27"/>
          <p:cNvSpPr/>
          <p:nvPr/>
        </p:nvSpPr>
        <p:spPr>
          <a:xfrm flipH="false" flipV="false" rot="0">
            <a:off x="3152311" y="3671636"/>
            <a:ext cx="573826" cy="207295"/>
          </a:xfrm>
          <a:custGeom>
            <a:avLst/>
            <a:gdLst/>
            <a:ahLst/>
            <a:cxnLst/>
            <a:rect r="r" b="b" t="t" l="l"/>
            <a:pathLst>
              <a:path h="207295" w="573826">
                <a:moveTo>
                  <a:pt x="0" y="0"/>
                </a:moveTo>
                <a:lnTo>
                  <a:pt x="573827" y="0"/>
                </a:lnTo>
                <a:lnTo>
                  <a:pt x="573827" y="207295"/>
                </a:lnTo>
                <a:lnTo>
                  <a:pt x="0" y="20729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8" id="28"/>
          <p:cNvSpPr txBox="true"/>
          <p:nvPr/>
        </p:nvSpPr>
        <p:spPr>
          <a:xfrm rot="0">
            <a:off x="12091251" y="3206617"/>
            <a:ext cx="5697171" cy="6501005"/>
          </a:xfrm>
          <a:prstGeom prst="rect">
            <a:avLst/>
          </a:prstGeom>
        </p:spPr>
        <p:txBody>
          <a:bodyPr anchor="t" rtlCol="false" tIns="0" lIns="0" bIns="0" rIns="0">
            <a:spAutoFit/>
          </a:bodyPr>
          <a:lstStyle/>
          <a:p>
            <a:pPr algn="just" marL="443658" indent="-221829" lvl="1">
              <a:lnSpc>
                <a:spcPts val="2876"/>
              </a:lnSpc>
              <a:buFont typeface="Arial"/>
              <a:buChar char="•"/>
            </a:pPr>
            <a:r>
              <a:rPr lang="en-US" sz="2054">
                <a:solidFill>
                  <a:srgbClr val="FFFFFF"/>
                </a:solidFill>
                <a:latin typeface="Montserrat"/>
                <a:ea typeface="Montserrat"/>
                <a:cs typeface="Montserrat"/>
                <a:sym typeface="Montserrat"/>
              </a:rPr>
              <a:t>Data ini saya ambil dari komentar dari video tiktok yang berisi tentang pernyataan endipati wijaya terhadap ferry irwandi yang dianggap si paling kerja.</a:t>
            </a:r>
          </a:p>
          <a:p>
            <a:pPr algn="just" marL="443658" indent="-221829" lvl="1">
              <a:lnSpc>
                <a:spcPts val="2876"/>
              </a:lnSpc>
              <a:buFont typeface="Arial"/>
              <a:buChar char="•"/>
            </a:pPr>
            <a:r>
              <a:rPr lang="en-US" sz="2054">
                <a:solidFill>
                  <a:srgbClr val="FFFFFF"/>
                </a:solidFill>
                <a:latin typeface="Montserrat"/>
                <a:ea typeface="Montserrat"/>
                <a:cs typeface="Montserrat"/>
                <a:sym typeface="Montserrat"/>
              </a:rPr>
              <a:t>Frekuensi kata yang paling banyak muncul adalah kata </a:t>
            </a:r>
            <a:r>
              <a:rPr lang="en-US" b="true" sz="2054">
                <a:solidFill>
                  <a:srgbClr val="FFFFFF"/>
                </a:solidFill>
                <a:latin typeface="Montserrat Bold"/>
                <a:ea typeface="Montserrat Bold"/>
                <a:cs typeface="Montserrat Bold"/>
                <a:sym typeface="Montserrat Bold"/>
              </a:rPr>
              <a:t>DPR, PEMERINTAH, ANGGOTA</a:t>
            </a:r>
            <a:r>
              <a:rPr lang="en-US" sz="2054">
                <a:solidFill>
                  <a:srgbClr val="FFFFFF"/>
                </a:solidFill>
                <a:latin typeface="Montserrat"/>
                <a:ea typeface="Montserrat"/>
                <a:cs typeface="Montserrat"/>
                <a:sym typeface="Montserrat"/>
              </a:rPr>
              <a:t>, dan </a:t>
            </a:r>
            <a:r>
              <a:rPr lang="en-US" b="true" sz="2054">
                <a:solidFill>
                  <a:srgbClr val="FFFFFF"/>
                </a:solidFill>
                <a:latin typeface="Montserrat Bold"/>
                <a:ea typeface="Montserrat Bold"/>
                <a:cs typeface="Montserrat Bold"/>
                <a:sym typeface="Montserrat Bold"/>
              </a:rPr>
              <a:t>NEGARA</a:t>
            </a:r>
            <a:r>
              <a:rPr lang="en-US" sz="2054">
                <a:solidFill>
                  <a:srgbClr val="FFFFFF"/>
                </a:solidFill>
                <a:latin typeface="Montserrat"/>
                <a:ea typeface="Montserrat"/>
                <a:cs typeface="Montserrat"/>
                <a:sym typeface="Montserrat"/>
              </a:rPr>
              <a:t> yang mana publik tidak peduli dengan perkataan ‘si paling kerja’ akan tetapi lebih bertanya tentang peran dari dpr &amp; pemerintah dalam memberikan bantuan. </a:t>
            </a:r>
          </a:p>
          <a:p>
            <a:pPr algn="just" marL="443658" indent="-221829" lvl="1">
              <a:lnSpc>
                <a:spcPts val="2876"/>
              </a:lnSpc>
              <a:buFont typeface="Arial"/>
              <a:buChar char="•"/>
            </a:pPr>
            <a:r>
              <a:rPr lang="en-US" sz="2054">
                <a:solidFill>
                  <a:srgbClr val="F6F4F1"/>
                </a:solidFill>
                <a:latin typeface="Montserrat"/>
                <a:ea typeface="Montserrat"/>
                <a:cs typeface="Montserrat"/>
                <a:sym typeface="Montserrat"/>
              </a:rPr>
              <a:t>Sentimen publik didominasi sikap netral dibandingkan sikap negatif dan positif. akan tetapi sentimen negatif lebih tinggi dibandingkan sentimen positif</a:t>
            </a:r>
          </a:p>
        </p:txBody>
      </p:sp>
      <p:sp>
        <p:nvSpPr>
          <p:cNvPr name="Freeform 29" id="29"/>
          <p:cNvSpPr/>
          <p:nvPr/>
        </p:nvSpPr>
        <p:spPr>
          <a:xfrm flipH="false" flipV="false" rot="0">
            <a:off x="653009" y="3285551"/>
            <a:ext cx="553304" cy="553304"/>
          </a:xfrm>
          <a:custGeom>
            <a:avLst/>
            <a:gdLst/>
            <a:ahLst/>
            <a:cxnLst/>
            <a:rect r="r" b="b" t="t" l="l"/>
            <a:pathLst>
              <a:path h="553304" w="553304">
                <a:moveTo>
                  <a:pt x="0" y="0"/>
                </a:moveTo>
                <a:lnTo>
                  <a:pt x="553304" y="0"/>
                </a:lnTo>
                <a:lnTo>
                  <a:pt x="553304" y="553304"/>
                </a:lnTo>
                <a:lnTo>
                  <a:pt x="0" y="55330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grpSp>
        <p:nvGrpSpPr>
          <p:cNvPr name="Group 3" id="3"/>
          <p:cNvGrpSpPr/>
          <p:nvPr/>
        </p:nvGrpSpPr>
        <p:grpSpPr>
          <a:xfrm rot="0">
            <a:off x="3549483" y="759722"/>
            <a:ext cx="10815050" cy="743937"/>
            <a:chOff x="0" y="0"/>
            <a:chExt cx="2848408" cy="195934"/>
          </a:xfrm>
        </p:grpSpPr>
        <p:sp>
          <p:nvSpPr>
            <p:cNvPr name="Freeform 4" id="4"/>
            <p:cNvSpPr/>
            <p:nvPr/>
          </p:nvSpPr>
          <p:spPr>
            <a:xfrm flipH="false" flipV="false" rot="0">
              <a:off x="0" y="0"/>
              <a:ext cx="2848408" cy="195934"/>
            </a:xfrm>
            <a:custGeom>
              <a:avLst/>
              <a:gdLst/>
              <a:ahLst/>
              <a:cxnLst/>
              <a:rect r="r" b="b" t="t" l="l"/>
              <a:pathLst>
                <a:path h="195934" w="2848408">
                  <a:moveTo>
                    <a:pt x="36508" y="0"/>
                  </a:moveTo>
                  <a:lnTo>
                    <a:pt x="2811900" y="0"/>
                  </a:lnTo>
                  <a:cubicBezTo>
                    <a:pt x="2821583" y="0"/>
                    <a:pt x="2830869" y="3846"/>
                    <a:pt x="2837715" y="10693"/>
                  </a:cubicBezTo>
                  <a:cubicBezTo>
                    <a:pt x="2844562" y="17540"/>
                    <a:pt x="2848408" y="26826"/>
                    <a:pt x="2848408" y="36508"/>
                  </a:cubicBezTo>
                  <a:lnTo>
                    <a:pt x="2848408" y="159426"/>
                  </a:lnTo>
                  <a:cubicBezTo>
                    <a:pt x="2848408" y="169108"/>
                    <a:pt x="2844562" y="178394"/>
                    <a:pt x="2837715" y="185241"/>
                  </a:cubicBezTo>
                  <a:cubicBezTo>
                    <a:pt x="2830869" y="192088"/>
                    <a:pt x="2821583" y="195934"/>
                    <a:pt x="2811900" y="195934"/>
                  </a:cubicBezTo>
                  <a:lnTo>
                    <a:pt x="36508" y="195934"/>
                  </a:lnTo>
                  <a:cubicBezTo>
                    <a:pt x="26826" y="195934"/>
                    <a:pt x="17540" y="192088"/>
                    <a:pt x="10693" y="185241"/>
                  </a:cubicBezTo>
                  <a:cubicBezTo>
                    <a:pt x="3846" y="178394"/>
                    <a:pt x="0" y="169108"/>
                    <a:pt x="0" y="159426"/>
                  </a:cubicBezTo>
                  <a:lnTo>
                    <a:pt x="0" y="36508"/>
                  </a:lnTo>
                  <a:cubicBezTo>
                    <a:pt x="0" y="26826"/>
                    <a:pt x="3846" y="17540"/>
                    <a:pt x="10693" y="10693"/>
                  </a:cubicBezTo>
                  <a:cubicBezTo>
                    <a:pt x="17540" y="3846"/>
                    <a:pt x="26826" y="0"/>
                    <a:pt x="36508" y="0"/>
                  </a:cubicBezTo>
                  <a:close/>
                </a:path>
              </a:pathLst>
            </a:custGeom>
            <a:solidFill>
              <a:srgbClr val="F1F0EC"/>
            </a:solidFill>
          </p:spPr>
        </p:sp>
        <p:sp>
          <p:nvSpPr>
            <p:cNvPr name="TextBox 5" id="5"/>
            <p:cNvSpPr txBox="true"/>
            <p:nvPr/>
          </p:nvSpPr>
          <p:spPr>
            <a:xfrm>
              <a:off x="0" y="76200"/>
              <a:ext cx="2848408" cy="119734"/>
            </a:xfrm>
            <a:prstGeom prst="rect">
              <a:avLst/>
            </a:prstGeom>
          </p:spPr>
          <p:txBody>
            <a:bodyPr anchor="ctr" rtlCol="false" tIns="50800" lIns="50800" bIns="50800" rIns="50800"/>
            <a:lstStyle/>
            <a:p>
              <a:pPr algn="ctr">
                <a:lnSpc>
                  <a:spcPts val="1848"/>
                </a:lnSpc>
              </a:pPr>
              <a:r>
                <a:rPr lang="en-US" b="true" sz="2400" spc="-12">
                  <a:solidFill>
                    <a:srgbClr val="191919"/>
                  </a:solidFill>
                  <a:latin typeface="Poppins Semi-Bold"/>
                  <a:ea typeface="Poppins Semi-Bold"/>
                  <a:cs typeface="Poppins Semi-Bold"/>
                  <a:sym typeface="Poppins Semi-Bold"/>
                </a:rPr>
                <a:t>Sentimen Publik Terhadap Ferry Irwandi Dalam Bentuk World Cloud</a:t>
              </a:r>
            </a:p>
          </p:txBody>
        </p:sp>
      </p:grpSp>
      <p:grpSp>
        <p:nvGrpSpPr>
          <p:cNvPr name="Group 6" id="6"/>
          <p:cNvGrpSpPr/>
          <p:nvPr/>
        </p:nvGrpSpPr>
        <p:grpSpPr>
          <a:xfrm rot="0">
            <a:off x="380978" y="6375242"/>
            <a:ext cx="5482717" cy="3567305"/>
            <a:chOff x="0" y="0"/>
            <a:chExt cx="2091688" cy="1360948"/>
          </a:xfrm>
        </p:grpSpPr>
        <p:sp>
          <p:nvSpPr>
            <p:cNvPr name="Freeform 7" id="7"/>
            <p:cNvSpPr/>
            <p:nvPr/>
          </p:nvSpPr>
          <p:spPr>
            <a:xfrm flipH="false" flipV="false" rot="0">
              <a:off x="0" y="0"/>
              <a:ext cx="2091688" cy="1360948"/>
            </a:xfrm>
            <a:custGeom>
              <a:avLst/>
              <a:gdLst/>
              <a:ahLst/>
              <a:cxnLst/>
              <a:rect r="r" b="b" t="t" l="l"/>
              <a:pathLst>
                <a:path h="1360948" w="2091688">
                  <a:moveTo>
                    <a:pt x="21181" y="0"/>
                  </a:moveTo>
                  <a:lnTo>
                    <a:pt x="2070508" y="0"/>
                  </a:lnTo>
                  <a:cubicBezTo>
                    <a:pt x="2076125" y="0"/>
                    <a:pt x="2081512" y="2232"/>
                    <a:pt x="2085485" y="6204"/>
                  </a:cubicBezTo>
                  <a:cubicBezTo>
                    <a:pt x="2089457" y="10176"/>
                    <a:pt x="2091688" y="15563"/>
                    <a:pt x="2091688" y="21181"/>
                  </a:cubicBezTo>
                  <a:lnTo>
                    <a:pt x="2091688" y="1339767"/>
                  </a:lnTo>
                  <a:cubicBezTo>
                    <a:pt x="2091688" y="1345384"/>
                    <a:pt x="2089457" y="1350772"/>
                    <a:pt x="2085485" y="1354744"/>
                  </a:cubicBezTo>
                  <a:cubicBezTo>
                    <a:pt x="2081512" y="1358716"/>
                    <a:pt x="2076125" y="1360948"/>
                    <a:pt x="2070508" y="1360948"/>
                  </a:cubicBezTo>
                  <a:lnTo>
                    <a:pt x="21181" y="1360948"/>
                  </a:lnTo>
                  <a:cubicBezTo>
                    <a:pt x="15563" y="1360948"/>
                    <a:pt x="10176" y="1358716"/>
                    <a:pt x="6204" y="1354744"/>
                  </a:cubicBezTo>
                  <a:cubicBezTo>
                    <a:pt x="2232" y="1350772"/>
                    <a:pt x="0" y="1345384"/>
                    <a:pt x="0" y="1339767"/>
                  </a:cubicBezTo>
                  <a:lnTo>
                    <a:pt x="0" y="21181"/>
                  </a:lnTo>
                  <a:cubicBezTo>
                    <a:pt x="0" y="15563"/>
                    <a:pt x="2232" y="10176"/>
                    <a:pt x="6204" y="6204"/>
                  </a:cubicBezTo>
                  <a:cubicBezTo>
                    <a:pt x="10176" y="2232"/>
                    <a:pt x="15563" y="0"/>
                    <a:pt x="21181" y="0"/>
                  </a:cubicBezTo>
                  <a:close/>
                </a:path>
              </a:pathLst>
            </a:custGeom>
            <a:solidFill>
              <a:srgbClr val="8F1EAE"/>
            </a:solidFill>
          </p:spPr>
        </p:sp>
        <p:sp>
          <p:nvSpPr>
            <p:cNvPr name="TextBox 8" id="8"/>
            <p:cNvSpPr txBox="true"/>
            <p:nvPr/>
          </p:nvSpPr>
          <p:spPr>
            <a:xfrm>
              <a:off x="0" y="76200"/>
              <a:ext cx="2091688" cy="1284748"/>
            </a:xfrm>
            <a:prstGeom prst="rect">
              <a:avLst/>
            </a:prstGeom>
          </p:spPr>
          <p:txBody>
            <a:bodyPr anchor="ctr" rtlCol="false" tIns="50800" lIns="50800" bIns="50800" rIns="50800"/>
            <a:lstStyle/>
            <a:p>
              <a:pPr algn="ctr">
                <a:lnSpc>
                  <a:spcPts val="1925"/>
                </a:lnSpc>
              </a:pPr>
            </a:p>
          </p:txBody>
        </p:sp>
      </p:grpSp>
      <p:grpSp>
        <p:nvGrpSpPr>
          <p:cNvPr name="Group 9" id="9"/>
          <p:cNvGrpSpPr/>
          <p:nvPr/>
        </p:nvGrpSpPr>
        <p:grpSpPr>
          <a:xfrm rot="0">
            <a:off x="12741170" y="2303759"/>
            <a:ext cx="4792303" cy="668124"/>
            <a:chOff x="0" y="0"/>
            <a:chExt cx="1220438" cy="170149"/>
          </a:xfrm>
        </p:grpSpPr>
        <p:sp>
          <p:nvSpPr>
            <p:cNvPr name="Freeform 10" id="10"/>
            <p:cNvSpPr/>
            <p:nvPr/>
          </p:nvSpPr>
          <p:spPr>
            <a:xfrm flipH="false" flipV="false" rot="0">
              <a:off x="0" y="0"/>
              <a:ext cx="1220438" cy="170149"/>
            </a:xfrm>
            <a:custGeom>
              <a:avLst/>
              <a:gdLst/>
              <a:ahLst/>
              <a:cxnLst/>
              <a:rect r="r" b="b" t="t" l="l"/>
              <a:pathLst>
                <a:path h="170149" w="1220438">
                  <a:moveTo>
                    <a:pt x="82390" y="0"/>
                  </a:moveTo>
                  <a:lnTo>
                    <a:pt x="1138048" y="0"/>
                  </a:lnTo>
                  <a:cubicBezTo>
                    <a:pt x="1183551" y="0"/>
                    <a:pt x="1220438" y="36887"/>
                    <a:pt x="1220438" y="82390"/>
                  </a:cubicBezTo>
                  <a:lnTo>
                    <a:pt x="1220438" y="87759"/>
                  </a:lnTo>
                  <a:cubicBezTo>
                    <a:pt x="1220438" y="109610"/>
                    <a:pt x="1211758" y="130566"/>
                    <a:pt x="1196307" y="146017"/>
                  </a:cubicBezTo>
                  <a:cubicBezTo>
                    <a:pt x="1180856" y="161468"/>
                    <a:pt x="1159900" y="170149"/>
                    <a:pt x="1138048" y="170149"/>
                  </a:cubicBezTo>
                  <a:lnTo>
                    <a:pt x="82390" y="170149"/>
                  </a:lnTo>
                  <a:cubicBezTo>
                    <a:pt x="36887" y="170149"/>
                    <a:pt x="0" y="133261"/>
                    <a:pt x="0" y="87759"/>
                  </a:cubicBezTo>
                  <a:lnTo>
                    <a:pt x="0" y="82390"/>
                  </a:lnTo>
                  <a:cubicBezTo>
                    <a:pt x="0" y="36887"/>
                    <a:pt x="36887" y="0"/>
                    <a:pt x="82390" y="0"/>
                  </a:cubicBezTo>
                  <a:close/>
                </a:path>
              </a:pathLst>
            </a:custGeom>
            <a:solidFill>
              <a:srgbClr val="F6F4F1"/>
            </a:solidFill>
          </p:spPr>
        </p:sp>
        <p:sp>
          <p:nvSpPr>
            <p:cNvPr name="TextBox 11" id="11"/>
            <p:cNvSpPr txBox="true"/>
            <p:nvPr/>
          </p:nvSpPr>
          <p:spPr>
            <a:xfrm>
              <a:off x="0" y="76200"/>
              <a:ext cx="1220438"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(Netral)</a:t>
              </a:r>
            </a:p>
          </p:txBody>
        </p:sp>
      </p:grpSp>
      <p:grpSp>
        <p:nvGrpSpPr>
          <p:cNvPr name="Group 12" id="12"/>
          <p:cNvGrpSpPr/>
          <p:nvPr/>
        </p:nvGrpSpPr>
        <p:grpSpPr>
          <a:xfrm rot="0">
            <a:off x="-2612119" y="-273277"/>
            <a:ext cx="7467600" cy="6170451"/>
            <a:chOff x="0" y="0"/>
            <a:chExt cx="9956800" cy="8227268"/>
          </a:xfrm>
        </p:grpSpPr>
        <p:sp>
          <p:nvSpPr>
            <p:cNvPr name="Freeform 13" id="13"/>
            <p:cNvSpPr/>
            <p:nvPr/>
          </p:nvSpPr>
          <p:spPr>
            <a:xfrm flipH="false" flipV="false" rot="0">
              <a:off x="893462"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14" id="14"/>
            <p:cNvSpPr/>
            <p:nvPr/>
          </p:nvSpPr>
          <p:spPr>
            <a:xfrm flipH="false" flipV="false" rot="0">
              <a:off x="3096053" y="772123"/>
              <a:ext cx="4887387" cy="4725465"/>
            </a:xfrm>
            <a:custGeom>
              <a:avLst/>
              <a:gdLst/>
              <a:ahLst/>
              <a:cxnLst/>
              <a:rect r="r" b="b" t="t" l="l"/>
              <a:pathLst>
                <a:path h="4725465" w="4887387">
                  <a:moveTo>
                    <a:pt x="0" y="0"/>
                  </a:moveTo>
                  <a:lnTo>
                    <a:pt x="4887386" y="0"/>
                  </a:lnTo>
                  <a:lnTo>
                    <a:pt x="4887386" y="4725465"/>
                  </a:lnTo>
                  <a:lnTo>
                    <a:pt x="0" y="4725465"/>
                  </a:lnTo>
                  <a:lnTo>
                    <a:pt x="0" y="0"/>
                  </a:lnTo>
                  <a:close/>
                </a:path>
              </a:pathLst>
            </a:custGeom>
            <a:blipFill>
              <a:blip r:embed="rId4"/>
              <a:stretch>
                <a:fillRect l="-53389" t="0" r="-47229" b="-21417"/>
              </a:stretch>
            </a:blipFill>
          </p:spPr>
        </p:sp>
        <p:sp>
          <p:nvSpPr>
            <p:cNvPr name="Freeform 15" id="15"/>
            <p:cNvSpPr/>
            <p:nvPr/>
          </p:nvSpPr>
          <p:spPr>
            <a:xfrm flipH="false" flipV="false" rot="0">
              <a:off x="0" y="30611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6" id="16"/>
            <p:cNvSpPr/>
            <p:nvPr/>
          </p:nvSpPr>
          <p:spPr>
            <a:xfrm flipH="false" flipV="false" rot="0">
              <a:off x="203200" y="3264399"/>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0" y="3630884"/>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8" id="18"/>
          <p:cNvGrpSpPr/>
          <p:nvPr/>
        </p:nvGrpSpPr>
        <p:grpSpPr>
          <a:xfrm rot="0">
            <a:off x="631097" y="2303759"/>
            <a:ext cx="4947678" cy="668124"/>
            <a:chOff x="0" y="0"/>
            <a:chExt cx="1260007" cy="170149"/>
          </a:xfrm>
        </p:grpSpPr>
        <p:sp>
          <p:nvSpPr>
            <p:cNvPr name="Freeform 19" id="19"/>
            <p:cNvSpPr/>
            <p:nvPr/>
          </p:nvSpPr>
          <p:spPr>
            <a:xfrm flipH="false" flipV="false" rot="0">
              <a:off x="0" y="0"/>
              <a:ext cx="1260007" cy="170149"/>
            </a:xfrm>
            <a:custGeom>
              <a:avLst/>
              <a:gdLst/>
              <a:ahLst/>
              <a:cxnLst/>
              <a:rect r="r" b="b" t="t" l="l"/>
              <a:pathLst>
                <a:path h="170149" w="1260007">
                  <a:moveTo>
                    <a:pt x="79803" y="0"/>
                  </a:moveTo>
                  <a:lnTo>
                    <a:pt x="1180205" y="0"/>
                  </a:lnTo>
                  <a:cubicBezTo>
                    <a:pt x="1224278" y="0"/>
                    <a:pt x="1260007" y="35729"/>
                    <a:pt x="1260007" y="79803"/>
                  </a:cubicBezTo>
                  <a:lnTo>
                    <a:pt x="1260007" y="90346"/>
                  </a:lnTo>
                  <a:cubicBezTo>
                    <a:pt x="1260007" y="111511"/>
                    <a:pt x="1251599" y="131809"/>
                    <a:pt x="1236634" y="146775"/>
                  </a:cubicBezTo>
                  <a:cubicBezTo>
                    <a:pt x="1221668" y="161741"/>
                    <a:pt x="1201369" y="170149"/>
                    <a:pt x="1180205" y="170149"/>
                  </a:cubicBezTo>
                  <a:lnTo>
                    <a:pt x="79803" y="170149"/>
                  </a:lnTo>
                  <a:cubicBezTo>
                    <a:pt x="35729" y="170149"/>
                    <a:pt x="0" y="134420"/>
                    <a:pt x="0" y="90346"/>
                  </a:cubicBezTo>
                  <a:lnTo>
                    <a:pt x="0" y="79803"/>
                  </a:lnTo>
                  <a:cubicBezTo>
                    <a:pt x="0" y="58638"/>
                    <a:pt x="8408" y="38340"/>
                    <a:pt x="23374" y="23374"/>
                  </a:cubicBezTo>
                  <a:cubicBezTo>
                    <a:pt x="38340" y="8408"/>
                    <a:pt x="58638" y="0"/>
                    <a:pt x="79803" y="0"/>
                  </a:cubicBezTo>
                  <a:close/>
                </a:path>
              </a:pathLst>
            </a:custGeom>
            <a:solidFill>
              <a:srgbClr val="F6F4F1"/>
            </a:solidFill>
          </p:spPr>
        </p:sp>
        <p:sp>
          <p:nvSpPr>
            <p:cNvPr name="TextBox 20" id="20"/>
            <p:cNvSpPr txBox="true"/>
            <p:nvPr/>
          </p:nvSpPr>
          <p:spPr>
            <a:xfrm>
              <a:off x="0" y="76200"/>
              <a:ext cx="1260007"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(Positif)</a:t>
              </a:r>
            </a:p>
          </p:txBody>
        </p:sp>
      </p:grpSp>
      <p:grpSp>
        <p:nvGrpSpPr>
          <p:cNvPr name="Group 21" id="21"/>
          <p:cNvGrpSpPr/>
          <p:nvPr/>
        </p:nvGrpSpPr>
        <p:grpSpPr>
          <a:xfrm rot="0">
            <a:off x="6606751" y="2303759"/>
            <a:ext cx="4995828" cy="668124"/>
            <a:chOff x="0" y="0"/>
            <a:chExt cx="1272269" cy="170149"/>
          </a:xfrm>
        </p:grpSpPr>
        <p:sp>
          <p:nvSpPr>
            <p:cNvPr name="Freeform 22" id="22"/>
            <p:cNvSpPr/>
            <p:nvPr/>
          </p:nvSpPr>
          <p:spPr>
            <a:xfrm flipH="false" flipV="false" rot="0">
              <a:off x="0" y="0"/>
              <a:ext cx="1272269" cy="170149"/>
            </a:xfrm>
            <a:custGeom>
              <a:avLst/>
              <a:gdLst/>
              <a:ahLst/>
              <a:cxnLst/>
              <a:rect r="r" b="b" t="t" l="l"/>
              <a:pathLst>
                <a:path h="170149" w="1272269">
                  <a:moveTo>
                    <a:pt x="79034" y="0"/>
                  </a:moveTo>
                  <a:lnTo>
                    <a:pt x="1193236" y="0"/>
                  </a:lnTo>
                  <a:cubicBezTo>
                    <a:pt x="1236885" y="0"/>
                    <a:pt x="1272269" y="35385"/>
                    <a:pt x="1272269" y="79034"/>
                  </a:cubicBezTo>
                  <a:lnTo>
                    <a:pt x="1272269" y="91115"/>
                  </a:lnTo>
                  <a:cubicBezTo>
                    <a:pt x="1272269" y="134764"/>
                    <a:pt x="1236885" y="170149"/>
                    <a:pt x="1193236" y="170149"/>
                  </a:cubicBezTo>
                  <a:lnTo>
                    <a:pt x="79034" y="170149"/>
                  </a:lnTo>
                  <a:cubicBezTo>
                    <a:pt x="35385" y="170149"/>
                    <a:pt x="0" y="134764"/>
                    <a:pt x="0" y="91115"/>
                  </a:cubicBezTo>
                  <a:lnTo>
                    <a:pt x="0" y="79034"/>
                  </a:lnTo>
                  <a:cubicBezTo>
                    <a:pt x="0" y="35385"/>
                    <a:pt x="35385" y="0"/>
                    <a:pt x="79034" y="0"/>
                  </a:cubicBezTo>
                  <a:close/>
                </a:path>
              </a:pathLst>
            </a:custGeom>
            <a:solidFill>
              <a:srgbClr val="F6F4F1"/>
            </a:solidFill>
          </p:spPr>
        </p:sp>
        <p:sp>
          <p:nvSpPr>
            <p:cNvPr name="TextBox 23" id="23"/>
            <p:cNvSpPr txBox="true"/>
            <p:nvPr/>
          </p:nvSpPr>
          <p:spPr>
            <a:xfrm>
              <a:off x="0" y="76200"/>
              <a:ext cx="1272269"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World Cloud (Negatif)</a:t>
              </a:r>
            </a:p>
          </p:txBody>
        </p:sp>
      </p:grpSp>
      <p:grpSp>
        <p:nvGrpSpPr>
          <p:cNvPr name="Group 24" id="24"/>
          <p:cNvGrpSpPr/>
          <p:nvPr/>
        </p:nvGrpSpPr>
        <p:grpSpPr>
          <a:xfrm rot="0">
            <a:off x="6449570" y="6375242"/>
            <a:ext cx="5567805" cy="3567305"/>
            <a:chOff x="0" y="0"/>
            <a:chExt cx="2124150" cy="1360948"/>
          </a:xfrm>
        </p:grpSpPr>
        <p:sp>
          <p:nvSpPr>
            <p:cNvPr name="Freeform 25" id="25"/>
            <p:cNvSpPr/>
            <p:nvPr/>
          </p:nvSpPr>
          <p:spPr>
            <a:xfrm flipH="false" flipV="false" rot="0">
              <a:off x="0" y="0"/>
              <a:ext cx="2124150" cy="1360948"/>
            </a:xfrm>
            <a:custGeom>
              <a:avLst/>
              <a:gdLst/>
              <a:ahLst/>
              <a:cxnLst/>
              <a:rect r="r" b="b" t="t" l="l"/>
              <a:pathLst>
                <a:path h="1360948" w="2124150">
                  <a:moveTo>
                    <a:pt x="20857" y="0"/>
                  </a:moveTo>
                  <a:lnTo>
                    <a:pt x="2103293" y="0"/>
                  </a:lnTo>
                  <a:cubicBezTo>
                    <a:pt x="2114812" y="0"/>
                    <a:pt x="2124150" y="9338"/>
                    <a:pt x="2124150" y="20857"/>
                  </a:cubicBezTo>
                  <a:lnTo>
                    <a:pt x="2124150" y="1340090"/>
                  </a:lnTo>
                  <a:cubicBezTo>
                    <a:pt x="2124150" y="1345622"/>
                    <a:pt x="2121953" y="1350927"/>
                    <a:pt x="2118041" y="1354839"/>
                  </a:cubicBezTo>
                  <a:cubicBezTo>
                    <a:pt x="2114130" y="1358750"/>
                    <a:pt x="2108825" y="1360948"/>
                    <a:pt x="2103293" y="1360948"/>
                  </a:cubicBezTo>
                  <a:lnTo>
                    <a:pt x="20857" y="1360948"/>
                  </a:lnTo>
                  <a:cubicBezTo>
                    <a:pt x="9338" y="1360948"/>
                    <a:pt x="0" y="1351609"/>
                    <a:pt x="0" y="1340090"/>
                  </a:cubicBezTo>
                  <a:lnTo>
                    <a:pt x="0" y="20857"/>
                  </a:lnTo>
                  <a:cubicBezTo>
                    <a:pt x="0" y="9338"/>
                    <a:pt x="9338" y="0"/>
                    <a:pt x="20857" y="0"/>
                  </a:cubicBezTo>
                  <a:close/>
                </a:path>
              </a:pathLst>
            </a:custGeom>
            <a:solidFill>
              <a:srgbClr val="8F1EAE"/>
            </a:solidFill>
          </p:spPr>
        </p:sp>
        <p:sp>
          <p:nvSpPr>
            <p:cNvPr name="TextBox 26" id="26"/>
            <p:cNvSpPr txBox="true"/>
            <p:nvPr/>
          </p:nvSpPr>
          <p:spPr>
            <a:xfrm>
              <a:off x="0" y="76200"/>
              <a:ext cx="2124150" cy="1284748"/>
            </a:xfrm>
            <a:prstGeom prst="rect">
              <a:avLst/>
            </a:prstGeom>
          </p:spPr>
          <p:txBody>
            <a:bodyPr anchor="ctr" rtlCol="false" tIns="50800" lIns="50800" bIns="50800" rIns="50800"/>
            <a:lstStyle/>
            <a:p>
              <a:pPr algn="ctr">
                <a:lnSpc>
                  <a:spcPts val="1925"/>
                </a:lnSpc>
              </a:pPr>
            </a:p>
          </p:txBody>
        </p:sp>
      </p:grpSp>
      <p:grpSp>
        <p:nvGrpSpPr>
          <p:cNvPr name="Group 27" id="27"/>
          <p:cNvGrpSpPr/>
          <p:nvPr/>
        </p:nvGrpSpPr>
        <p:grpSpPr>
          <a:xfrm rot="0">
            <a:off x="12626870" y="6375242"/>
            <a:ext cx="5105112" cy="3567305"/>
            <a:chOff x="0" y="0"/>
            <a:chExt cx="1947630" cy="1360948"/>
          </a:xfrm>
        </p:grpSpPr>
        <p:sp>
          <p:nvSpPr>
            <p:cNvPr name="Freeform 28" id="28"/>
            <p:cNvSpPr/>
            <p:nvPr/>
          </p:nvSpPr>
          <p:spPr>
            <a:xfrm flipH="false" flipV="false" rot="0">
              <a:off x="0" y="0"/>
              <a:ext cx="1947630" cy="1360948"/>
            </a:xfrm>
            <a:custGeom>
              <a:avLst/>
              <a:gdLst/>
              <a:ahLst/>
              <a:cxnLst/>
              <a:rect r="r" b="b" t="t" l="l"/>
              <a:pathLst>
                <a:path h="1360948" w="1947630">
                  <a:moveTo>
                    <a:pt x="22748" y="0"/>
                  </a:moveTo>
                  <a:lnTo>
                    <a:pt x="1924882" y="0"/>
                  </a:lnTo>
                  <a:cubicBezTo>
                    <a:pt x="1930915" y="0"/>
                    <a:pt x="1936701" y="2397"/>
                    <a:pt x="1940967" y="6663"/>
                  </a:cubicBezTo>
                  <a:cubicBezTo>
                    <a:pt x="1945233" y="10929"/>
                    <a:pt x="1947630" y="16715"/>
                    <a:pt x="1947630" y="22748"/>
                  </a:cubicBezTo>
                  <a:lnTo>
                    <a:pt x="1947630" y="1338200"/>
                  </a:lnTo>
                  <a:cubicBezTo>
                    <a:pt x="1947630" y="1344233"/>
                    <a:pt x="1945233" y="1350019"/>
                    <a:pt x="1940967" y="1354285"/>
                  </a:cubicBezTo>
                  <a:cubicBezTo>
                    <a:pt x="1936701" y="1358551"/>
                    <a:pt x="1930915" y="1360948"/>
                    <a:pt x="1924882" y="1360948"/>
                  </a:cubicBezTo>
                  <a:lnTo>
                    <a:pt x="22748" y="1360948"/>
                  </a:lnTo>
                  <a:cubicBezTo>
                    <a:pt x="16715" y="1360948"/>
                    <a:pt x="10929" y="1358551"/>
                    <a:pt x="6663" y="1354285"/>
                  </a:cubicBezTo>
                  <a:cubicBezTo>
                    <a:pt x="2397" y="1350019"/>
                    <a:pt x="0" y="1344233"/>
                    <a:pt x="0" y="1338200"/>
                  </a:cubicBezTo>
                  <a:lnTo>
                    <a:pt x="0" y="22748"/>
                  </a:lnTo>
                  <a:cubicBezTo>
                    <a:pt x="0" y="16715"/>
                    <a:pt x="2397" y="10929"/>
                    <a:pt x="6663" y="6663"/>
                  </a:cubicBezTo>
                  <a:cubicBezTo>
                    <a:pt x="10929" y="2397"/>
                    <a:pt x="16715" y="0"/>
                    <a:pt x="22748" y="0"/>
                  </a:cubicBezTo>
                  <a:close/>
                </a:path>
              </a:pathLst>
            </a:custGeom>
            <a:solidFill>
              <a:srgbClr val="8F1EAE"/>
            </a:solidFill>
          </p:spPr>
        </p:sp>
        <p:sp>
          <p:nvSpPr>
            <p:cNvPr name="TextBox 29" id="29"/>
            <p:cNvSpPr txBox="true"/>
            <p:nvPr/>
          </p:nvSpPr>
          <p:spPr>
            <a:xfrm>
              <a:off x="0" y="76200"/>
              <a:ext cx="1947630" cy="1284748"/>
            </a:xfrm>
            <a:prstGeom prst="rect">
              <a:avLst/>
            </a:prstGeom>
          </p:spPr>
          <p:txBody>
            <a:bodyPr anchor="ctr" rtlCol="false" tIns="50800" lIns="50800" bIns="50800" rIns="50800"/>
            <a:lstStyle/>
            <a:p>
              <a:pPr algn="ctr">
                <a:lnSpc>
                  <a:spcPts val="1925"/>
                </a:lnSpc>
              </a:pPr>
            </a:p>
          </p:txBody>
        </p:sp>
      </p:grpSp>
      <p:sp>
        <p:nvSpPr>
          <p:cNvPr name="Freeform 30" id="30"/>
          <p:cNvSpPr/>
          <p:nvPr/>
        </p:nvSpPr>
        <p:spPr>
          <a:xfrm flipH="false" flipV="false" rot="0">
            <a:off x="429724" y="3183086"/>
            <a:ext cx="5350424" cy="2905484"/>
          </a:xfrm>
          <a:custGeom>
            <a:avLst/>
            <a:gdLst/>
            <a:ahLst/>
            <a:cxnLst/>
            <a:rect r="r" b="b" t="t" l="l"/>
            <a:pathLst>
              <a:path h="2905484" w="5350424">
                <a:moveTo>
                  <a:pt x="0" y="0"/>
                </a:moveTo>
                <a:lnTo>
                  <a:pt x="5350424" y="0"/>
                </a:lnTo>
                <a:lnTo>
                  <a:pt x="5350424" y="2905484"/>
                </a:lnTo>
                <a:lnTo>
                  <a:pt x="0" y="2905484"/>
                </a:lnTo>
                <a:lnTo>
                  <a:pt x="0" y="0"/>
                </a:lnTo>
                <a:close/>
              </a:path>
            </a:pathLst>
          </a:custGeom>
          <a:blipFill>
            <a:blip r:embed="rId7"/>
            <a:stretch>
              <a:fillRect l="0" t="0" r="0" b="0"/>
            </a:stretch>
          </a:blipFill>
        </p:spPr>
      </p:sp>
      <p:sp>
        <p:nvSpPr>
          <p:cNvPr name="Freeform 31" id="31"/>
          <p:cNvSpPr/>
          <p:nvPr/>
        </p:nvSpPr>
        <p:spPr>
          <a:xfrm flipH="false" flipV="false" rot="0">
            <a:off x="12360335" y="3148613"/>
            <a:ext cx="5447848" cy="2958388"/>
          </a:xfrm>
          <a:custGeom>
            <a:avLst/>
            <a:gdLst/>
            <a:ahLst/>
            <a:cxnLst/>
            <a:rect r="r" b="b" t="t" l="l"/>
            <a:pathLst>
              <a:path h="2958388" w="5447848">
                <a:moveTo>
                  <a:pt x="0" y="0"/>
                </a:moveTo>
                <a:lnTo>
                  <a:pt x="5447847" y="0"/>
                </a:lnTo>
                <a:lnTo>
                  <a:pt x="5447847" y="2958388"/>
                </a:lnTo>
                <a:lnTo>
                  <a:pt x="0" y="2958388"/>
                </a:lnTo>
                <a:lnTo>
                  <a:pt x="0" y="0"/>
                </a:lnTo>
                <a:close/>
              </a:path>
            </a:pathLst>
          </a:custGeom>
          <a:blipFill>
            <a:blip r:embed="rId8"/>
            <a:stretch>
              <a:fillRect l="0" t="0" r="0" b="0"/>
            </a:stretch>
          </a:blipFill>
        </p:spPr>
      </p:sp>
      <p:sp>
        <p:nvSpPr>
          <p:cNvPr name="Freeform 32" id="32"/>
          <p:cNvSpPr/>
          <p:nvPr/>
        </p:nvSpPr>
        <p:spPr>
          <a:xfrm flipH="false" flipV="false" rot="0">
            <a:off x="6459095" y="3148613"/>
            <a:ext cx="5350424" cy="2905484"/>
          </a:xfrm>
          <a:custGeom>
            <a:avLst/>
            <a:gdLst/>
            <a:ahLst/>
            <a:cxnLst/>
            <a:rect r="r" b="b" t="t" l="l"/>
            <a:pathLst>
              <a:path h="2905484" w="5350424">
                <a:moveTo>
                  <a:pt x="0" y="0"/>
                </a:moveTo>
                <a:lnTo>
                  <a:pt x="5350424" y="0"/>
                </a:lnTo>
                <a:lnTo>
                  <a:pt x="5350424" y="2905483"/>
                </a:lnTo>
                <a:lnTo>
                  <a:pt x="0" y="2905483"/>
                </a:lnTo>
                <a:lnTo>
                  <a:pt x="0" y="0"/>
                </a:lnTo>
                <a:close/>
              </a:path>
            </a:pathLst>
          </a:custGeom>
          <a:blipFill>
            <a:blip r:embed="rId9"/>
            <a:stretch>
              <a:fillRect l="0" t="0" r="0" b="0"/>
            </a:stretch>
          </a:blipFill>
        </p:spPr>
      </p:sp>
      <p:sp>
        <p:nvSpPr>
          <p:cNvPr name="TextBox 33" id="33"/>
          <p:cNvSpPr txBox="true"/>
          <p:nvPr/>
        </p:nvSpPr>
        <p:spPr>
          <a:xfrm rot="0">
            <a:off x="6587819" y="6413342"/>
            <a:ext cx="5291307" cy="324345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Kata </a:t>
            </a:r>
            <a:r>
              <a:rPr lang="en-US" sz="2054" b="true">
                <a:solidFill>
                  <a:srgbClr val="FFFFFF"/>
                </a:solidFill>
                <a:latin typeface="Montserrat Bold"/>
                <a:ea typeface="Montserrat Bold"/>
                <a:cs typeface="Montserrat Bold"/>
                <a:sym typeface="Montserrat Bold"/>
              </a:rPr>
              <a:t>DPR, JABAT, ANGGOTA </a:t>
            </a:r>
            <a:r>
              <a:rPr lang="en-US" sz="2054">
                <a:solidFill>
                  <a:srgbClr val="FFFFFF"/>
                </a:solidFill>
                <a:latin typeface="Montserrat"/>
                <a:ea typeface="Montserrat"/>
                <a:cs typeface="Montserrat"/>
                <a:sym typeface="Montserrat"/>
              </a:rPr>
              <a:t>muncul dalam hujatan bahwa pejabat lebih fokus kompetisi viral daripada kolaborasi. Banyak yang bilang ini bukti "pemerintah gagal komunikasi. Kata  </a:t>
            </a:r>
            <a:r>
              <a:rPr lang="en-US" sz="2054" b="true">
                <a:solidFill>
                  <a:srgbClr val="FFFFFF"/>
                </a:solidFill>
                <a:latin typeface="Montserrat Bold"/>
                <a:ea typeface="Montserrat Bold"/>
                <a:cs typeface="Montserrat Bold"/>
                <a:sym typeface="Montserrat Bold"/>
              </a:rPr>
              <a:t>UANG &amp; NEGARA</a:t>
            </a:r>
            <a:r>
              <a:rPr lang="en-US" sz="2054">
                <a:solidFill>
                  <a:srgbClr val="FFFFFF"/>
                </a:solidFill>
                <a:latin typeface="Montserrat"/>
                <a:ea typeface="Montserrat"/>
                <a:cs typeface="Montserrat"/>
                <a:sym typeface="Montserrat"/>
              </a:rPr>
              <a:t> juga sering muncul sebagai bentuk sindiran terhadap pemerintah yg memiliki akses dana lebih banyak</a:t>
            </a:r>
          </a:p>
        </p:txBody>
      </p:sp>
      <p:sp>
        <p:nvSpPr>
          <p:cNvPr name="TextBox 34" id="34"/>
          <p:cNvSpPr txBox="true"/>
          <p:nvPr/>
        </p:nvSpPr>
        <p:spPr>
          <a:xfrm rot="0">
            <a:off x="477349" y="6413342"/>
            <a:ext cx="5101426" cy="2881505"/>
          </a:xfrm>
          <a:prstGeom prst="rect">
            <a:avLst/>
          </a:prstGeom>
        </p:spPr>
        <p:txBody>
          <a:bodyPr anchor="t" rtlCol="false" tIns="0" lIns="0" bIns="0" rIns="0">
            <a:spAutoFit/>
          </a:bodyPr>
          <a:lstStyle/>
          <a:p>
            <a:pPr algn="just">
              <a:lnSpc>
                <a:spcPts val="2876"/>
              </a:lnSpc>
            </a:pPr>
            <a:r>
              <a:rPr lang="en-US" sz="2054">
                <a:solidFill>
                  <a:srgbClr val="FFFFFF"/>
                </a:solidFill>
                <a:latin typeface="Montserrat"/>
                <a:ea typeface="Montserrat"/>
                <a:cs typeface="Montserrat"/>
                <a:sym typeface="Montserrat"/>
              </a:rPr>
              <a:t>Sentimen positif muncul sebagai bentuk apresiasi terhadap inisiatif rakyat dan Ferry. Hal ini dilihat dari kata </a:t>
            </a:r>
            <a:r>
              <a:rPr lang="en-US" sz="2054" b="true">
                <a:solidFill>
                  <a:srgbClr val="FFFFFF"/>
                </a:solidFill>
                <a:latin typeface="Montserrat Bold"/>
                <a:ea typeface="Montserrat Bold"/>
                <a:cs typeface="Montserrat Bold"/>
                <a:sym typeface="Montserrat Bold"/>
              </a:rPr>
              <a:t>FERRY, IRWANDI, PERCAYA</a:t>
            </a:r>
            <a:r>
              <a:rPr lang="en-US" sz="2054">
                <a:solidFill>
                  <a:srgbClr val="FFFFFF"/>
                </a:solidFill>
                <a:latin typeface="Montserrat"/>
                <a:ea typeface="Montserrat"/>
                <a:cs typeface="Montserrat"/>
                <a:sym typeface="Montserrat"/>
              </a:rPr>
              <a:t> muncul dalam pujian ke Ferry. Beberapa dukung gotong royong sebagai kekuatan bangsa.</a:t>
            </a:r>
          </a:p>
          <a:p>
            <a:pPr algn="just">
              <a:lnSpc>
                <a:spcPts val="2876"/>
              </a:lnSpc>
            </a:pPr>
          </a:p>
        </p:txBody>
      </p:sp>
      <p:sp>
        <p:nvSpPr>
          <p:cNvPr name="TextBox 35" id="35"/>
          <p:cNvSpPr txBox="true"/>
          <p:nvPr/>
        </p:nvSpPr>
        <p:spPr>
          <a:xfrm rot="0">
            <a:off x="15871412" y="190143"/>
            <a:ext cx="2235816" cy="1515189"/>
          </a:xfrm>
          <a:prstGeom prst="rect">
            <a:avLst/>
          </a:prstGeom>
        </p:spPr>
        <p:txBody>
          <a:bodyPr anchor="t" rtlCol="false" tIns="0" lIns="0" bIns="0" rIns="0">
            <a:spAutoFit/>
          </a:bodyPr>
          <a:lstStyle/>
          <a:p>
            <a:pPr algn="ctr">
              <a:lnSpc>
                <a:spcPts val="12441"/>
              </a:lnSpc>
            </a:pPr>
            <a:r>
              <a:rPr lang="en-US" sz="8886" b="true">
                <a:solidFill>
                  <a:srgbClr val="F6F4F1"/>
                </a:solidFill>
                <a:latin typeface="Montserrat Bold"/>
                <a:ea typeface="Montserrat Bold"/>
                <a:cs typeface="Montserrat Bold"/>
                <a:sym typeface="Montserrat Bold"/>
              </a:rPr>
              <a:t>#03</a:t>
            </a:r>
          </a:p>
        </p:txBody>
      </p:sp>
      <p:sp>
        <p:nvSpPr>
          <p:cNvPr name="TextBox 36" id="36"/>
          <p:cNvSpPr txBox="true"/>
          <p:nvPr/>
        </p:nvSpPr>
        <p:spPr>
          <a:xfrm rot="0">
            <a:off x="16556958" y="-16361"/>
            <a:ext cx="1538033" cy="651133"/>
          </a:xfrm>
          <a:prstGeom prst="rect">
            <a:avLst/>
          </a:prstGeom>
        </p:spPr>
        <p:txBody>
          <a:bodyPr anchor="t" rtlCol="false" tIns="0" lIns="0" bIns="0" rIns="0">
            <a:spAutoFit/>
          </a:bodyPr>
          <a:lstStyle/>
          <a:p>
            <a:pPr algn="ctr">
              <a:lnSpc>
                <a:spcPts val="5373"/>
              </a:lnSpc>
            </a:pPr>
            <a:r>
              <a:rPr lang="en-US" sz="3838" b="true">
                <a:solidFill>
                  <a:srgbClr val="F6F4F1"/>
                </a:solidFill>
                <a:latin typeface="Montserrat Bold"/>
                <a:ea typeface="Montserrat Bold"/>
                <a:cs typeface="Montserrat Bold"/>
                <a:sym typeface="Montserrat Bold"/>
              </a:rPr>
              <a:t>FASE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Freeform 3" id="3"/>
          <p:cNvSpPr/>
          <p:nvPr/>
        </p:nvSpPr>
        <p:spPr>
          <a:xfrm flipH="false" flipV="false" rot="0">
            <a:off x="13626409" y="-459485"/>
            <a:ext cx="7032594" cy="8230527"/>
          </a:xfrm>
          <a:custGeom>
            <a:avLst/>
            <a:gdLst/>
            <a:ahLst/>
            <a:cxnLst/>
            <a:rect r="r" b="b" t="t" l="l"/>
            <a:pathLst>
              <a:path h="8230527" w="7032594">
                <a:moveTo>
                  <a:pt x="0" y="0"/>
                </a:moveTo>
                <a:lnTo>
                  <a:pt x="7032594" y="0"/>
                </a:lnTo>
                <a:lnTo>
                  <a:pt x="7032594" y="8230527"/>
                </a:lnTo>
                <a:lnTo>
                  <a:pt x="0" y="8230527"/>
                </a:lnTo>
                <a:lnTo>
                  <a:pt x="0" y="0"/>
                </a:lnTo>
                <a:close/>
              </a:path>
            </a:pathLst>
          </a:custGeom>
          <a:blipFill>
            <a:blip r:embed="rId3">
              <a:alphaModFix amt="28000"/>
            </a:blip>
            <a:stretch>
              <a:fillRect l="-67118" t="0" r="-40941" b="0"/>
            </a:stretch>
          </a:blipFill>
        </p:spPr>
      </p:sp>
      <p:sp>
        <p:nvSpPr>
          <p:cNvPr name="Freeform 4" id="4"/>
          <p:cNvSpPr/>
          <p:nvPr/>
        </p:nvSpPr>
        <p:spPr>
          <a:xfrm flipH="false" flipV="false" rot="0">
            <a:off x="-626605" y="-1102744"/>
            <a:ext cx="5307846" cy="7771042"/>
          </a:xfrm>
          <a:custGeom>
            <a:avLst/>
            <a:gdLst/>
            <a:ahLst/>
            <a:cxnLst/>
            <a:rect r="r" b="b" t="t" l="l"/>
            <a:pathLst>
              <a:path h="7771042" w="5307846">
                <a:moveTo>
                  <a:pt x="0" y="0"/>
                </a:moveTo>
                <a:lnTo>
                  <a:pt x="5307846" y="0"/>
                </a:lnTo>
                <a:lnTo>
                  <a:pt x="5307846" y="7771042"/>
                </a:lnTo>
                <a:lnTo>
                  <a:pt x="0" y="7771042"/>
                </a:lnTo>
                <a:lnTo>
                  <a:pt x="0" y="0"/>
                </a:lnTo>
                <a:close/>
              </a:path>
            </a:pathLst>
          </a:custGeom>
          <a:blipFill>
            <a:blip r:embed="rId4">
              <a:alphaModFix amt="30000"/>
            </a:blip>
            <a:stretch>
              <a:fillRect l="-62369" t="-5900" r="-69987" b="0"/>
            </a:stretch>
          </a:blipFill>
        </p:spPr>
      </p:sp>
      <p:sp>
        <p:nvSpPr>
          <p:cNvPr name="Freeform 5" id="5"/>
          <p:cNvSpPr/>
          <p:nvPr/>
        </p:nvSpPr>
        <p:spPr>
          <a:xfrm flipH="false" flipV="false" rot="0">
            <a:off x="9147363" y="2434421"/>
            <a:ext cx="11172067" cy="10704872"/>
          </a:xfrm>
          <a:custGeom>
            <a:avLst/>
            <a:gdLst/>
            <a:ahLst/>
            <a:cxnLst/>
            <a:rect r="r" b="b" t="t" l="l"/>
            <a:pathLst>
              <a:path h="10704872" w="11172067">
                <a:moveTo>
                  <a:pt x="0" y="0"/>
                </a:moveTo>
                <a:lnTo>
                  <a:pt x="11172068" y="0"/>
                </a:lnTo>
                <a:lnTo>
                  <a:pt x="11172068" y="10704872"/>
                </a:lnTo>
                <a:lnTo>
                  <a:pt x="0" y="1070487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4150604" y="977614"/>
            <a:ext cx="9663739" cy="1565871"/>
          </a:xfrm>
          <a:prstGeom prst="rect">
            <a:avLst/>
          </a:prstGeom>
        </p:spPr>
        <p:txBody>
          <a:bodyPr anchor="t" rtlCol="false" tIns="0" lIns="0" bIns="0" rIns="0">
            <a:spAutoFit/>
          </a:bodyPr>
          <a:lstStyle/>
          <a:p>
            <a:pPr algn="ctr">
              <a:lnSpc>
                <a:spcPts val="10784"/>
              </a:lnSpc>
            </a:pPr>
            <a:r>
              <a:rPr lang="en-US" b="true" sz="11352">
                <a:solidFill>
                  <a:srgbClr val="F6F4F1"/>
                </a:solidFill>
                <a:latin typeface="Poppins Ultra-Bold"/>
                <a:ea typeface="Poppins Ultra-Bold"/>
                <a:cs typeface="Poppins Ultra-Bold"/>
                <a:sym typeface="Poppins Ultra-Bold"/>
              </a:rPr>
              <a:t>KESIMPULAN</a:t>
            </a:r>
          </a:p>
        </p:txBody>
      </p:sp>
      <p:sp>
        <p:nvSpPr>
          <p:cNvPr name="Freeform 7" id="7"/>
          <p:cNvSpPr/>
          <p:nvPr/>
        </p:nvSpPr>
        <p:spPr>
          <a:xfrm flipH="false" flipV="false" rot="0">
            <a:off x="-3213452" y="2418606"/>
            <a:ext cx="11172067" cy="10704872"/>
          </a:xfrm>
          <a:custGeom>
            <a:avLst/>
            <a:gdLst/>
            <a:ahLst/>
            <a:cxnLst/>
            <a:rect r="r" b="b" t="t" l="l"/>
            <a:pathLst>
              <a:path h="10704872" w="11172067">
                <a:moveTo>
                  <a:pt x="0" y="0"/>
                </a:moveTo>
                <a:lnTo>
                  <a:pt x="11172067" y="0"/>
                </a:lnTo>
                <a:lnTo>
                  <a:pt x="11172067" y="10704871"/>
                </a:lnTo>
                <a:lnTo>
                  <a:pt x="0" y="107048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372581" y="5291676"/>
            <a:ext cx="12333188" cy="6742342"/>
          </a:xfrm>
          <a:custGeom>
            <a:avLst/>
            <a:gdLst/>
            <a:ahLst/>
            <a:cxnLst/>
            <a:rect r="r" b="b" t="t" l="l"/>
            <a:pathLst>
              <a:path h="6742342" w="12333188">
                <a:moveTo>
                  <a:pt x="0" y="0"/>
                </a:moveTo>
                <a:lnTo>
                  <a:pt x="12333188" y="0"/>
                </a:lnTo>
                <a:lnTo>
                  <a:pt x="12333188" y="6742342"/>
                </a:lnTo>
                <a:lnTo>
                  <a:pt x="0" y="6742342"/>
                </a:lnTo>
                <a:lnTo>
                  <a:pt x="0" y="0"/>
                </a:lnTo>
                <a:close/>
              </a:path>
            </a:pathLst>
          </a:custGeom>
          <a:blipFill>
            <a:blip r:embed="rId7">
              <a:alphaModFix amt="79000"/>
            </a:blip>
            <a:stretch>
              <a:fillRect l="0" t="-22058" r="0" b="0"/>
            </a:stretch>
          </a:blipFill>
        </p:spPr>
      </p:sp>
      <p:sp>
        <p:nvSpPr>
          <p:cNvPr name="Freeform 9" id="9"/>
          <p:cNvSpPr/>
          <p:nvPr/>
        </p:nvSpPr>
        <p:spPr>
          <a:xfrm flipH="false" flipV="false" rot="0">
            <a:off x="-2518359" y="2418606"/>
            <a:ext cx="10476974" cy="12488482"/>
          </a:xfrm>
          <a:custGeom>
            <a:avLst/>
            <a:gdLst/>
            <a:ahLst/>
            <a:cxnLst/>
            <a:rect r="r" b="b" t="t" l="l"/>
            <a:pathLst>
              <a:path h="12488482" w="10476974">
                <a:moveTo>
                  <a:pt x="0" y="0"/>
                </a:moveTo>
                <a:lnTo>
                  <a:pt x="10476974" y="0"/>
                </a:lnTo>
                <a:lnTo>
                  <a:pt x="10476974" y="12488482"/>
                </a:lnTo>
                <a:lnTo>
                  <a:pt x="0" y="12488482"/>
                </a:lnTo>
                <a:lnTo>
                  <a:pt x="0" y="0"/>
                </a:lnTo>
                <a:close/>
              </a:path>
            </a:pathLst>
          </a:custGeom>
          <a:blipFill>
            <a:blip r:embed="rId8"/>
            <a:stretch>
              <a:fillRect l="-17479" t="-20542" r="-137961" b="0"/>
            </a:stretch>
          </a:blipFill>
        </p:spPr>
      </p:sp>
      <p:sp>
        <p:nvSpPr>
          <p:cNvPr name="Freeform 10" id="10"/>
          <p:cNvSpPr/>
          <p:nvPr/>
        </p:nvSpPr>
        <p:spPr>
          <a:xfrm flipH="false" flipV="false" rot="0">
            <a:off x="9581072" y="1877049"/>
            <a:ext cx="15123267" cy="10997674"/>
          </a:xfrm>
          <a:custGeom>
            <a:avLst/>
            <a:gdLst/>
            <a:ahLst/>
            <a:cxnLst/>
            <a:rect r="r" b="b" t="t" l="l"/>
            <a:pathLst>
              <a:path h="10997674" w="15123267">
                <a:moveTo>
                  <a:pt x="0" y="0"/>
                </a:moveTo>
                <a:lnTo>
                  <a:pt x="15123267" y="0"/>
                </a:lnTo>
                <a:lnTo>
                  <a:pt x="15123267" y="10997674"/>
                </a:lnTo>
                <a:lnTo>
                  <a:pt x="0" y="10997674"/>
                </a:lnTo>
                <a:lnTo>
                  <a:pt x="0" y="0"/>
                </a:lnTo>
                <a:close/>
              </a:path>
            </a:pathLst>
          </a:custGeom>
          <a:blipFill>
            <a:blip r:embed="rId9"/>
            <a:stretch>
              <a:fillRect l="-29280" t="0" r="0" b="0"/>
            </a:stretch>
          </a:blipFill>
        </p:spPr>
      </p:sp>
      <p:sp>
        <p:nvSpPr>
          <p:cNvPr name="TextBox 11" id="11"/>
          <p:cNvSpPr txBox="true"/>
          <p:nvPr/>
        </p:nvSpPr>
        <p:spPr>
          <a:xfrm rot="0">
            <a:off x="4654127" y="2377271"/>
            <a:ext cx="8656694" cy="1011175"/>
          </a:xfrm>
          <a:prstGeom prst="rect">
            <a:avLst/>
          </a:prstGeom>
        </p:spPr>
        <p:txBody>
          <a:bodyPr anchor="t" rtlCol="false" tIns="0" lIns="0" bIns="0" rIns="0">
            <a:spAutoFit/>
          </a:bodyPr>
          <a:lstStyle/>
          <a:p>
            <a:pPr algn="ctr">
              <a:lnSpc>
                <a:spcPts val="4115"/>
              </a:lnSpc>
            </a:pPr>
            <a:r>
              <a:rPr lang="en-US" sz="2939" spc="-61">
                <a:solidFill>
                  <a:srgbClr val="F6F4F1"/>
                </a:solidFill>
                <a:latin typeface="Montserrat"/>
                <a:ea typeface="Montserrat"/>
                <a:cs typeface="Montserrat"/>
                <a:sym typeface="Montserrat"/>
              </a:rPr>
              <a:t>Analisis Perspektif dari Media dan Opini Publik</a:t>
            </a:r>
          </a:p>
          <a:p>
            <a:pPr algn="ctr">
              <a:lnSpc>
                <a:spcPts val="4115"/>
              </a:lnSpc>
              <a:spcBef>
                <a:spcPct val="0"/>
              </a:spcBef>
            </a:pPr>
          </a:p>
        </p:txBody>
      </p:sp>
      <p:grpSp>
        <p:nvGrpSpPr>
          <p:cNvPr name="Group 12" id="12"/>
          <p:cNvGrpSpPr/>
          <p:nvPr/>
        </p:nvGrpSpPr>
        <p:grpSpPr>
          <a:xfrm rot="0">
            <a:off x="981075" y="8872663"/>
            <a:ext cx="3839666" cy="771274"/>
            <a:chOff x="0" y="0"/>
            <a:chExt cx="1011270" cy="203134"/>
          </a:xfrm>
        </p:grpSpPr>
        <p:sp>
          <p:nvSpPr>
            <p:cNvPr name="Freeform 13" id="13"/>
            <p:cNvSpPr/>
            <p:nvPr/>
          </p:nvSpPr>
          <p:spPr>
            <a:xfrm flipH="false" flipV="false" rot="0">
              <a:off x="0" y="0"/>
              <a:ext cx="1011270" cy="203134"/>
            </a:xfrm>
            <a:custGeom>
              <a:avLst/>
              <a:gdLst/>
              <a:ahLst/>
              <a:cxnLst/>
              <a:rect r="r" b="b" t="t" l="l"/>
              <a:pathLst>
                <a:path h="203134" w="1011270">
                  <a:moveTo>
                    <a:pt x="101567" y="0"/>
                  </a:moveTo>
                  <a:lnTo>
                    <a:pt x="909703" y="0"/>
                  </a:lnTo>
                  <a:cubicBezTo>
                    <a:pt x="936640" y="0"/>
                    <a:pt x="962474" y="10701"/>
                    <a:pt x="981522" y="29748"/>
                  </a:cubicBezTo>
                  <a:cubicBezTo>
                    <a:pt x="1000569" y="48796"/>
                    <a:pt x="1011270" y="74630"/>
                    <a:pt x="1011270" y="101567"/>
                  </a:cubicBezTo>
                  <a:lnTo>
                    <a:pt x="1011270" y="101567"/>
                  </a:lnTo>
                  <a:cubicBezTo>
                    <a:pt x="1011270" y="128504"/>
                    <a:pt x="1000569" y="154338"/>
                    <a:pt x="981522" y="173386"/>
                  </a:cubicBezTo>
                  <a:cubicBezTo>
                    <a:pt x="962474" y="192433"/>
                    <a:pt x="936640" y="203134"/>
                    <a:pt x="909703" y="203134"/>
                  </a:cubicBezTo>
                  <a:lnTo>
                    <a:pt x="101567" y="203134"/>
                  </a:lnTo>
                  <a:cubicBezTo>
                    <a:pt x="74630" y="203134"/>
                    <a:pt x="48796" y="192433"/>
                    <a:pt x="29748" y="173386"/>
                  </a:cubicBezTo>
                  <a:cubicBezTo>
                    <a:pt x="10701" y="154338"/>
                    <a:pt x="0" y="128504"/>
                    <a:pt x="0" y="101567"/>
                  </a:cubicBezTo>
                  <a:lnTo>
                    <a:pt x="0" y="101567"/>
                  </a:lnTo>
                  <a:cubicBezTo>
                    <a:pt x="0" y="74630"/>
                    <a:pt x="10701" y="48796"/>
                    <a:pt x="29748" y="29748"/>
                  </a:cubicBezTo>
                  <a:cubicBezTo>
                    <a:pt x="48796" y="10701"/>
                    <a:pt x="74630" y="0"/>
                    <a:pt x="101567" y="0"/>
                  </a:cubicBezTo>
                  <a:close/>
                </a:path>
              </a:pathLst>
            </a:custGeom>
            <a:solidFill>
              <a:srgbClr val="F1F0EC"/>
            </a:solidFill>
          </p:spPr>
        </p:sp>
        <p:sp>
          <p:nvSpPr>
            <p:cNvPr name="TextBox 14" id="14"/>
            <p:cNvSpPr txBox="true"/>
            <p:nvPr/>
          </p:nvSpPr>
          <p:spPr>
            <a:xfrm>
              <a:off x="0" y="0"/>
              <a:ext cx="1011270" cy="203134"/>
            </a:xfrm>
            <a:prstGeom prst="rect">
              <a:avLst/>
            </a:prstGeom>
          </p:spPr>
          <p:txBody>
            <a:bodyPr anchor="ctr" rtlCol="false" tIns="63500" lIns="63500" bIns="63500" rIns="63500"/>
            <a:lstStyle/>
            <a:p>
              <a:pPr algn="ctr">
                <a:lnSpc>
                  <a:spcPts val="2640"/>
                </a:lnSpc>
              </a:pPr>
              <a:r>
                <a:rPr lang="en-US" b="true" sz="2400" spc="38">
                  <a:solidFill>
                    <a:srgbClr val="2D2C2D"/>
                  </a:solidFill>
                  <a:latin typeface="Poppins Bold"/>
                  <a:ea typeface="Poppins Bold"/>
                  <a:cs typeface="Poppins Bold"/>
                  <a:sym typeface="Poppins Bold"/>
                </a:rPr>
                <a:t>FERRY IRWANDI</a:t>
              </a:r>
            </a:p>
          </p:txBody>
        </p:sp>
      </p:grpSp>
      <p:grpSp>
        <p:nvGrpSpPr>
          <p:cNvPr name="Group 15" id="15"/>
          <p:cNvGrpSpPr/>
          <p:nvPr/>
        </p:nvGrpSpPr>
        <p:grpSpPr>
          <a:xfrm rot="0">
            <a:off x="13419634" y="8872663"/>
            <a:ext cx="3839666" cy="771274"/>
            <a:chOff x="0" y="0"/>
            <a:chExt cx="1011270" cy="203134"/>
          </a:xfrm>
        </p:grpSpPr>
        <p:sp>
          <p:nvSpPr>
            <p:cNvPr name="Freeform 16" id="16"/>
            <p:cNvSpPr/>
            <p:nvPr/>
          </p:nvSpPr>
          <p:spPr>
            <a:xfrm flipH="false" flipV="false" rot="0">
              <a:off x="0" y="0"/>
              <a:ext cx="1011270" cy="203134"/>
            </a:xfrm>
            <a:custGeom>
              <a:avLst/>
              <a:gdLst/>
              <a:ahLst/>
              <a:cxnLst/>
              <a:rect r="r" b="b" t="t" l="l"/>
              <a:pathLst>
                <a:path h="203134" w="1011270">
                  <a:moveTo>
                    <a:pt x="101567" y="0"/>
                  </a:moveTo>
                  <a:lnTo>
                    <a:pt x="909703" y="0"/>
                  </a:lnTo>
                  <a:cubicBezTo>
                    <a:pt x="936640" y="0"/>
                    <a:pt x="962474" y="10701"/>
                    <a:pt x="981522" y="29748"/>
                  </a:cubicBezTo>
                  <a:cubicBezTo>
                    <a:pt x="1000569" y="48796"/>
                    <a:pt x="1011270" y="74630"/>
                    <a:pt x="1011270" y="101567"/>
                  </a:cubicBezTo>
                  <a:lnTo>
                    <a:pt x="1011270" y="101567"/>
                  </a:lnTo>
                  <a:cubicBezTo>
                    <a:pt x="1011270" y="128504"/>
                    <a:pt x="1000569" y="154338"/>
                    <a:pt x="981522" y="173386"/>
                  </a:cubicBezTo>
                  <a:cubicBezTo>
                    <a:pt x="962474" y="192433"/>
                    <a:pt x="936640" y="203134"/>
                    <a:pt x="909703" y="203134"/>
                  </a:cubicBezTo>
                  <a:lnTo>
                    <a:pt x="101567" y="203134"/>
                  </a:lnTo>
                  <a:cubicBezTo>
                    <a:pt x="74630" y="203134"/>
                    <a:pt x="48796" y="192433"/>
                    <a:pt x="29748" y="173386"/>
                  </a:cubicBezTo>
                  <a:cubicBezTo>
                    <a:pt x="10701" y="154338"/>
                    <a:pt x="0" y="128504"/>
                    <a:pt x="0" y="101567"/>
                  </a:cubicBezTo>
                  <a:lnTo>
                    <a:pt x="0" y="101567"/>
                  </a:lnTo>
                  <a:cubicBezTo>
                    <a:pt x="0" y="74630"/>
                    <a:pt x="10701" y="48796"/>
                    <a:pt x="29748" y="29748"/>
                  </a:cubicBezTo>
                  <a:cubicBezTo>
                    <a:pt x="48796" y="10701"/>
                    <a:pt x="74630" y="0"/>
                    <a:pt x="101567" y="0"/>
                  </a:cubicBezTo>
                  <a:close/>
                </a:path>
              </a:pathLst>
            </a:custGeom>
            <a:solidFill>
              <a:srgbClr val="F1F0EC"/>
            </a:solidFill>
          </p:spPr>
        </p:sp>
        <p:sp>
          <p:nvSpPr>
            <p:cNvPr name="TextBox 17" id="17"/>
            <p:cNvSpPr txBox="true"/>
            <p:nvPr/>
          </p:nvSpPr>
          <p:spPr>
            <a:xfrm>
              <a:off x="0" y="0"/>
              <a:ext cx="1011270" cy="203134"/>
            </a:xfrm>
            <a:prstGeom prst="rect">
              <a:avLst/>
            </a:prstGeom>
          </p:spPr>
          <p:txBody>
            <a:bodyPr anchor="ctr" rtlCol="false" tIns="63500" lIns="63500" bIns="63500" rIns="63500"/>
            <a:lstStyle/>
            <a:p>
              <a:pPr algn="ctr">
                <a:lnSpc>
                  <a:spcPts val="2640"/>
                </a:lnSpc>
              </a:pPr>
              <a:r>
                <a:rPr lang="en-US" b="true" sz="2400" spc="38">
                  <a:solidFill>
                    <a:srgbClr val="2D2C2D"/>
                  </a:solidFill>
                  <a:latin typeface="Poppins Bold"/>
                  <a:ea typeface="Poppins Bold"/>
                  <a:cs typeface="Poppins Bold"/>
                  <a:sym typeface="Poppins Bold"/>
                </a:rPr>
                <a:t>ZULKIFLI HASAN</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AutoShape 3" id="3"/>
          <p:cNvSpPr/>
          <p:nvPr/>
        </p:nvSpPr>
        <p:spPr>
          <a:xfrm rot="0">
            <a:off x="326903" y="8163988"/>
            <a:ext cx="17634195" cy="1675840"/>
          </a:xfrm>
          <a:prstGeom prst="rect">
            <a:avLst/>
          </a:prstGeom>
          <a:solidFill>
            <a:srgbClr val="F1F0EC"/>
          </a:solidFill>
        </p:spPr>
      </p:sp>
      <p:grpSp>
        <p:nvGrpSpPr>
          <p:cNvPr name="Group 4" id="4"/>
          <p:cNvGrpSpPr/>
          <p:nvPr/>
        </p:nvGrpSpPr>
        <p:grpSpPr>
          <a:xfrm rot="0">
            <a:off x="12665075" y="2313284"/>
            <a:ext cx="2022427" cy="668124"/>
            <a:chOff x="0" y="0"/>
            <a:chExt cx="515044" cy="170149"/>
          </a:xfrm>
        </p:grpSpPr>
        <p:sp>
          <p:nvSpPr>
            <p:cNvPr name="Freeform 5" id="5"/>
            <p:cNvSpPr/>
            <p:nvPr/>
          </p:nvSpPr>
          <p:spPr>
            <a:xfrm flipH="false" flipV="false" rot="0">
              <a:off x="0" y="0"/>
              <a:ext cx="515044" cy="170149"/>
            </a:xfrm>
            <a:custGeom>
              <a:avLst/>
              <a:gdLst/>
              <a:ahLst/>
              <a:cxnLst/>
              <a:rect r="r" b="b" t="t" l="l"/>
              <a:pathLst>
                <a:path h="170149" w="515044">
                  <a:moveTo>
                    <a:pt x="85074" y="0"/>
                  </a:moveTo>
                  <a:lnTo>
                    <a:pt x="429970" y="0"/>
                  </a:lnTo>
                  <a:cubicBezTo>
                    <a:pt x="452533" y="0"/>
                    <a:pt x="474172" y="8963"/>
                    <a:pt x="490126" y="24918"/>
                  </a:cubicBezTo>
                  <a:cubicBezTo>
                    <a:pt x="506081" y="40872"/>
                    <a:pt x="515044" y="62511"/>
                    <a:pt x="515044" y="85074"/>
                  </a:cubicBezTo>
                  <a:lnTo>
                    <a:pt x="515044" y="85074"/>
                  </a:lnTo>
                  <a:cubicBezTo>
                    <a:pt x="515044" y="132060"/>
                    <a:pt x="476955" y="170149"/>
                    <a:pt x="429970" y="170149"/>
                  </a:cubicBezTo>
                  <a:lnTo>
                    <a:pt x="85074" y="170149"/>
                  </a:lnTo>
                  <a:cubicBezTo>
                    <a:pt x="38089" y="170149"/>
                    <a:pt x="0" y="132060"/>
                    <a:pt x="0" y="85074"/>
                  </a:cubicBezTo>
                  <a:lnTo>
                    <a:pt x="0" y="85074"/>
                  </a:lnTo>
                  <a:cubicBezTo>
                    <a:pt x="0" y="38089"/>
                    <a:pt x="38089" y="0"/>
                    <a:pt x="85074" y="0"/>
                  </a:cubicBezTo>
                  <a:close/>
                </a:path>
              </a:pathLst>
            </a:custGeom>
            <a:solidFill>
              <a:srgbClr val="F6F4F1"/>
            </a:solidFill>
          </p:spPr>
        </p:sp>
        <p:sp>
          <p:nvSpPr>
            <p:cNvPr name="TextBox 6" id="6"/>
            <p:cNvSpPr txBox="true"/>
            <p:nvPr/>
          </p:nvSpPr>
          <p:spPr>
            <a:xfrm>
              <a:off x="0" y="76200"/>
              <a:ext cx="515044"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Fase 3 :</a:t>
              </a:r>
            </a:p>
          </p:txBody>
        </p:sp>
      </p:grpSp>
      <p:grpSp>
        <p:nvGrpSpPr>
          <p:cNvPr name="Group 7" id="7"/>
          <p:cNvGrpSpPr/>
          <p:nvPr/>
        </p:nvGrpSpPr>
        <p:grpSpPr>
          <a:xfrm rot="0">
            <a:off x="-2973546" y="-398482"/>
            <a:ext cx="8806021" cy="7276384"/>
            <a:chOff x="0" y="0"/>
            <a:chExt cx="11741362" cy="9701845"/>
          </a:xfrm>
        </p:grpSpPr>
        <p:sp>
          <p:nvSpPr>
            <p:cNvPr name="Freeform 8" id="8"/>
            <p:cNvSpPr/>
            <p:nvPr/>
          </p:nvSpPr>
          <p:spPr>
            <a:xfrm flipH="false" flipV="false" rot="0">
              <a:off x="1053598" y="0"/>
              <a:ext cx="9394547" cy="9394547"/>
            </a:xfrm>
            <a:custGeom>
              <a:avLst/>
              <a:gdLst/>
              <a:ahLst/>
              <a:cxnLst/>
              <a:rect r="r" b="b" t="t" l="l"/>
              <a:pathLst>
                <a:path h="9394547" w="9394547">
                  <a:moveTo>
                    <a:pt x="0" y="0"/>
                  </a:moveTo>
                  <a:lnTo>
                    <a:pt x="9394547" y="0"/>
                  </a:lnTo>
                  <a:lnTo>
                    <a:pt x="9394547" y="9394547"/>
                  </a:lnTo>
                  <a:lnTo>
                    <a:pt x="0" y="9394547"/>
                  </a:lnTo>
                  <a:lnTo>
                    <a:pt x="0" y="0"/>
                  </a:lnTo>
                  <a:close/>
                </a:path>
              </a:pathLst>
            </a:custGeom>
            <a:blipFill>
              <a:blip r:embed="rId3"/>
              <a:stretch>
                <a:fillRect l="0" t="0" r="0" b="0"/>
              </a:stretch>
            </a:blipFill>
          </p:spPr>
        </p:sp>
        <p:sp>
          <p:nvSpPr>
            <p:cNvPr name="Freeform 9" id="9"/>
            <p:cNvSpPr/>
            <p:nvPr/>
          </p:nvSpPr>
          <p:spPr>
            <a:xfrm flipH="false" flipV="false" rot="0">
              <a:off x="3650959" y="910511"/>
              <a:ext cx="5763355" cy="5572412"/>
            </a:xfrm>
            <a:custGeom>
              <a:avLst/>
              <a:gdLst/>
              <a:ahLst/>
              <a:cxnLst/>
              <a:rect r="r" b="b" t="t" l="l"/>
              <a:pathLst>
                <a:path h="5572412" w="5763355">
                  <a:moveTo>
                    <a:pt x="0" y="0"/>
                  </a:moveTo>
                  <a:lnTo>
                    <a:pt x="5763356" y="0"/>
                  </a:lnTo>
                  <a:lnTo>
                    <a:pt x="5763356" y="5572412"/>
                  </a:lnTo>
                  <a:lnTo>
                    <a:pt x="0" y="5572412"/>
                  </a:lnTo>
                  <a:lnTo>
                    <a:pt x="0" y="0"/>
                  </a:lnTo>
                  <a:close/>
                </a:path>
              </a:pathLst>
            </a:custGeom>
            <a:blipFill>
              <a:blip r:embed="rId4"/>
              <a:stretch>
                <a:fillRect l="-53389" t="0" r="-47229" b="-21417"/>
              </a:stretch>
            </a:blipFill>
          </p:spPr>
        </p:sp>
        <p:sp>
          <p:nvSpPr>
            <p:cNvPr name="Freeform 10" id="10"/>
            <p:cNvSpPr/>
            <p:nvPr/>
          </p:nvSpPr>
          <p:spPr>
            <a:xfrm flipH="false" flipV="false" rot="0">
              <a:off x="0" y="3609860"/>
              <a:ext cx="11501742" cy="5420196"/>
            </a:xfrm>
            <a:custGeom>
              <a:avLst/>
              <a:gdLst/>
              <a:ahLst/>
              <a:cxnLst/>
              <a:rect r="r" b="b" t="t" l="l"/>
              <a:pathLst>
                <a:path h="5420196" w="11501742">
                  <a:moveTo>
                    <a:pt x="0" y="0"/>
                  </a:moveTo>
                  <a:lnTo>
                    <a:pt x="11501742" y="0"/>
                  </a:lnTo>
                  <a:lnTo>
                    <a:pt x="11501742" y="5420196"/>
                  </a:lnTo>
                  <a:lnTo>
                    <a:pt x="0" y="54201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239620" y="3849479"/>
              <a:ext cx="11501742" cy="5420196"/>
            </a:xfrm>
            <a:custGeom>
              <a:avLst/>
              <a:gdLst/>
              <a:ahLst/>
              <a:cxnLst/>
              <a:rect r="r" b="b" t="t" l="l"/>
              <a:pathLst>
                <a:path h="5420196" w="11501742">
                  <a:moveTo>
                    <a:pt x="0" y="0"/>
                  </a:moveTo>
                  <a:lnTo>
                    <a:pt x="11501742" y="0"/>
                  </a:lnTo>
                  <a:lnTo>
                    <a:pt x="11501742" y="5420196"/>
                  </a:lnTo>
                  <a:lnTo>
                    <a:pt x="0" y="54201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0" y="4281649"/>
              <a:ext cx="11501742" cy="5420196"/>
            </a:xfrm>
            <a:custGeom>
              <a:avLst/>
              <a:gdLst/>
              <a:ahLst/>
              <a:cxnLst/>
              <a:rect r="r" b="b" t="t" l="l"/>
              <a:pathLst>
                <a:path h="5420196" w="11501742">
                  <a:moveTo>
                    <a:pt x="0" y="0"/>
                  </a:moveTo>
                  <a:lnTo>
                    <a:pt x="11501742" y="0"/>
                  </a:lnTo>
                  <a:lnTo>
                    <a:pt x="11501742" y="5420196"/>
                  </a:lnTo>
                  <a:lnTo>
                    <a:pt x="0" y="54201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3" id="13"/>
          <p:cNvGrpSpPr/>
          <p:nvPr/>
        </p:nvGrpSpPr>
        <p:grpSpPr>
          <a:xfrm rot="0">
            <a:off x="491802" y="2313284"/>
            <a:ext cx="2022427" cy="668124"/>
            <a:chOff x="0" y="0"/>
            <a:chExt cx="515044" cy="170149"/>
          </a:xfrm>
        </p:grpSpPr>
        <p:sp>
          <p:nvSpPr>
            <p:cNvPr name="Freeform 14" id="14"/>
            <p:cNvSpPr/>
            <p:nvPr/>
          </p:nvSpPr>
          <p:spPr>
            <a:xfrm flipH="false" flipV="false" rot="0">
              <a:off x="0" y="0"/>
              <a:ext cx="515044" cy="170149"/>
            </a:xfrm>
            <a:custGeom>
              <a:avLst/>
              <a:gdLst/>
              <a:ahLst/>
              <a:cxnLst/>
              <a:rect r="r" b="b" t="t" l="l"/>
              <a:pathLst>
                <a:path h="170149" w="515044">
                  <a:moveTo>
                    <a:pt x="85074" y="0"/>
                  </a:moveTo>
                  <a:lnTo>
                    <a:pt x="429970" y="0"/>
                  </a:lnTo>
                  <a:cubicBezTo>
                    <a:pt x="452533" y="0"/>
                    <a:pt x="474172" y="8963"/>
                    <a:pt x="490126" y="24918"/>
                  </a:cubicBezTo>
                  <a:cubicBezTo>
                    <a:pt x="506081" y="40872"/>
                    <a:pt x="515044" y="62511"/>
                    <a:pt x="515044" y="85074"/>
                  </a:cubicBezTo>
                  <a:lnTo>
                    <a:pt x="515044" y="85074"/>
                  </a:lnTo>
                  <a:cubicBezTo>
                    <a:pt x="515044" y="132060"/>
                    <a:pt x="476955" y="170149"/>
                    <a:pt x="429970" y="170149"/>
                  </a:cubicBezTo>
                  <a:lnTo>
                    <a:pt x="85074" y="170149"/>
                  </a:lnTo>
                  <a:cubicBezTo>
                    <a:pt x="38089" y="170149"/>
                    <a:pt x="0" y="132060"/>
                    <a:pt x="0" y="85074"/>
                  </a:cubicBezTo>
                  <a:lnTo>
                    <a:pt x="0" y="85074"/>
                  </a:lnTo>
                  <a:cubicBezTo>
                    <a:pt x="0" y="38089"/>
                    <a:pt x="38089" y="0"/>
                    <a:pt x="85074" y="0"/>
                  </a:cubicBezTo>
                  <a:close/>
                </a:path>
              </a:pathLst>
            </a:custGeom>
            <a:solidFill>
              <a:srgbClr val="F6F4F1"/>
            </a:solidFill>
          </p:spPr>
        </p:sp>
        <p:sp>
          <p:nvSpPr>
            <p:cNvPr name="TextBox 15" id="15"/>
            <p:cNvSpPr txBox="true"/>
            <p:nvPr/>
          </p:nvSpPr>
          <p:spPr>
            <a:xfrm>
              <a:off x="0" y="76200"/>
              <a:ext cx="515044"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Fase 1 :</a:t>
              </a:r>
            </a:p>
          </p:txBody>
        </p:sp>
      </p:grpSp>
      <p:grpSp>
        <p:nvGrpSpPr>
          <p:cNvPr name="Group 16" id="16"/>
          <p:cNvGrpSpPr/>
          <p:nvPr/>
        </p:nvGrpSpPr>
        <p:grpSpPr>
          <a:xfrm rot="0">
            <a:off x="6476939" y="2313284"/>
            <a:ext cx="2022427" cy="668124"/>
            <a:chOff x="0" y="0"/>
            <a:chExt cx="515044" cy="170149"/>
          </a:xfrm>
        </p:grpSpPr>
        <p:sp>
          <p:nvSpPr>
            <p:cNvPr name="Freeform 17" id="17"/>
            <p:cNvSpPr/>
            <p:nvPr/>
          </p:nvSpPr>
          <p:spPr>
            <a:xfrm flipH="false" flipV="false" rot="0">
              <a:off x="0" y="0"/>
              <a:ext cx="515044" cy="170149"/>
            </a:xfrm>
            <a:custGeom>
              <a:avLst/>
              <a:gdLst/>
              <a:ahLst/>
              <a:cxnLst/>
              <a:rect r="r" b="b" t="t" l="l"/>
              <a:pathLst>
                <a:path h="170149" w="515044">
                  <a:moveTo>
                    <a:pt x="85074" y="0"/>
                  </a:moveTo>
                  <a:lnTo>
                    <a:pt x="429970" y="0"/>
                  </a:lnTo>
                  <a:cubicBezTo>
                    <a:pt x="452533" y="0"/>
                    <a:pt x="474172" y="8963"/>
                    <a:pt x="490126" y="24918"/>
                  </a:cubicBezTo>
                  <a:cubicBezTo>
                    <a:pt x="506081" y="40872"/>
                    <a:pt x="515044" y="62511"/>
                    <a:pt x="515044" y="85074"/>
                  </a:cubicBezTo>
                  <a:lnTo>
                    <a:pt x="515044" y="85074"/>
                  </a:lnTo>
                  <a:cubicBezTo>
                    <a:pt x="515044" y="132060"/>
                    <a:pt x="476955" y="170149"/>
                    <a:pt x="429970" y="170149"/>
                  </a:cubicBezTo>
                  <a:lnTo>
                    <a:pt x="85074" y="170149"/>
                  </a:lnTo>
                  <a:cubicBezTo>
                    <a:pt x="38089" y="170149"/>
                    <a:pt x="0" y="132060"/>
                    <a:pt x="0" y="85074"/>
                  </a:cubicBezTo>
                  <a:lnTo>
                    <a:pt x="0" y="85074"/>
                  </a:lnTo>
                  <a:cubicBezTo>
                    <a:pt x="0" y="38089"/>
                    <a:pt x="38089" y="0"/>
                    <a:pt x="85074" y="0"/>
                  </a:cubicBezTo>
                  <a:close/>
                </a:path>
              </a:pathLst>
            </a:custGeom>
            <a:solidFill>
              <a:srgbClr val="F6F4F1"/>
            </a:solidFill>
          </p:spPr>
        </p:sp>
        <p:sp>
          <p:nvSpPr>
            <p:cNvPr name="TextBox 18" id="18"/>
            <p:cNvSpPr txBox="true"/>
            <p:nvPr/>
          </p:nvSpPr>
          <p:spPr>
            <a:xfrm>
              <a:off x="0" y="76200"/>
              <a:ext cx="515044"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Fase 2 :</a:t>
              </a:r>
            </a:p>
          </p:txBody>
        </p:sp>
      </p:grpSp>
      <p:grpSp>
        <p:nvGrpSpPr>
          <p:cNvPr name="Group 19" id="19"/>
          <p:cNvGrpSpPr/>
          <p:nvPr/>
        </p:nvGrpSpPr>
        <p:grpSpPr>
          <a:xfrm rot="0">
            <a:off x="13419943" y="-638351"/>
            <a:ext cx="7678714" cy="6571394"/>
            <a:chOff x="0" y="0"/>
            <a:chExt cx="10238285" cy="8761858"/>
          </a:xfrm>
        </p:grpSpPr>
        <p:sp>
          <p:nvSpPr>
            <p:cNvPr name="Freeform 20" id="20"/>
            <p:cNvSpPr/>
            <p:nvPr/>
          </p:nvSpPr>
          <p:spPr>
            <a:xfrm flipH="false" flipV="false" rot="0">
              <a:off x="717997"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21" id="21"/>
            <p:cNvSpPr/>
            <p:nvPr/>
          </p:nvSpPr>
          <p:spPr>
            <a:xfrm flipH="false" flipV="false" rot="0">
              <a:off x="0" y="3933833"/>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2" id="22"/>
            <p:cNvSpPr/>
            <p:nvPr/>
          </p:nvSpPr>
          <p:spPr>
            <a:xfrm flipH="false" flipV="false" rot="0">
              <a:off x="203200" y="4137033"/>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3" id="23"/>
            <p:cNvSpPr/>
            <p:nvPr/>
          </p:nvSpPr>
          <p:spPr>
            <a:xfrm flipH="false" flipV="false" rot="0">
              <a:off x="484685" y="4165474"/>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4" id="24"/>
            <p:cNvSpPr/>
            <p:nvPr/>
          </p:nvSpPr>
          <p:spPr>
            <a:xfrm flipH="false" flipV="false" rot="0">
              <a:off x="1951010" y="629597"/>
              <a:ext cx="5781586" cy="5858870"/>
            </a:xfrm>
            <a:custGeom>
              <a:avLst/>
              <a:gdLst/>
              <a:ahLst/>
              <a:cxnLst/>
              <a:rect r="r" b="b" t="t" l="l"/>
              <a:pathLst>
                <a:path h="5858870" w="5781586">
                  <a:moveTo>
                    <a:pt x="0" y="0"/>
                  </a:moveTo>
                  <a:lnTo>
                    <a:pt x="5781586" y="0"/>
                  </a:lnTo>
                  <a:lnTo>
                    <a:pt x="5781586" y="5858870"/>
                  </a:lnTo>
                  <a:lnTo>
                    <a:pt x="0" y="5858870"/>
                  </a:lnTo>
                  <a:lnTo>
                    <a:pt x="0" y="0"/>
                  </a:lnTo>
                  <a:close/>
                </a:path>
              </a:pathLst>
            </a:custGeom>
            <a:blipFill>
              <a:blip r:embed="rId7"/>
              <a:stretch>
                <a:fillRect l="-38255" t="0" r="-13844" b="0"/>
              </a:stretch>
            </a:blipFill>
          </p:spPr>
        </p:sp>
      </p:grpSp>
      <p:grpSp>
        <p:nvGrpSpPr>
          <p:cNvPr name="Group 25" id="25"/>
          <p:cNvGrpSpPr/>
          <p:nvPr/>
        </p:nvGrpSpPr>
        <p:grpSpPr>
          <a:xfrm rot="0">
            <a:off x="355478" y="3352242"/>
            <a:ext cx="5156936" cy="4482339"/>
            <a:chOff x="0" y="0"/>
            <a:chExt cx="1967401" cy="1710038"/>
          </a:xfrm>
        </p:grpSpPr>
        <p:sp>
          <p:nvSpPr>
            <p:cNvPr name="Freeform 26" id="26"/>
            <p:cNvSpPr/>
            <p:nvPr/>
          </p:nvSpPr>
          <p:spPr>
            <a:xfrm flipH="false" flipV="false" rot="0">
              <a:off x="0" y="0"/>
              <a:ext cx="1967401" cy="1710038"/>
            </a:xfrm>
            <a:custGeom>
              <a:avLst/>
              <a:gdLst/>
              <a:ahLst/>
              <a:cxnLst/>
              <a:rect r="r" b="b" t="t" l="l"/>
              <a:pathLst>
                <a:path h="1710038" w="1967401">
                  <a:moveTo>
                    <a:pt x="22519" y="0"/>
                  </a:moveTo>
                  <a:lnTo>
                    <a:pt x="1944882" y="0"/>
                  </a:lnTo>
                  <a:cubicBezTo>
                    <a:pt x="1950855" y="0"/>
                    <a:pt x="1956582" y="2373"/>
                    <a:pt x="1960805" y="6596"/>
                  </a:cubicBezTo>
                  <a:cubicBezTo>
                    <a:pt x="1965029" y="10819"/>
                    <a:pt x="1967401" y="16547"/>
                    <a:pt x="1967401" y="22519"/>
                  </a:cubicBezTo>
                  <a:lnTo>
                    <a:pt x="1967401" y="1687519"/>
                  </a:lnTo>
                  <a:cubicBezTo>
                    <a:pt x="1967401" y="1693492"/>
                    <a:pt x="1965029" y="1699220"/>
                    <a:pt x="1960805" y="1703443"/>
                  </a:cubicBezTo>
                  <a:cubicBezTo>
                    <a:pt x="1956582" y="1707666"/>
                    <a:pt x="1950855" y="1710038"/>
                    <a:pt x="1944882" y="1710038"/>
                  </a:cubicBezTo>
                  <a:lnTo>
                    <a:pt x="22519" y="1710038"/>
                  </a:lnTo>
                  <a:cubicBezTo>
                    <a:pt x="16547" y="1710038"/>
                    <a:pt x="10819" y="1707666"/>
                    <a:pt x="6596" y="1703443"/>
                  </a:cubicBezTo>
                  <a:cubicBezTo>
                    <a:pt x="2373" y="1699220"/>
                    <a:pt x="0" y="1693492"/>
                    <a:pt x="0" y="1687519"/>
                  </a:cubicBezTo>
                  <a:lnTo>
                    <a:pt x="0" y="22519"/>
                  </a:lnTo>
                  <a:cubicBezTo>
                    <a:pt x="0" y="16547"/>
                    <a:pt x="2373" y="10819"/>
                    <a:pt x="6596" y="6596"/>
                  </a:cubicBezTo>
                  <a:cubicBezTo>
                    <a:pt x="10819" y="2373"/>
                    <a:pt x="16547" y="0"/>
                    <a:pt x="22519" y="0"/>
                  </a:cubicBezTo>
                  <a:close/>
                </a:path>
              </a:pathLst>
            </a:custGeom>
            <a:solidFill>
              <a:srgbClr val="8F1EAE"/>
            </a:solidFill>
          </p:spPr>
        </p:sp>
        <p:sp>
          <p:nvSpPr>
            <p:cNvPr name="TextBox 27" id="27"/>
            <p:cNvSpPr txBox="true"/>
            <p:nvPr/>
          </p:nvSpPr>
          <p:spPr>
            <a:xfrm>
              <a:off x="0" y="76200"/>
              <a:ext cx="1967401" cy="1633838"/>
            </a:xfrm>
            <a:prstGeom prst="rect">
              <a:avLst/>
            </a:prstGeom>
          </p:spPr>
          <p:txBody>
            <a:bodyPr anchor="ctr" rtlCol="false" tIns="50800" lIns="50800" bIns="50800" rIns="50800"/>
            <a:lstStyle/>
            <a:p>
              <a:pPr algn="ctr">
                <a:lnSpc>
                  <a:spcPts val="1925"/>
                </a:lnSpc>
              </a:pPr>
            </a:p>
          </p:txBody>
        </p:sp>
      </p:grpSp>
      <p:grpSp>
        <p:nvGrpSpPr>
          <p:cNvPr name="Group 28" id="28"/>
          <p:cNvGrpSpPr/>
          <p:nvPr/>
        </p:nvGrpSpPr>
        <p:grpSpPr>
          <a:xfrm rot="0">
            <a:off x="6476939" y="3331528"/>
            <a:ext cx="5156936" cy="4482339"/>
            <a:chOff x="0" y="0"/>
            <a:chExt cx="1967401" cy="1710038"/>
          </a:xfrm>
        </p:grpSpPr>
        <p:sp>
          <p:nvSpPr>
            <p:cNvPr name="Freeform 29" id="29"/>
            <p:cNvSpPr/>
            <p:nvPr/>
          </p:nvSpPr>
          <p:spPr>
            <a:xfrm flipH="false" flipV="false" rot="0">
              <a:off x="0" y="0"/>
              <a:ext cx="1967401" cy="1710038"/>
            </a:xfrm>
            <a:custGeom>
              <a:avLst/>
              <a:gdLst/>
              <a:ahLst/>
              <a:cxnLst/>
              <a:rect r="r" b="b" t="t" l="l"/>
              <a:pathLst>
                <a:path h="1710038" w="1967401">
                  <a:moveTo>
                    <a:pt x="22519" y="0"/>
                  </a:moveTo>
                  <a:lnTo>
                    <a:pt x="1944882" y="0"/>
                  </a:lnTo>
                  <a:cubicBezTo>
                    <a:pt x="1950855" y="0"/>
                    <a:pt x="1956582" y="2373"/>
                    <a:pt x="1960805" y="6596"/>
                  </a:cubicBezTo>
                  <a:cubicBezTo>
                    <a:pt x="1965029" y="10819"/>
                    <a:pt x="1967401" y="16547"/>
                    <a:pt x="1967401" y="22519"/>
                  </a:cubicBezTo>
                  <a:lnTo>
                    <a:pt x="1967401" y="1687519"/>
                  </a:lnTo>
                  <a:cubicBezTo>
                    <a:pt x="1967401" y="1693492"/>
                    <a:pt x="1965029" y="1699220"/>
                    <a:pt x="1960805" y="1703443"/>
                  </a:cubicBezTo>
                  <a:cubicBezTo>
                    <a:pt x="1956582" y="1707666"/>
                    <a:pt x="1950855" y="1710038"/>
                    <a:pt x="1944882" y="1710038"/>
                  </a:cubicBezTo>
                  <a:lnTo>
                    <a:pt x="22519" y="1710038"/>
                  </a:lnTo>
                  <a:cubicBezTo>
                    <a:pt x="16547" y="1710038"/>
                    <a:pt x="10819" y="1707666"/>
                    <a:pt x="6596" y="1703443"/>
                  </a:cubicBezTo>
                  <a:cubicBezTo>
                    <a:pt x="2373" y="1699220"/>
                    <a:pt x="0" y="1693492"/>
                    <a:pt x="0" y="1687519"/>
                  </a:cubicBezTo>
                  <a:lnTo>
                    <a:pt x="0" y="22519"/>
                  </a:lnTo>
                  <a:cubicBezTo>
                    <a:pt x="0" y="16547"/>
                    <a:pt x="2373" y="10819"/>
                    <a:pt x="6596" y="6596"/>
                  </a:cubicBezTo>
                  <a:cubicBezTo>
                    <a:pt x="10819" y="2373"/>
                    <a:pt x="16547" y="0"/>
                    <a:pt x="22519" y="0"/>
                  </a:cubicBezTo>
                  <a:close/>
                </a:path>
              </a:pathLst>
            </a:custGeom>
            <a:solidFill>
              <a:srgbClr val="8F1EAE"/>
            </a:solidFill>
          </p:spPr>
        </p:sp>
        <p:sp>
          <p:nvSpPr>
            <p:cNvPr name="TextBox 30" id="30"/>
            <p:cNvSpPr txBox="true"/>
            <p:nvPr/>
          </p:nvSpPr>
          <p:spPr>
            <a:xfrm>
              <a:off x="0" y="76200"/>
              <a:ext cx="1967401" cy="1633838"/>
            </a:xfrm>
            <a:prstGeom prst="rect">
              <a:avLst/>
            </a:prstGeom>
          </p:spPr>
          <p:txBody>
            <a:bodyPr anchor="ctr" rtlCol="false" tIns="50800" lIns="50800" bIns="50800" rIns="50800"/>
            <a:lstStyle/>
            <a:p>
              <a:pPr algn="ctr">
                <a:lnSpc>
                  <a:spcPts val="1925"/>
                </a:lnSpc>
              </a:pPr>
            </a:p>
          </p:txBody>
        </p:sp>
      </p:grpSp>
      <p:grpSp>
        <p:nvGrpSpPr>
          <p:cNvPr name="Group 31" id="31"/>
          <p:cNvGrpSpPr/>
          <p:nvPr/>
        </p:nvGrpSpPr>
        <p:grpSpPr>
          <a:xfrm rot="0">
            <a:off x="12683015" y="3352242"/>
            <a:ext cx="5156936" cy="4482339"/>
            <a:chOff x="0" y="0"/>
            <a:chExt cx="1967401" cy="1710038"/>
          </a:xfrm>
        </p:grpSpPr>
        <p:sp>
          <p:nvSpPr>
            <p:cNvPr name="Freeform 32" id="32"/>
            <p:cNvSpPr/>
            <p:nvPr/>
          </p:nvSpPr>
          <p:spPr>
            <a:xfrm flipH="false" flipV="false" rot="0">
              <a:off x="0" y="0"/>
              <a:ext cx="1967401" cy="1710038"/>
            </a:xfrm>
            <a:custGeom>
              <a:avLst/>
              <a:gdLst/>
              <a:ahLst/>
              <a:cxnLst/>
              <a:rect r="r" b="b" t="t" l="l"/>
              <a:pathLst>
                <a:path h="1710038" w="1967401">
                  <a:moveTo>
                    <a:pt x="22519" y="0"/>
                  </a:moveTo>
                  <a:lnTo>
                    <a:pt x="1944882" y="0"/>
                  </a:lnTo>
                  <a:cubicBezTo>
                    <a:pt x="1950855" y="0"/>
                    <a:pt x="1956582" y="2373"/>
                    <a:pt x="1960805" y="6596"/>
                  </a:cubicBezTo>
                  <a:cubicBezTo>
                    <a:pt x="1965029" y="10819"/>
                    <a:pt x="1967401" y="16547"/>
                    <a:pt x="1967401" y="22519"/>
                  </a:cubicBezTo>
                  <a:lnTo>
                    <a:pt x="1967401" y="1687519"/>
                  </a:lnTo>
                  <a:cubicBezTo>
                    <a:pt x="1967401" y="1693492"/>
                    <a:pt x="1965029" y="1699220"/>
                    <a:pt x="1960805" y="1703443"/>
                  </a:cubicBezTo>
                  <a:cubicBezTo>
                    <a:pt x="1956582" y="1707666"/>
                    <a:pt x="1950855" y="1710038"/>
                    <a:pt x="1944882" y="1710038"/>
                  </a:cubicBezTo>
                  <a:lnTo>
                    <a:pt x="22519" y="1710038"/>
                  </a:lnTo>
                  <a:cubicBezTo>
                    <a:pt x="16547" y="1710038"/>
                    <a:pt x="10819" y="1707666"/>
                    <a:pt x="6596" y="1703443"/>
                  </a:cubicBezTo>
                  <a:cubicBezTo>
                    <a:pt x="2373" y="1699220"/>
                    <a:pt x="0" y="1693492"/>
                    <a:pt x="0" y="1687519"/>
                  </a:cubicBezTo>
                  <a:lnTo>
                    <a:pt x="0" y="22519"/>
                  </a:lnTo>
                  <a:cubicBezTo>
                    <a:pt x="0" y="16547"/>
                    <a:pt x="2373" y="10819"/>
                    <a:pt x="6596" y="6596"/>
                  </a:cubicBezTo>
                  <a:cubicBezTo>
                    <a:pt x="10819" y="2373"/>
                    <a:pt x="16547" y="0"/>
                    <a:pt x="22519" y="0"/>
                  </a:cubicBezTo>
                  <a:close/>
                </a:path>
              </a:pathLst>
            </a:custGeom>
            <a:solidFill>
              <a:srgbClr val="8F1EAE"/>
            </a:solidFill>
          </p:spPr>
        </p:sp>
        <p:sp>
          <p:nvSpPr>
            <p:cNvPr name="TextBox 33" id="33"/>
            <p:cNvSpPr txBox="true"/>
            <p:nvPr/>
          </p:nvSpPr>
          <p:spPr>
            <a:xfrm>
              <a:off x="0" y="76200"/>
              <a:ext cx="1967401" cy="1633838"/>
            </a:xfrm>
            <a:prstGeom prst="rect">
              <a:avLst/>
            </a:prstGeom>
          </p:spPr>
          <p:txBody>
            <a:bodyPr anchor="ctr" rtlCol="false" tIns="50800" lIns="50800" bIns="50800" rIns="50800"/>
            <a:lstStyle/>
            <a:p>
              <a:pPr algn="ctr">
                <a:lnSpc>
                  <a:spcPts val="1925"/>
                </a:lnSpc>
              </a:pPr>
            </a:p>
          </p:txBody>
        </p:sp>
      </p:grpSp>
      <p:sp>
        <p:nvSpPr>
          <p:cNvPr name="Freeform 34" id="34"/>
          <p:cNvSpPr/>
          <p:nvPr/>
        </p:nvSpPr>
        <p:spPr>
          <a:xfrm flipH="false" flipV="false" rot="0">
            <a:off x="5242302" y="5204238"/>
            <a:ext cx="1353164" cy="911315"/>
          </a:xfrm>
          <a:custGeom>
            <a:avLst/>
            <a:gdLst/>
            <a:ahLst/>
            <a:cxnLst/>
            <a:rect r="r" b="b" t="t" l="l"/>
            <a:pathLst>
              <a:path h="911315" w="1353164">
                <a:moveTo>
                  <a:pt x="0" y="0"/>
                </a:moveTo>
                <a:lnTo>
                  <a:pt x="1353164" y="0"/>
                </a:lnTo>
                <a:lnTo>
                  <a:pt x="1353164" y="911314"/>
                </a:lnTo>
                <a:lnTo>
                  <a:pt x="0" y="9113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5" id="35"/>
          <p:cNvSpPr txBox="true"/>
          <p:nvPr/>
        </p:nvSpPr>
        <p:spPr>
          <a:xfrm rot="0">
            <a:off x="3623195" y="670996"/>
            <a:ext cx="11306155" cy="1438682"/>
          </a:xfrm>
          <a:prstGeom prst="rect">
            <a:avLst/>
          </a:prstGeom>
        </p:spPr>
        <p:txBody>
          <a:bodyPr anchor="t" rtlCol="false" tIns="0" lIns="0" bIns="0" rIns="0">
            <a:spAutoFit/>
          </a:bodyPr>
          <a:lstStyle/>
          <a:p>
            <a:pPr algn="ctr">
              <a:lnSpc>
                <a:spcPts val="5577"/>
              </a:lnSpc>
            </a:pPr>
            <a:r>
              <a:rPr lang="en-US" b="true" sz="4498" spc="26">
                <a:solidFill>
                  <a:srgbClr val="F1F0EC"/>
                </a:solidFill>
                <a:latin typeface="Poppins Bold"/>
                <a:ea typeface="Poppins Bold"/>
                <a:cs typeface="Poppins Bold"/>
                <a:sym typeface="Poppins Bold"/>
              </a:rPr>
              <a:t>HASIL KESIMPULAN DARI RENTETAN PERISTIWA ZULKIFLI HASAN</a:t>
            </a:r>
          </a:p>
        </p:txBody>
      </p:sp>
      <p:sp>
        <p:nvSpPr>
          <p:cNvPr name="TextBox 36" id="36"/>
          <p:cNvSpPr txBox="true"/>
          <p:nvPr/>
        </p:nvSpPr>
        <p:spPr>
          <a:xfrm rot="0">
            <a:off x="1503016" y="8659733"/>
            <a:ext cx="14769680" cy="780325"/>
          </a:xfrm>
          <a:prstGeom prst="rect">
            <a:avLst/>
          </a:prstGeom>
        </p:spPr>
        <p:txBody>
          <a:bodyPr anchor="t" rtlCol="false" tIns="0" lIns="0" bIns="0" rIns="0">
            <a:spAutoFit/>
          </a:bodyPr>
          <a:lstStyle/>
          <a:p>
            <a:pPr algn="ctr">
              <a:lnSpc>
                <a:spcPts val="3189"/>
              </a:lnSpc>
            </a:pPr>
            <a:r>
              <a:rPr lang="en-US" sz="2278" b="true">
                <a:solidFill>
                  <a:srgbClr val="191919"/>
                </a:solidFill>
                <a:latin typeface="Montserrat Semi-Bold"/>
                <a:ea typeface="Montserrat Semi-Bold"/>
                <a:cs typeface="Montserrat Semi-Bold"/>
                <a:sym typeface="Montserrat Semi-Bold"/>
              </a:rPr>
              <a:t>Sentimen Publik secara keseluruhan bernilai negatif, bahkan setelah beliau melakukan klarifikasi. Hal ini menandakan bahwa sejak awal, publik sudah menilai negatif sosok zulkifli hasan. </a:t>
            </a:r>
          </a:p>
        </p:txBody>
      </p:sp>
      <p:sp>
        <p:nvSpPr>
          <p:cNvPr name="TextBox 37" id="37"/>
          <p:cNvSpPr txBox="true"/>
          <p:nvPr/>
        </p:nvSpPr>
        <p:spPr>
          <a:xfrm rot="0">
            <a:off x="555095" y="3590684"/>
            <a:ext cx="4662451" cy="396735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Semi-Bold"/>
                <a:ea typeface="Montserrat Semi-Bold"/>
                <a:cs typeface="Montserrat Semi-Bold"/>
                <a:sym typeface="Montserrat Semi-Bold"/>
              </a:rPr>
              <a:t>Diketahui framing video dokumenter harisson ford yang viral kembali membuat publik mulai mengaitkan dengan bencana banjir yang ada di sumatra saat ini. Sentimen publik menunjukan rasa marah atas hipokripsi. Masyarakat merasa Zulhas (sebagai ex-Menteri Kehutanan) bertanggung jawab atas deforestasi masa lalu</a:t>
            </a:r>
          </a:p>
        </p:txBody>
      </p:sp>
      <p:sp>
        <p:nvSpPr>
          <p:cNvPr name="TextBox 38" id="38"/>
          <p:cNvSpPr txBox="true"/>
          <p:nvPr/>
        </p:nvSpPr>
        <p:spPr>
          <a:xfrm rot="0">
            <a:off x="6685535" y="3620412"/>
            <a:ext cx="4824632" cy="396735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Semi-Bold"/>
                <a:ea typeface="Montserrat Semi-Bold"/>
                <a:cs typeface="Montserrat Semi-Bold"/>
                <a:sym typeface="Montserrat Semi-Bold"/>
              </a:rPr>
              <a:t>Video bantuan yang diupload di akun instagram zulkifli hasan memberikan banyak respon publik.  Potongan video saat memanggul beras menjadi sorotan publik yang dinilai sebagai tindakan pencitraan. dan juga publik menilai tindakan yang dilakukannya tidak pantas karena publik menilai zulhas sebagai salah satu biang terjadinya banjir sumatra.</a:t>
            </a:r>
          </a:p>
        </p:txBody>
      </p:sp>
      <p:sp>
        <p:nvSpPr>
          <p:cNvPr name="TextBox 39" id="39"/>
          <p:cNvSpPr txBox="true"/>
          <p:nvPr/>
        </p:nvSpPr>
        <p:spPr>
          <a:xfrm rot="0">
            <a:off x="12796204" y="3590684"/>
            <a:ext cx="4978182" cy="396735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Semi-Bold"/>
                <a:ea typeface="Montserrat Semi-Bold"/>
                <a:cs typeface="Montserrat Semi-Bold"/>
                <a:sym typeface="Montserrat Semi-Bold"/>
              </a:rPr>
              <a:t>Buntut dari framing negatif yang didapat oleh bapak zulhas. Beliau membuat klarifikasi di podcast denny sumargo. Akan tetapi, publik yang sudah terlanjur muak  tetap memberikan komentar negatif. dan juga publik menilai bahwa klarifikasi yang dilakukan oleh bapak zulhas terlalu defensif tidak ada pernyataan mengakui kesalahan atas apa yang telah dia perbuat</a:t>
            </a:r>
          </a:p>
        </p:txBody>
      </p:sp>
      <p:sp>
        <p:nvSpPr>
          <p:cNvPr name="Freeform 40" id="40"/>
          <p:cNvSpPr/>
          <p:nvPr/>
        </p:nvSpPr>
        <p:spPr>
          <a:xfrm flipH="false" flipV="false" rot="0">
            <a:off x="11500641" y="5194713"/>
            <a:ext cx="1353164" cy="911315"/>
          </a:xfrm>
          <a:custGeom>
            <a:avLst/>
            <a:gdLst/>
            <a:ahLst/>
            <a:cxnLst/>
            <a:rect r="r" b="b" t="t" l="l"/>
            <a:pathLst>
              <a:path h="911315" w="1353164">
                <a:moveTo>
                  <a:pt x="0" y="0"/>
                </a:moveTo>
                <a:lnTo>
                  <a:pt x="1353165" y="0"/>
                </a:lnTo>
                <a:lnTo>
                  <a:pt x="1353165" y="911314"/>
                </a:lnTo>
                <a:lnTo>
                  <a:pt x="0" y="9113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888888">
                <a:alpha val="100000"/>
              </a:srgbClr>
            </a:gs>
            <a:gs pos="100000">
              <a:srgbClr val="000000">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552545" cy="10389425"/>
          </a:xfrm>
          <a:custGeom>
            <a:avLst/>
            <a:gdLst/>
            <a:ahLst/>
            <a:cxnLst/>
            <a:rect r="r" b="b" t="t" l="l"/>
            <a:pathLst>
              <a:path h="10389425" w="18552545">
                <a:moveTo>
                  <a:pt x="0" y="0"/>
                </a:moveTo>
                <a:lnTo>
                  <a:pt x="18552545" y="0"/>
                </a:lnTo>
                <a:lnTo>
                  <a:pt x="18552545" y="10389425"/>
                </a:lnTo>
                <a:lnTo>
                  <a:pt x="0" y="10389425"/>
                </a:lnTo>
                <a:lnTo>
                  <a:pt x="0" y="0"/>
                </a:lnTo>
                <a:close/>
              </a:path>
            </a:pathLst>
          </a:custGeom>
          <a:blipFill>
            <a:blip r:embed="rId2">
              <a:alphaModFix amt="15000"/>
            </a:blip>
            <a:stretch>
              <a:fillRect l="0" t="0" r="0" b="0"/>
            </a:stretch>
          </a:blipFill>
        </p:spPr>
      </p:sp>
      <p:sp>
        <p:nvSpPr>
          <p:cNvPr name="AutoShape 3" id="3"/>
          <p:cNvSpPr/>
          <p:nvPr/>
        </p:nvSpPr>
        <p:spPr>
          <a:xfrm rot="0">
            <a:off x="326903" y="8163988"/>
            <a:ext cx="17634195" cy="1675840"/>
          </a:xfrm>
          <a:prstGeom prst="rect">
            <a:avLst/>
          </a:prstGeom>
          <a:solidFill>
            <a:srgbClr val="F1F0EC"/>
          </a:solidFill>
        </p:spPr>
      </p:sp>
      <p:grpSp>
        <p:nvGrpSpPr>
          <p:cNvPr name="Group 4" id="4"/>
          <p:cNvGrpSpPr/>
          <p:nvPr/>
        </p:nvGrpSpPr>
        <p:grpSpPr>
          <a:xfrm rot="0">
            <a:off x="12598400" y="2313284"/>
            <a:ext cx="2022427" cy="668124"/>
            <a:chOff x="0" y="0"/>
            <a:chExt cx="515044" cy="170149"/>
          </a:xfrm>
        </p:grpSpPr>
        <p:sp>
          <p:nvSpPr>
            <p:cNvPr name="Freeform 5" id="5"/>
            <p:cNvSpPr/>
            <p:nvPr/>
          </p:nvSpPr>
          <p:spPr>
            <a:xfrm flipH="false" flipV="false" rot="0">
              <a:off x="0" y="0"/>
              <a:ext cx="515044" cy="170149"/>
            </a:xfrm>
            <a:custGeom>
              <a:avLst/>
              <a:gdLst/>
              <a:ahLst/>
              <a:cxnLst/>
              <a:rect r="r" b="b" t="t" l="l"/>
              <a:pathLst>
                <a:path h="170149" w="515044">
                  <a:moveTo>
                    <a:pt x="85074" y="0"/>
                  </a:moveTo>
                  <a:lnTo>
                    <a:pt x="429970" y="0"/>
                  </a:lnTo>
                  <a:cubicBezTo>
                    <a:pt x="452533" y="0"/>
                    <a:pt x="474172" y="8963"/>
                    <a:pt x="490126" y="24918"/>
                  </a:cubicBezTo>
                  <a:cubicBezTo>
                    <a:pt x="506081" y="40872"/>
                    <a:pt x="515044" y="62511"/>
                    <a:pt x="515044" y="85074"/>
                  </a:cubicBezTo>
                  <a:lnTo>
                    <a:pt x="515044" y="85074"/>
                  </a:lnTo>
                  <a:cubicBezTo>
                    <a:pt x="515044" y="132060"/>
                    <a:pt x="476955" y="170149"/>
                    <a:pt x="429970" y="170149"/>
                  </a:cubicBezTo>
                  <a:lnTo>
                    <a:pt x="85074" y="170149"/>
                  </a:lnTo>
                  <a:cubicBezTo>
                    <a:pt x="38089" y="170149"/>
                    <a:pt x="0" y="132060"/>
                    <a:pt x="0" y="85074"/>
                  </a:cubicBezTo>
                  <a:lnTo>
                    <a:pt x="0" y="85074"/>
                  </a:lnTo>
                  <a:cubicBezTo>
                    <a:pt x="0" y="38089"/>
                    <a:pt x="38089" y="0"/>
                    <a:pt x="85074" y="0"/>
                  </a:cubicBezTo>
                  <a:close/>
                </a:path>
              </a:pathLst>
            </a:custGeom>
            <a:solidFill>
              <a:srgbClr val="F6F4F1"/>
            </a:solidFill>
          </p:spPr>
        </p:sp>
        <p:sp>
          <p:nvSpPr>
            <p:cNvPr name="TextBox 6" id="6"/>
            <p:cNvSpPr txBox="true"/>
            <p:nvPr/>
          </p:nvSpPr>
          <p:spPr>
            <a:xfrm>
              <a:off x="0" y="76200"/>
              <a:ext cx="515044"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Fase 3 :</a:t>
              </a:r>
            </a:p>
          </p:txBody>
        </p:sp>
      </p:grpSp>
      <p:grpSp>
        <p:nvGrpSpPr>
          <p:cNvPr name="Group 7" id="7"/>
          <p:cNvGrpSpPr/>
          <p:nvPr/>
        </p:nvGrpSpPr>
        <p:grpSpPr>
          <a:xfrm rot="0">
            <a:off x="-2973546" y="-398482"/>
            <a:ext cx="8806021" cy="7276384"/>
            <a:chOff x="0" y="0"/>
            <a:chExt cx="11741362" cy="9701845"/>
          </a:xfrm>
        </p:grpSpPr>
        <p:sp>
          <p:nvSpPr>
            <p:cNvPr name="Freeform 8" id="8"/>
            <p:cNvSpPr/>
            <p:nvPr/>
          </p:nvSpPr>
          <p:spPr>
            <a:xfrm flipH="false" flipV="false" rot="0">
              <a:off x="1053598" y="0"/>
              <a:ext cx="9394547" cy="9394547"/>
            </a:xfrm>
            <a:custGeom>
              <a:avLst/>
              <a:gdLst/>
              <a:ahLst/>
              <a:cxnLst/>
              <a:rect r="r" b="b" t="t" l="l"/>
              <a:pathLst>
                <a:path h="9394547" w="9394547">
                  <a:moveTo>
                    <a:pt x="0" y="0"/>
                  </a:moveTo>
                  <a:lnTo>
                    <a:pt x="9394547" y="0"/>
                  </a:lnTo>
                  <a:lnTo>
                    <a:pt x="9394547" y="9394547"/>
                  </a:lnTo>
                  <a:lnTo>
                    <a:pt x="0" y="9394547"/>
                  </a:lnTo>
                  <a:lnTo>
                    <a:pt x="0" y="0"/>
                  </a:lnTo>
                  <a:close/>
                </a:path>
              </a:pathLst>
            </a:custGeom>
            <a:blipFill>
              <a:blip r:embed="rId3"/>
              <a:stretch>
                <a:fillRect l="0" t="0" r="0" b="0"/>
              </a:stretch>
            </a:blipFill>
          </p:spPr>
        </p:sp>
        <p:sp>
          <p:nvSpPr>
            <p:cNvPr name="Freeform 9" id="9"/>
            <p:cNvSpPr/>
            <p:nvPr/>
          </p:nvSpPr>
          <p:spPr>
            <a:xfrm flipH="false" flipV="false" rot="0">
              <a:off x="3650959" y="910511"/>
              <a:ext cx="5763355" cy="5572412"/>
            </a:xfrm>
            <a:custGeom>
              <a:avLst/>
              <a:gdLst/>
              <a:ahLst/>
              <a:cxnLst/>
              <a:rect r="r" b="b" t="t" l="l"/>
              <a:pathLst>
                <a:path h="5572412" w="5763355">
                  <a:moveTo>
                    <a:pt x="0" y="0"/>
                  </a:moveTo>
                  <a:lnTo>
                    <a:pt x="5763356" y="0"/>
                  </a:lnTo>
                  <a:lnTo>
                    <a:pt x="5763356" y="5572412"/>
                  </a:lnTo>
                  <a:lnTo>
                    <a:pt x="0" y="5572412"/>
                  </a:lnTo>
                  <a:lnTo>
                    <a:pt x="0" y="0"/>
                  </a:lnTo>
                  <a:close/>
                </a:path>
              </a:pathLst>
            </a:custGeom>
            <a:blipFill>
              <a:blip r:embed="rId4"/>
              <a:stretch>
                <a:fillRect l="-53389" t="0" r="-47229" b="-21417"/>
              </a:stretch>
            </a:blipFill>
          </p:spPr>
        </p:sp>
        <p:sp>
          <p:nvSpPr>
            <p:cNvPr name="Freeform 10" id="10"/>
            <p:cNvSpPr/>
            <p:nvPr/>
          </p:nvSpPr>
          <p:spPr>
            <a:xfrm flipH="false" flipV="false" rot="0">
              <a:off x="0" y="3609860"/>
              <a:ext cx="11501742" cy="5420196"/>
            </a:xfrm>
            <a:custGeom>
              <a:avLst/>
              <a:gdLst/>
              <a:ahLst/>
              <a:cxnLst/>
              <a:rect r="r" b="b" t="t" l="l"/>
              <a:pathLst>
                <a:path h="5420196" w="11501742">
                  <a:moveTo>
                    <a:pt x="0" y="0"/>
                  </a:moveTo>
                  <a:lnTo>
                    <a:pt x="11501742" y="0"/>
                  </a:lnTo>
                  <a:lnTo>
                    <a:pt x="11501742" y="5420196"/>
                  </a:lnTo>
                  <a:lnTo>
                    <a:pt x="0" y="54201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239620" y="3849479"/>
              <a:ext cx="11501742" cy="5420196"/>
            </a:xfrm>
            <a:custGeom>
              <a:avLst/>
              <a:gdLst/>
              <a:ahLst/>
              <a:cxnLst/>
              <a:rect r="r" b="b" t="t" l="l"/>
              <a:pathLst>
                <a:path h="5420196" w="11501742">
                  <a:moveTo>
                    <a:pt x="0" y="0"/>
                  </a:moveTo>
                  <a:lnTo>
                    <a:pt x="11501742" y="0"/>
                  </a:lnTo>
                  <a:lnTo>
                    <a:pt x="11501742" y="5420196"/>
                  </a:lnTo>
                  <a:lnTo>
                    <a:pt x="0" y="54201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0" y="4281649"/>
              <a:ext cx="11501742" cy="5420196"/>
            </a:xfrm>
            <a:custGeom>
              <a:avLst/>
              <a:gdLst/>
              <a:ahLst/>
              <a:cxnLst/>
              <a:rect r="r" b="b" t="t" l="l"/>
              <a:pathLst>
                <a:path h="5420196" w="11501742">
                  <a:moveTo>
                    <a:pt x="0" y="0"/>
                  </a:moveTo>
                  <a:lnTo>
                    <a:pt x="11501742" y="0"/>
                  </a:lnTo>
                  <a:lnTo>
                    <a:pt x="11501742" y="5420196"/>
                  </a:lnTo>
                  <a:lnTo>
                    <a:pt x="0" y="54201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3" id="13"/>
          <p:cNvGrpSpPr/>
          <p:nvPr/>
        </p:nvGrpSpPr>
        <p:grpSpPr>
          <a:xfrm rot="0">
            <a:off x="491802" y="2313284"/>
            <a:ext cx="2022427" cy="668124"/>
            <a:chOff x="0" y="0"/>
            <a:chExt cx="515044" cy="170149"/>
          </a:xfrm>
        </p:grpSpPr>
        <p:sp>
          <p:nvSpPr>
            <p:cNvPr name="Freeform 14" id="14"/>
            <p:cNvSpPr/>
            <p:nvPr/>
          </p:nvSpPr>
          <p:spPr>
            <a:xfrm flipH="false" flipV="false" rot="0">
              <a:off x="0" y="0"/>
              <a:ext cx="515044" cy="170149"/>
            </a:xfrm>
            <a:custGeom>
              <a:avLst/>
              <a:gdLst/>
              <a:ahLst/>
              <a:cxnLst/>
              <a:rect r="r" b="b" t="t" l="l"/>
              <a:pathLst>
                <a:path h="170149" w="515044">
                  <a:moveTo>
                    <a:pt x="85074" y="0"/>
                  </a:moveTo>
                  <a:lnTo>
                    <a:pt x="429970" y="0"/>
                  </a:lnTo>
                  <a:cubicBezTo>
                    <a:pt x="452533" y="0"/>
                    <a:pt x="474172" y="8963"/>
                    <a:pt x="490126" y="24918"/>
                  </a:cubicBezTo>
                  <a:cubicBezTo>
                    <a:pt x="506081" y="40872"/>
                    <a:pt x="515044" y="62511"/>
                    <a:pt x="515044" y="85074"/>
                  </a:cubicBezTo>
                  <a:lnTo>
                    <a:pt x="515044" y="85074"/>
                  </a:lnTo>
                  <a:cubicBezTo>
                    <a:pt x="515044" y="132060"/>
                    <a:pt x="476955" y="170149"/>
                    <a:pt x="429970" y="170149"/>
                  </a:cubicBezTo>
                  <a:lnTo>
                    <a:pt x="85074" y="170149"/>
                  </a:lnTo>
                  <a:cubicBezTo>
                    <a:pt x="38089" y="170149"/>
                    <a:pt x="0" y="132060"/>
                    <a:pt x="0" y="85074"/>
                  </a:cubicBezTo>
                  <a:lnTo>
                    <a:pt x="0" y="85074"/>
                  </a:lnTo>
                  <a:cubicBezTo>
                    <a:pt x="0" y="38089"/>
                    <a:pt x="38089" y="0"/>
                    <a:pt x="85074" y="0"/>
                  </a:cubicBezTo>
                  <a:close/>
                </a:path>
              </a:pathLst>
            </a:custGeom>
            <a:solidFill>
              <a:srgbClr val="F6F4F1"/>
            </a:solidFill>
          </p:spPr>
        </p:sp>
        <p:sp>
          <p:nvSpPr>
            <p:cNvPr name="TextBox 15" id="15"/>
            <p:cNvSpPr txBox="true"/>
            <p:nvPr/>
          </p:nvSpPr>
          <p:spPr>
            <a:xfrm>
              <a:off x="0" y="76200"/>
              <a:ext cx="515044"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Fase 1 :</a:t>
              </a:r>
            </a:p>
          </p:txBody>
        </p:sp>
      </p:grpSp>
      <p:grpSp>
        <p:nvGrpSpPr>
          <p:cNvPr name="Group 16" id="16"/>
          <p:cNvGrpSpPr/>
          <p:nvPr/>
        </p:nvGrpSpPr>
        <p:grpSpPr>
          <a:xfrm rot="0">
            <a:off x="6299200" y="2313284"/>
            <a:ext cx="2022427" cy="668124"/>
            <a:chOff x="0" y="0"/>
            <a:chExt cx="515044" cy="170149"/>
          </a:xfrm>
        </p:grpSpPr>
        <p:sp>
          <p:nvSpPr>
            <p:cNvPr name="Freeform 17" id="17"/>
            <p:cNvSpPr/>
            <p:nvPr/>
          </p:nvSpPr>
          <p:spPr>
            <a:xfrm flipH="false" flipV="false" rot="0">
              <a:off x="0" y="0"/>
              <a:ext cx="515044" cy="170149"/>
            </a:xfrm>
            <a:custGeom>
              <a:avLst/>
              <a:gdLst/>
              <a:ahLst/>
              <a:cxnLst/>
              <a:rect r="r" b="b" t="t" l="l"/>
              <a:pathLst>
                <a:path h="170149" w="515044">
                  <a:moveTo>
                    <a:pt x="85074" y="0"/>
                  </a:moveTo>
                  <a:lnTo>
                    <a:pt x="429970" y="0"/>
                  </a:lnTo>
                  <a:cubicBezTo>
                    <a:pt x="452533" y="0"/>
                    <a:pt x="474172" y="8963"/>
                    <a:pt x="490126" y="24918"/>
                  </a:cubicBezTo>
                  <a:cubicBezTo>
                    <a:pt x="506081" y="40872"/>
                    <a:pt x="515044" y="62511"/>
                    <a:pt x="515044" y="85074"/>
                  </a:cubicBezTo>
                  <a:lnTo>
                    <a:pt x="515044" y="85074"/>
                  </a:lnTo>
                  <a:cubicBezTo>
                    <a:pt x="515044" y="132060"/>
                    <a:pt x="476955" y="170149"/>
                    <a:pt x="429970" y="170149"/>
                  </a:cubicBezTo>
                  <a:lnTo>
                    <a:pt x="85074" y="170149"/>
                  </a:lnTo>
                  <a:cubicBezTo>
                    <a:pt x="38089" y="170149"/>
                    <a:pt x="0" y="132060"/>
                    <a:pt x="0" y="85074"/>
                  </a:cubicBezTo>
                  <a:lnTo>
                    <a:pt x="0" y="85074"/>
                  </a:lnTo>
                  <a:cubicBezTo>
                    <a:pt x="0" y="38089"/>
                    <a:pt x="38089" y="0"/>
                    <a:pt x="85074" y="0"/>
                  </a:cubicBezTo>
                  <a:close/>
                </a:path>
              </a:pathLst>
            </a:custGeom>
            <a:solidFill>
              <a:srgbClr val="F6F4F1"/>
            </a:solidFill>
          </p:spPr>
        </p:sp>
        <p:sp>
          <p:nvSpPr>
            <p:cNvPr name="TextBox 18" id="18"/>
            <p:cNvSpPr txBox="true"/>
            <p:nvPr/>
          </p:nvSpPr>
          <p:spPr>
            <a:xfrm>
              <a:off x="0" y="76200"/>
              <a:ext cx="515044" cy="93949"/>
            </a:xfrm>
            <a:prstGeom prst="rect">
              <a:avLst/>
            </a:prstGeom>
          </p:spPr>
          <p:txBody>
            <a:bodyPr anchor="ctr" rtlCol="false" tIns="50800" lIns="50800" bIns="50800" rIns="50800"/>
            <a:lstStyle/>
            <a:p>
              <a:pPr algn="ctr">
                <a:lnSpc>
                  <a:spcPts val="1848"/>
                </a:lnSpc>
              </a:pPr>
              <a:r>
                <a:rPr lang="en-US" b="true" sz="2400" spc="-88">
                  <a:solidFill>
                    <a:srgbClr val="2D2C2D"/>
                  </a:solidFill>
                  <a:latin typeface="Poppins Bold"/>
                  <a:ea typeface="Poppins Bold"/>
                  <a:cs typeface="Poppins Bold"/>
                  <a:sym typeface="Poppins Bold"/>
                </a:rPr>
                <a:t>Fase 2 :</a:t>
              </a:r>
            </a:p>
          </p:txBody>
        </p:sp>
      </p:grpSp>
      <p:grpSp>
        <p:nvGrpSpPr>
          <p:cNvPr name="Group 19" id="19"/>
          <p:cNvGrpSpPr/>
          <p:nvPr/>
        </p:nvGrpSpPr>
        <p:grpSpPr>
          <a:xfrm rot="0">
            <a:off x="355478" y="3352242"/>
            <a:ext cx="5156936" cy="4482339"/>
            <a:chOff x="0" y="0"/>
            <a:chExt cx="1967401" cy="1710038"/>
          </a:xfrm>
        </p:grpSpPr>
        <p:sp>
          <p:nvSpPr>
            <p:cNvPr name="Freeform 20" id="20"/>
            <p:cNvSpPr/>
            <p:nvPr/>
          </p:nvSpPr>
          <p:spPr>
            <a:xfrm flipH="false" flipV="false" rot="0">
              <a:off x="0" y="0"/>
              <a:ext cx="1967401" cy="1710038"/>
            </a:xfrm>
            <a:custGeom>
              <a:avLst/>
              <a:gdLst/>
              <a:ahLst/>
              <a:cxnLst/>
              <a:rect r="r" b="b" t="t" l="l"/>
              <a:pathLst>
                <a:path h="1710038" w="1967401">
                  <a:moveTo>
                    <a:pt x="22519" y="0"/>
                  </a:moveTo>
                  <a:lnTo>
                    <a:pt x="1944882" y="0"/>
                  </a:lnTo>
                  <a:cubicBezTo>
                    <a:pt x="1950855" y="0"/>
                    <a:pt x="1956582" y="2373"/>
                    <a:pt x="1960805" y="6596"/>
                  </a:cubicBezTo>
                  <a:cubicBezTo>
                    <a:pt x="1965029" y="10819"/>
                    <a:pt x="1967401" y="16547"/>
                    <a:pt x="1967401" y="22519"/>
                  </a:cubicBezTo>
                  <a:lnTo>
                    <a:pt x="1967401" y="1687519"/>
                  </a:lnTo>
                  <a:cubicBezTo>
                    <a:pt x="1967401" y="1693492"/>
                    <a:pt x="1965029" y="1699220"/>
                    <a:pt x="1960805" y="1703443"/>
                  </a:cubicBezTo>
                  <a:cubicBezTo>
                    <a:pt x="1956582" y="1707666"/>
                    <a:pt x="1950855" y="1710038"/>
                    <a:pt x="1944882" y="1710038"/>
                  </a:cubicBezTo>
                  <a:lnTo>
                    <a:pt x="22519" y="1710038"/>
                  </a:lnTo>
                  <a:cubicBezTo>
                    <a:pt x="16547" y="1710038"/>
                    <a:pt x="10819" y="1707666"/>
                    <a:pt x="6596" y="1703443"/>
                  </a:cubicBezTo>
                  <a:cubicBezTo>
                    <a:pt x="2373" y="1699220"/>
                    <a:pt x="0" y="1693492"/>
                    <a:pt x="0" y="1687519"/>
                  </a:cubicBezTo>
                  <a:lnTo>
                    <a:pt x="0" y="22519"/>
                  </a:lnTo>
                  <a:cubicBezTo>
                    <a:pt x="0" y="16547"/>
                    <a:pt x="2373" y="10819"/>
                    <a:pt x="6596" y="6596"/>
                  </a:cubicBezTo>
                  <a:cubicBezTo>
                    <a:pt x="10819" y="2373"/>
                    <a:pt x="16547" y="0"/>
                    <a:pt x="22519" y="0"/>
                  </a:cubicBezTo>
                  <a:close/>
                </a:path>
              </a:pathLst>
            </a:custGeom>
            <a:solidFill>
              <a:srgbClr val="8F1EAE"/>
            </a:solidFill>
          </p:spPr>
        </p:sp>
        <p:sp>
          <p:nvSpPr>
            <p:cNvPr name="TextBox 21" id="21"/>
            <p:cNvSpPr txBox="true"/>
            <p:nvPr/>
          </p:nvSpPr>
          <p:spPr>
            <a:xfrm>
              <a:off x="0" y="76200"/>
              <a:ext cx="1967401" cy="1633838"/>
            </a:xfrm>
            <a:prstGeom prst="rect">
              <a:avLst/>
            </a:prstGeom>
          </p:spPr>
          <p:txBody>
            <a:bodyPr anchor="ctr" rtlCol="false" tIns="50800" lIns="50800" bIns="50800" rIns="50800"/>
            <a:lstStyle/>
            <a:p>
              <a:pPr algn="ctr">
                <a:lnSpc>
                  <a:spcPts val="1925"/>
                </a:lnSpc>
              </a:pPr>
            </a:p>
          </p:txBody>
        </p:sp>
      </p:grpSp>
      <p:grpSp>
        <p:nvGrpSpPr>
          <p:cNvPr name="Group 22" id="22"/>
          <p:cNvGrpSpPr/>
          <p:nvPr/>
        </p:nvGrpSpPr>
        <p:grpSpPr>
          <a:xfrm rot="0">
            <a:off x="6476939" y="3331528"/>
            <a:ext cx="5156936" cy="4482339"/>
            <a:chOff x="0" y="0"/>
            <a:chExt cx="1967401" cy="1710038"/>
          </a:xfrm>
        </p:grpSpPr>
        <p:sp>
          <p:nvSpPr>
            <p:cNvPr name="Freeform 23" id="23"/>
            <p:cNvSpPr/>
            <p:nvPr/>
          </p:nvSpPr>
          <p:spPr>
            <a:xfrm flipH="false" flipV="false" rot="0">
              <a:off x="0" y="0"/>
              <a:ext cx="1967401" cy="1710038"/>
            </a:xfrm>
            <a:custGeom>
              <a:avLst/>
              <a:gdLst/>
              <a:ahLst/>
              <a:cxnLst/>
              <a:rect r="r" b="b" t="t" l="l"/>
              <a:pathLst>
                <a:path h="1710038" w="1967401">
                  <a:moveTo>
                    <a:pt x="22519" y="0"/>
                  </a:moveTo>
                  <a:lnTo>
                    <a:pt x="1944882" y="0"/>
                  </a:lnTo>
                  <a:cubicBezTo>
                    <a:pt x="1950855" y="0"/>
                    <a:pt x="1956582" y="2373"/>
                    <a:pt x="1960805" y="6596"/>
                  </a:cubicBezTo>
                  <a:cubicBezTo>
                    <a:pt x="1965029" y="10819"/>
                    <a:pt x="1967401" y="16547"/>
                    <a:pt x="1967401" y="22519"/>
                  </a:cubicBezTo>
                  <a:lnTo>
                    <a:pt x="1967401" y="1687519"/>
                  </a:lnTo>
                  <a:cubicBezTo>
                    <a:pt x="1967401" y="1693492"/>
                    <a:pt x="1965029" y="1699220"/>
                    <a:pt x="1960805" y="1703443"/>
                  </a:cubicBezTo>
                  <a:cubicBezTo>
                    <a:pt x="1956582" y="1707666"/>
                    <a:pt x="1950855" y="1710038"/>
                    <a:pt x="1944882" y="1710038"/>
                  </a:cubicBezTo>
                  <a:lnTo>
                    <a:pt x="22519" y="1710038"/>
                  </a:lnTo>
                  <a:cubicBezTo>
                    <a:pt x="16547" y="1710038"/>
                    <a:pt x="10819" y="1707666"/>
                    <a:pt x="6596" y="1703443"/>
                  </a:cubicBezTo>
                  <a:cubicBezTo>
                    <a:pt x="2373" y="1699220"/>
                    <a:pt x="0" y="1693492"/>
                    <a:pt x="0" y="1687519"/>
                  </a:cubicBezTo>
                  <a:lnTo>
                    <a:pt x="0" y="22519"/>
                  </a:lnTo>
                  <a:cubicBezTo>
                    <a:pt x="0" y="16547"/>
                    <a:pt x="2373" y="10819"/>
                    <a:pt x="6596" y="6596"/>
                  </a:cubicBezTo>
                  <a:cubicBezTo>
                    <a:pt x="10819" y="2373"/>
                    <a:pt x="16547" y="0"/>
                    <a:pt x="22519" y="0"/>
                  </a:cubicBezTo>
                  <a:close/>
                </a:path>
              </a:pathLst>
            </a:custGeom>
            <a:solidFill>
              <a:srgbClr val="8F1EAE"/>
            </a:solidFill>
          </p:spPr>
        </p:sp>
        <p:sp>
          <p:nvSpPr>
            <p:cNvPr name="TextBox 24" id="24"/>
            <p:cNvSpPr txBox="true"/>
            <p:nvPr/>
          </p:nvSpPr>
          <p:spPr>
            <a:xfrm>
              <a:off x="0" y="76200"/>
              <a:ext cx="1967401" cy="1633838"/>
            </a:xfrm>
            <a:prstGeom prst="rect">
              <a:avLst/>
            </a:prstGeom>
          </p:spPr>
          <p:txBody>
            <a:bodyPr anchor="ctr" rtlCol="false" tIns="50800" lIns="50800" bIns="50800" rIns="50800"/>
            <a:lstStyle/>
            <a:p>
              <a:pPr algn="ctr">
                <a:lnSpc>
                  <a:spcPts val="1925"/>
                </a:lnSpc>
              </a:pPr>
            </a:p>
          </p:txBody>
        </p:sp>
      </p:grpSp>
      <p:grpSp>
        <p:nvGrpSpPr>
          <p:cNvPr name="Group 25" id="25"/>
          <p:cNvGrpSpPr/>
          <p:nvPr/>
        </p:nvGrpSpPr>
        <p:grpSpPr>
          <a:xfrm rot="0">
            <a:off x="13419943" y="-638351"/>
            <a:ext cx="7678714" cy="6571394"/>
            <a:chOff x="0" y="0"/>
            <a:chExt cx="10238285" cy="8761858"/>
          </a:xfrm>
        </p:grpSpPr>
        <p:sp>
          <p:nvSpPr>
            <p:cNvPr name="Freeform 26" id="26"/>
            <p:cNvSpPr/>
            <p:nvPr/>
          </p:nvSpPr>
          <p:spPr>
            <a:xfrm flipH="false" flipV="false" rot="0">
              <a:off x="717997" y="0"/>
              <a:ext cx="7966676" cy="7966676"/>
            </a:xfrm>
            <a:custGeom>
              <a:avLst/>
              <a:gdLst/>
              <a:ahLst/>
              <a:cxnLst/>
              <a:rect r="r" b="b" t="t" l="l"/>
              <a:pathLst>
                <a:path h="7966676" w="7966676">
                  <a:moveTo>
                    <a:pt x="0" y="0"/>
                  </a:moveTo>
                  <a:lnTo>
                    <a:pt x="7966676" y="0"/>
                  </a:lnTo>
                  <a:lnTo>
                    <a:pt x="7966676" y="7966676"/>
                  </a:lnTo>
                  <a:lnTo>
                    <a:pt x="0" y="7966676"/>
                  </a:lnTo>
                  <a:lnTo>
                    <a:pt x="0" y="0"/>
                  </a:lnTo>
                  <a:close/>
                </a:path>
              </a:pathLst>
            </a:custGeom>
            <a:blipFill>
              <a:blip r:embed="rId3"/>
              <a:stretch>
                <a:fillRect l="0" t="0" r="0" b="0"/>
              </a:stretch>
            </a:blipFill>
          </p:spPr>
        </p:sp>
        <p:sp>
          <p:nvSpPr>
            <p:cNvPr name="Freeform 27" id="27"/>
            <p:cNvSpPr/>
            <p:nvPr/>
          </p:nvSpPr>
          <p:spPr>
            <a:xfrm flipH="false" flipV="false" rot="0">
              <a:off x="0" y="3933833"/>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203200" y="4137033"/>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484685" y="4165474"/>
              <a:ext cx="9753600" cy="4596384"/>
            </a:xfrm>
            <a:custGeom>
              <a:avLst/>
              <a:gdLst/>
              <a:ahLst/>
              <a:cxnLst/>
              <a:rect r="r" b="b" t="t" l="l"/>
              <a:pathLst>
                <a:path h="4596384" w="9753600">
                  <a:moveTo>
                    <a:pt x="0" y="0"/>
                  </a:moveTo>
                  <a:lnTo>
                    <a:pt x="9753600" y="0"/>
                  </a:lnTo>
                  <a:lnTo>
                    <a:pt x="9753600" y="4596384"/>
                  </a:lnTo>
                  <a:lnTo>
                    <a:pt x="0" y="459638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30" id="30"/>
            <p:cNvSpPr/>
            <p:nvPr/>
          </p:nvSpPr>
          <p:spPr>
            <a:xfrm flipH="false" flipV="false" rot="0">
              <a:off x="1951010" y="629597"/>
              <a:ext cx="5781586" cy="5858870"/>
            </a:xfrm>
            <a:custGeom>
              <a:avLst/>
              <a:gdLst/>
              <a:ahLst/>
              <a:cxnLst/>
              <a:rect r="r" b="b" t="t" l="l"/>
              <a:pathLst>
                <a:path h="5858870" w="5781586">
                  <a:moveTo>
                    <a:pt x="0" y="0"/>
                  </a:moveTo>
                  <a:lnTo>
                    <a:pt x="5781586" y="0"/>
                  </a:lnTo>
                  <a:lnTo>
                    <a:pt x="5781586" y="5858870"/>
                  </a:lnTo>
                  <a:lnTo>
                    <a:pt x="0" y="5858870"/>
                  </a:lnTo>
                  <a:lnTo>
                    <a:pt x="0" y="0"/>
                  </a:lnTo>
                  <a:close/>
                </a:path>
              </a:pathLst>
            </a:custGeom>
            <a:blipFill>
              <a:blip r:embed="rId7"/>
              <a:stretch>
                <a:fillRect l="-38255" t="0" r="-13844" b="0"/>
              </a:stretch>
            </a:blipFill>
          </p:spPr>
        </p:sp>
      </p:grpSp>
      <p:grpSp>
        <p:nvGrpSpPr>
          <p:cNvPr name="Group 31" id="31"/>
          <p:cNvGrpSpPr/>
          <p:nvPr/>
        </p:nvGrpSpPr>
        <p:grpSpPr>
          <a:xfrm rot="0">
            <a:off x="12598400" y="3352242"/>
            <a:ext cx="5156936" cy="4482339"/>
            <a:chOff x="0" y="0"/>
            <a:chExt cx="1967401" cy="1710038"/>
          </a:xfrm>
        </p:grpSpPr>
        <p:sp>
          <p:nvSpPr>
            <p:cNvPr name="Freeform 32" id="32"/>
            <p:cNvSpPr/>
            <p:nvPr/>
          </p:nvSpPr>
          <p:spPr>
            <a:xfrm flipH="false" flipV="false" rot="0">
              <a:off x="0" y="0"/>
              <a:ext cx="1967401" cy="1710038"/>
            </a:xfrm>
            <a:custGeom>
              <a:avLst/>
              <a:gdLst/>
              <a:ahLst/>
              <a:cxnLst/>
              <a:rect r="r" b="b" t="t" l="l"/>
              <a:pathLst>
                <a:path h="1710038" w="1967401">
                  <a:moveTo>
                    <a:pt x="22519" y="0"/>
                  </a:moveTo>
                  <a:lnTo>
                    <a:pt x="1944882" y="0"/>
                  </a:lnTo>
                  <a:cubicBezTo>
                    <a:pt x="1950855" y="0"/>
                    <a:pt x="1956582" y="2373"/>
                    <a:pt x="1960805" y="6596"/>
                  </a:cubicBezTo>
                  <a:cubicBezTo>
                    <a:pt x="1965029" y="10819"/>
                    <a:pt x="1967401" y="16547"/>
                    <a:pt x="1967401" y="22519"/>
                  </a:cubicBezTo>
                  <a:lnTo>
                    <a:pt x="1967401" y="1687519"/>
                  </a:lnTo>
                  <a:cubicBezTo>
                    <a:pt x="1967401" y="1693492"/>
                    <a:pt x="1965029" y="1699220"/>
                    <a:pt x="1960805" y="1703443"/>
                  </a:cubicBezTo>
                  <a:cubicBezTo>
                    <a:pt x="1956582" y="1707666"/>
                    <a:pt x="1950855" y="1710038"/>
                    <a:pt x="1944882" y="1710038"/>
                  </a:cubicBezTo>
                  <a:lnTo>
                    <a:pt x="22519" y="1710038"/>
                  </a:lnTo>
                  <a:cubicBezTo>
                    <a:pt x="16547" y="1710038"/>
                    <a:pt x="10819" y="1707666"/>
                    <a:pt x="6596" y="1703443"/>
                  </a:cubicBezTo>
                  <a:cubicBezTo>
                    <a:pt x="2373" y="1699220"/>
                    <a:pt x="0" y="1693492"/>
                    <a:pt x="0" y="1687519"/>
                  </a:cubicBezTo>
                  <a:lnTo>
                    <a:pt x="0" y="22519"/>
                  </a:lnTo>
                  <a:cubicBezTo>
                    <a:pt x="0" y="16547"/>
                    <a:pt x="2373" y="10819"/>
                    <a:pt x="6596" y="6596"/>
                  </a:cubicBezTo>
                  <a:cubicBezTo>
                    <a:pt x="10819" y="2373"/>
                    <a:pt x="16547" y="0"/>
                    <a:pt x="22519" y="0"/>
                  </a:cubicBezTo>
                  <a:close/>
                </a:path>
              </a:pathLst>
            </a:custGeom>
            <a:solidFill>
              <a:srgbClr val="8F1EAE"/>
            </a:solidFill>
          </p:spPr>
        </p:sp>
        <p:sp>
          <p:nvSpPr>
            <p:cNvPr name="TextBox 33" id="33"/>
            <p:cNvSpPr txBox="true"/>
            <p:nvPr/>
          </p:nvSpPr>
          <p:spPr>
            <a:xfrm>
              <a:off x="0" y="76200"/>
              <a:ext cx="1967401" cy="1633838"/>
            </a:xfrm>
            <a:prstGeom prst="rect">
              <a:avLst/>
            </a:prstGeom>
          </p:spPr>
          <p:txBody>
            <a:bodyPr anchor="ctr" rtlCol="false" tIns="50800" lIns="50800" bIns="50800" rIns="50800"/>
            <a:lstStyle/>
            <a:p>
              <a:pPr algn="ctr">
                <a:lnSpc>
                  <a:spcPts val="1925"/>
                </a:lnSpc>
              </a:pPr>
            </a:p>
          </p:txBody>
        </p:sp>
      </p:grpSp>
      <p:sp>
        <p:nvSpPr>
          <p:cNvPr name="Freeform 34" id="34"/>
          <p:cNvSpPr/>
          <p:nvPr/>
        </p:nvSpPr>
        <p:spPr>
          <a:xfrm flipH="false" flipV="false" rot="0">
            <a:off x="5456079" y="5194713"/>
            <a:ext cx="1353164" cy="911315"/>
          </a:xfrm>
          <a:custGeom>
            <a:avLst/>
            <a:gdLst/>
            <a:ahLst/>
            <a:cxnLst/>
            <a:rect r="r" b="b" t="t" l="l"/>
            <a:pathLst>
              <a:path h="911315" w="1353164">
                <a:moveTo>
                  <a:pt x="0" y="0"/>
                </a:moveTo>
                <a:lnTo>
                  <a:pt x="1353164" y="0"/>
                </a:lnTo>
                <a:lnTo>
                  <a:pt x="1353164" y="911314"/>
                </a:lnTo>
                <a:lnTo>
                  <a:pt x="0" y="9113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35" id="35"/>
          <p:cNvSpPr txBox="true"/>
          <p:nvPr/>
        </p:nvSpPr>
        <p:spPr>
          <a:xfrm rot="0">
            <a:off x="3623195" y="670996"/>
            <a:ext cx="11306155" cy="1438682"/>
          </a:xfrm>
          <a:prstGeom prst="rect">
            <a:avLst/>
          </a:prstGeom>
        </p:spPr>
        <p:txBody>
          <a:bodyPr anchor="t" rtlCol="false" tIns="0" lIns="0" bIns="0" rIns="0">
            <a:spAutoFit/>
          </a:bodyPr>
          <a:lstStyle/>
          <a:p>
            <a:pPr algn="ctr">
              <a:lnSpc>
                <a:spcPts val="5577"/>
              </a:lnSpc>
            </a:pPr>
            <a:r>
              <a:rPr lang="en-US" b="true" sz="4498" spc="26">
                <a:solidFill>
                  <a:srgbClr val="F1F0EC"/>
                </a:solidFill>
                <a:latin typeface="Poppins Bold"/>
                <a:ea typeface="Poppins Bold"/>
                <a:cs typeface="Poppins Bold"/>
                <a:sym typeface="Poppins Bold"/>
              </a:rPr>
              <a:t>HASIL KESIMPULAN DARI RENTETAN PERISTIWA FERRY IRWANDI</a:t>
            </a:r>
          </a:p>
        </p:txBody>
      </p:sp>
      <p:sp>
        <p:nvSpPr>
          <p:cNvPr name="TextBox 36" id="36"/>
          <p:cNvSpPr txBox="true"/>
          <p:nvPr/>
        </p:nvSpPr>
        <p:spPr>
          <a:xfrm rot="0">
            <a:off x="747345" y="8392670"/>
            <a:ext cx="16793311" cy="1180375"/>
          </a:xfrm>
          <a:prstGeom prst="rect">
            <a:avLst/>
          </a:prstGeom>
        </p:spPr>
        <p:txBody>
          <a:bodyPr anchor="t" rtlCol="false" tIns="0" lIns="0" bIns="0" rIns="0">
            <a:spAutoFit/>
          </a:bodyPr>
          <a:lstStyle/>
          <a:p>
            <a:pPr algn="ctr">
              <a:lnSpc>
                <a:spcPts val="3189"/>
              </a:lnSpc>
            </a:pPr>
            <a:r>
              <a:rPr lang="en-US" sz="2278" b="true">
                <a:solidFill>
                  <a:srgbClr val="191919"/>
                </a:solidFill>
                <a:latin typeface="Montserrat Semi-Bold"/>
                <a:ea typeface="Montserrat Semi-Bold"/>
                <a:cs typeface="Montserrat Semi-Bold"/>
                <a:sym typeface="Montserrat Semi-Bold"/>
              </a:rPr>
              <a:t>Rentetan peristiwa yang terjadi pada minggu ini, malah cenderung menguatkan ferry irwandi sebagai sosok yang disukai masyarakat. Pernyataan endipat wijaya malah dinilai sebagai bentuk asli dari pejabat, yang fokus kompetisi viral (pencitraan) daripada kolaborasi  akan tetapi kalah pamor dengan tindakan ferry irwandi.</a:t>
            </a:r>
          </a:p>
        </p:txBody>
      </p:sp>
      <p:sp>
        <p:nvSpPr>
          <p:cNvPr name="TextBox 37" id="37"/>
          <p:cNvSpPr txBox="true"/>
          <p:nvPr/>
        </p:nvSpPr>
        <p:spPr>
          <a:xfrm rot="0">
            <a:off x="773193" y="4065270"/>
            <a:ext cx="4216161" cy="288150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Semi-Bold"/>
                <a:ea typeface="Montserrat Semi-Bold"/>
                <a:cs typeface="Montserrat Semi-Bold"/>
                <a:sym typeface="Montserrat Semi-Bold"/>
              </a:rPr>
              <a:t>Aksi open donasi yang dilakukan oleh ferry irwandi mencapai nilai fantastis dalam 1 hari saja sebesar 10.3 M. Hal ini membuat publik merasa kagum dan berhadap agar bantuan tersebut dapat disalurkan secara amanah</a:t>
            </a:r>
          </a:p>
        </p:txBody>
      </p:sp>
      <p:sp>
        <p:nvSpPr>
          <p:cNvPr name="TextBox 38" id="38"/>
          <p:cNvSpPr txBox="true"/>
          <p:nvPr/>
        </p:nvSpPr>
        <p:spPr>
          <a:xfrm rot="0">
            <a:off x="6809243" y="3755515"/>
            <a:ext cx="4486628" cy="360540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Semi-Bold"/>
                <a:ea typeface="Montserrat Semi-Bold"/>
                <a:cs typeface="Montserrat Semi-Bold"/>
                <a:sym typeface="Montserrat Semi-Bold"/>
              </a:rPr>
              <a:t>Framing negatif tiba-tiba muncul berkaitan dengan ferry irwandi yang dinarasikan melanggar kode etik informasi. Akan tetapi setelah ditelusuri media-media yang mengangkat isu ini merupakan media dengan reputasi yang rendah. dan juga tanggal post dinilai terorganisir pada tanggal 7-8 Des.</a:t>
            </a:r>
          </a:p>
        </p:txBody>
      </p:sp>
      <p:sp>
        <p:nvSpPr>
          <p:cNvPr name="TextBox 39" id="39"/>
          <p:cNvSpPr txBox="true"/>
          <p:nvPr/>
        </p:nvSpPr>
        <p:spPr>
          <a:xfrm rot="0">
            <a:off x="12953400" y="3590684"/>
            <a:ext cx="4486628" cy="3967355"/>
          </a:xfrm>
          <a:prstGeom prst="rect">
            <a:avLst/>
          </a:prstGeom>
        </p:spPr>
        <p:txBody>
          <a:bodyPr anchor="t" rtlCol="false" tIns="0" lIns="0" bIns="0" rIns="0">
            <a:spAutoFit/>
          </a:bodyPr>
          <a:lstStyle/>
          <a:p>
            <a:pPr algn="ctr">
              <a:lnSpc>
                <a:spcPts val="2876"/>
              </a:lnSpc>
            </a:pPr>
            <a:r>
              <a:rPr lang="en-US" sz="2054" b="true">
                <a:solidFill>
                  <a:srgbClr val="FFFFFF"/>
                </a:solidFill>
                <a:latin typeface="Montserrat Semi-Bold"/>
                <a:ea typeface="Montserrat Semi-Bold"/>
                <a:cs typeface="Montserrat Semi-Bold"/>
                <a:sym typeface="Montserrat Semi-Bold"/>
              </a:rPr>
              <a:t>Pernyataan yang menyerang ferry irwandi kembali dilakukan oleh salah satu anggota DPR (endipat wijaya) yang mengatakan ferry irwandi sebagai ‘si paling kerja’. Sentimen publik malah menyerang kembali dan mengaitkan tindakan pemerintah yang dinilai lamban dalam mengatasi masalah ini</a:t>
            </a:r>
          </a:p>
        </p:txBody>
      </p:sp>
      <p:sp>
        <p:nvSpPr>
          <p:cNvPr name="Freeform 40" id="40"/>
          <p:cNvSpPr/>
          <p:nvPr/>
        </p:nvSpPr>
        <p:spPr>
          <a:xfrm flipH="false" flipV="false" rot="0">
            <a:off x="11600235" y="5194713"/>
            <a:ext cx="1353164" cy="911315"/>
          </a:xfrm>
          <a:custGeom>
            <a:avLst/>
            <a:gdLst/>
            <a:ahLst/>
            <a:cxnLst/>
            <a:rect r="r" b="b" t="t" l="l"/>
            <a:pathLst>
              <a:path h="911315" w="1353164">
                <a:moveTo>
                  <a:pt x="0" y="0"/>
                </a:moveTo>
                <a:lnTo>
                  <a:pt x="1353165" y="0"/>
                </a:lnTo>
                <a:lnTo>
                  <a:pt x="1353165" y="911314"/>
                </a:lnTo>
                <a:lnTo>
                  <a:pt x="0" y="9113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DAG7R5R5_Ss</dc:identifier>
  <dcterms:modified xsi:type="dcterms:W3CDTF">2011-08-01T06:04:30Z</dcterms:modified>
  <cp:revision>1</cp:revision>
  <dc:title>Projek 1</dc:title>
</cp:coreProperties>
</file>